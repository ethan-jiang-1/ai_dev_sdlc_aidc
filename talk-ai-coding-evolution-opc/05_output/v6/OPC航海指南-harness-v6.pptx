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464c26031d4b75" /><Relationship Type="http://schemas.openxmlformats.org/officeDocument/2006/relationships/extended-properties" Target="/docProps/app.xml" Id="R408ed1d57db34825" /><Relationship Type="http://schemas.openxmlformats.org/officeDocument/2006/relationships/officeDocument" Target="/ppt/presentation.xml" Id="R7440b3b0a23d4e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801c94860a44ea"/>
  </p:sldMasterIdLst>
  <p:notesMasterIdLst>
    <p:notesMasterId xmlns:r="http://schemas.openxmlformats.org/officeDocument/2006/relationships" r:id="R61238c6f586145b4"/>
  </p:notesMasterIdLst>
  <p:sldIdLst>
    <p:sldId xmlns:r="http://schemas.openxmlformats.org/officeDocument/2006/relationships" id="256" r:id="R139041aa4c274fd1"/>
    <p:sldId xmlns:r="http://schemas.openxmlformats.org/officeDocument/2006/relationships" id="257" r:id="R0231f7aeab7d435f"/>
    <p:sldId xmlns:r="http://schemas.openxmlformats.org/officeDocument/2006/relationships" id="258" r:id="R5fe797f499fc4947"/>
    <p:sldId xmlns:r="http://schemas.openxmlformats.org/officeDocument/2006/relationships" id="259" r:id="R5725de96cae14f2d"/>
    <p:sldId xmlns:r="http://schemas.openxmlformats.org/officeDocument/2006/relationships" id="260" r:id="Rc12a71a7d5004cfc"/>
    <p:sldId xmlns:r="http://schemas.openxmlformats.org/officeDocument/2006/relationships" id="261" r:id="Rc0d88c066a1d464c"/>
    <p:sldId xmlns:r="http://schemas.openxmlformats.org/officeDocument/2006/relationships" id="262" r:id="Ra48fa687baa14566"/>
    <p:sldId xmlns:r="http://schemas.openxmlformats.org/officeDocument/2006/relationships" id="263" r:id="Rfb9a269eec67440c"/>
    <p:sldId xmlns:r="http://schemas.openxmlformats.org/officeDocument/2006/relationships" id="264" r:id="R8b2fcbb000354a21"/>
    <p:sldId xmlns:r="http://schemas.openxmlformats.org/officeDocument/2006/relationships" id="265" r:id="R08812bb1c8bf4a69"/>
    <p:sldId xmlns:r="http://schemas.openxmlformats.org/officeDocument/2006/relationships" id="266" r:id="R38b86a15d13a4794"/>
    <p:sldId xmlns:r="http://schemas.openxmlformats.org/officeDocument/2006/relationships" id="267" r:id="R58d58960b92648a1"/>
    <p:sldId xmlns:r="http://schemas.openxmlformats.org/officeDocument/2006/relationships" id="268" r:id="Rbfd9b425358041e1"/>
    <p:sldId xmlns:r="http://schemas.openxmlformats.org/officeDocument/2006/relationships" id="269" r:id="R2b4f60c051d14f88"/>
    <p:sldId xmlns:r="http://schemas.openxmlformats.org/officeDocument/2006/relationships" id="270" r:id="R62545c73fdd8473d"/>
    <p:sldId xmlns:r="http://schemas.openxmlformats.org/officeDocument/2006/relationships" id="271" r:id="Rd66e722e0d4d4d54"/>
    <p:sldId xmlns:r="http://schemas.openxmlformats.org/officeDocument/2006/relationships" id="272" r:id="R6c973c9b36e74eef"/>
    <p:sldId xmlns:r="http://schemas.openxmlformats.org/officeDocument/2006/relationships" id="273" r:id="R8eb00d4c14104ffb"/>
    <p:sldId xmlns:r="http://schemas.openxmlformats.org/officeDocument/2006/relationships" id="274" r:id="R89612a773a214dd9"/>
    <p:sldId xmlns:r="http://schemas.openxmlformats.org/officeDocument/2006/relationships" id="275" r:id="R4952ced105d8416f"/>
    <p:sldId xmlns:r="http://schemas.openxmlformats.org/officeDocument/2006/relationships" id="276" r:id="R50a42dae432f4fca"/>
    <p:sldId xmlns:r="http://schemas.openxmlformats.org/officeDocument/2006/relationships" id="277" r:id="Rf162d1b22d194f58"/>
    <p:sldId xmlns:r="http://schemas.openxmlformats.org/officeDocument/2006/relationships" id="278" r:id="R2c48914bc1cf44c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0" cy="720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c9d61b0d25433c" /><Relationship Type="http://schemas.openxmlformats.org/officeDocument/2006/relationships/slideMaster" Target="/ppt/slideMasters/slideMaster1.xml" Id="Re1801c94860a44ea" /><Relationship Type="http://schemas.openxmlformats.org/officeDocument/2006/relationships/notesMaster" Target="/ppt/notesMasters/notesMaster1.xml" Id="R61238c6f586145b4" /><Relationship Type="http://schemas.openxmlformats.org/officeDocument/2006/relationships/presProps" Target="/ppt/presProps.xml" Id="R8b6550c910434eec" /><Relationship Type="http://schemas.openxmlformats.org/officeDocument/2006/relationships/viewProps" Target="/ppt/viewProps.xml" Id="R5683a3a8228f4a51" /><Relationship Type="http://schemas.openxmlformats.org/officeDocument/2006/relationships/tableStyles" Target="/ppt/tableStyles.xml" Id="R8f5a46ac13364882" /><Relationship Type="http://schemas.openxmlformats.org/officeDocument/2006/relationships/slide" Target="/ppt/slides/slide1.xml" Id="R139041aa4c274fd1" /><Relationship Type="http://schemas.openxmlformats.org/officeDocument/2006/relationships/slide" Target="/ppt/slides/slide2.xml" Id="R0231f7aeab7d435f" /><Relationship Type="http://schemas.openxmlformats.org/officeDocument/2006/relationships/slide" Target="/ppt/slides/slide3.xml" Id="R5fe797f499fc4947" /><Relationship Type="http://schemas.openxmlformats.org/officeDocument/2006/relationships/slide" Target="/ppt/slides/slide4.xml" Id="R5725de96cae14f2d" /><Relationship Type="http://schemas.openxmlformats.org/officeDocument/2006/relationships/slide" Target="/ppt/slides/slide5.xml" Id="Rc12a71a7d5004cfc" /><Relationship Type="http://schemas.openxmlformats.org/officeDocument/2006/relationships/slide" Target="/ppt/slides/slide6.xml" Id="Rc0d88c066a1d464c" /><Relationship Type="http://schemas.openxmlformats.org/officeDocument/2006/relationships/slide" Target="/ppt/slides/slide7.xml" Id="Ra48fa687baa14566" /><Relationship Type="http://schemas.openxmlformats.org/officeDocument/2006/relationships/slide" Target="/ppt/slides/slide8.xml" Id="Rfb9a269eec67440c" /><Relationship Type="http://schemas.openxmlformats.org/officeDocument/2006/relationships/slide" Target="/ppt/slides/slide9.xml" Id="R8b2fcbb000354a21" /><Relationship Type="http://schemas.openxmlformats.org/officeDocument/2006/relationships/slide" Target="/ppt/slides/slide10.xml" Id="R08812bb1c8bf4a69" /><Relationship Type="http://schemas.openxmlformats.org/officeDocument/2006/relationships/slide" Target="/ppt/slides/slide11.xml" Id="R38b86a15d13a4794" /><Relationship Type="http://schemas.openxmlformats.org/officeDocument/2006/relationships/slide" Target="/ppt/slides/slide12.xml" Id="R58d58960b92648a1" /><Relationship Type="http://schemas.openxmlformats.org/officeDocument/2006/relationships/slide" Target="/ppt/slides/slide13.xml" Id="Rbfd9b425358041e1" /><Relationship Type="http://schemas.openxmlformats.org/officeDocument/2006/relationships/slide" Target="/ppt/slides/slide14.xml" Id="R2b4f60c051d14f88" /><Relationship Type="http://schemas.openxmlformats.org/officeDocument/2006/relationships/slide" Target="/ppt/slides/slide15.xml" Id="R62545c73fdd8473d" /><Relationship Type="http://schemas.openxmlformats.org/officeDocument/2006/relationships/slide" Target="/ppt/slides/slide16.xml" Id="Rd66e722e0d4d4d54" /><Relationship Type="http://schemas.openxmlformats.org/officeDocument/2006/relationships/slide" Target="/ppt/slides/slide17.xml" Id="R6c973c9b36e74eef" /><Relationship Type="http://schemas.openxmlformats.org/officeDocument/2006/relationships/slide" Target="/ppt/slides/slide18.xml" Id="R8eb00d4c14104ffb" /><Relationship Type="http://schemas.openxmlformats.org/officeDocument/2006/relationships/slide" Target="/ppt/slides/slide19.xml" Id="R89612a773a214dd9" /><Relationship Type="http://schemas.openxmlformats.org/officeDocument/2006/relationships/slide" Target="/ppt/slides/slide20.xml" Id="R4952ced105d8416f" /><Relationship Type="http://schemas.openxmlformats.org/officeDocument/2006/relationships/slide" Target="/ppt/slides/slide21.xml" Id="R50a42dae432f4fca" /><Relationship Type="http://schemas.openxmlformats.org/officeDocument/2006/relationships/slide" Target="/ppt/slides/slide22.xml" Id="Rf162d1b22d194f58" /><Relationship Type="http://schemas.openxmlformats.org/officeDocument/2006/relationships/slide" Target="/ppt/slides/slide23.xml" Id="R2c48914bc1cf44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35129d07fc4e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WPS​​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1828c728a14278" /><Relationship Type="http://schemas.openxmlformats.org/officeDocument/2006/relationships/notesMaster" Target="/ppt/notesMasters/notesMaster1.xml" Id="R6348c2cc36b14e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abdad43b244668" /><Relationship Type="http://schemas.openxmlformats.org/officeDocument/2006/relationships/notesMaster" Target="/ppt/notesMasters/notesMaster1.xml" Id="R49e602f734b142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27614a57454f64" /><Relationship Type="http://schemas.openxmlformats.org/officeDocument/2006/relationships/notesMaster" Target="/ppt/notesMasters/notesMaster1.xml" Id="R17c81646b0c446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66dbfc652843d2" /><Relationship Type="http://schemas.openxmlformats.org/officeDocument/2006/relationships/notesMaster" Target="/ppt/notesMasters/notesMaster1.xml" Id="R6689fd86e20c42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1a276237fd47ba" /><Relationship Type="http://schemas.openxmlformats.org/officeDocument/2006/relationships/notesMaster" Target="/ppt/notesMasters/notesMaster1.xml" Id="R0a69ee24ecb64f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8ef8a133084aef" /><Relationship Type="http://schemas.openxmlformats.org/officeDocument/2006/relationships/notesMaster" Target="/ppt/notesMasters/notesMaster1.xml" Id="R21ec84d5907f44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cf7522a0084fbf" /><Relationship Type="http://schemas.openxmlformats.org/officeDocument/2006/relationships/notesMaster" Target="/ppt/notesMasters/notesMaster1.xml" Id="Rd6277143489e41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601d89ad22d4706" /><Relationship Type="http://schemas.openxmlformats.org/officeDocument/2006/relationships/notesMaster" Target="/ppt/notesMasters/notesMaster1.xml" Id="Rd5b4832f08ac432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9de2d3d1b8d48d9" /><Relationship Type="http://schemas.openxmlformats.org/officeDocument/2006/relationships/notesMaster" Target="/ppt/notesMasters/notesMaster1.xml" Id="Rc8f3d6ead1bc467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e546bea816f4819" /><Relationship Type="http://schemas.openxmlformats.org/officeDocument/2006/relationships/notesMaster" Target="/ppt/notesMasters/notesMaster1.xml" Id="Rfed493ba195d4d3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bf3fb75f5c04f10" /><Relationship Type="http://schemas.openxmlformats.org/officeDocument/2006/relationships/notesMaster" Target="/ppt/notesMasters/notesMaster1.xml" Id="Rbbc7d79e13914c6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22d87fca04147ee" /><Relationship Type="http://schemas.openxmlformats.org/officeDocument/2006/relationships/notesMaster" Target="/ppt/notesMasters/notesMaster1.xml" Id="R95f16432d1a0494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0a03b766b004b9b" /><Relationship Type="http://schemas.openxmlformats.org/officeDocument/2006/relationships/notesMaster" Target="/ppt/notesMasters/notesMaster1.xml" Id="R0d2cc7d4aca24ee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3faf10ef25b4a62" /><Relationship Type="http://schemas.openxmlformats.org/officeDocument/2006/relationships/notesMaster" Target="/ppt/notesMasters/notesMaster1.xml" Id="R757771ad4e5f4f6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8fb0005b0274a4c" /><Relationship Type="http://schemas.openxmlformats.org/officeDocument/2006/relationships/notesMaster" Target="/ppt/notesMasters/notesMaster1.xml" Id="R51ede7f8afa2452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e922c72230046e5" /><Relationship Type="http://schemas.openxmlformats.org/officeDocument/2006/relationships/notesMaster" Target="/ppt/notesMasters/notesMaster1.xml" Id="R476479e48b284f4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f85872209c24eee" /><Relationship Type="http://schemas.openxmlformats.org/officeDocument/2006/relationships/notesMaster" Target="/ppt/notesMasters/notesMaster1.xml" Id="R34d4ca193301476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53d666de9ee4df5" /><Relationship Type="http://schemas.openxmlformats.org/officeDocument/2006/relationships/notesMaster" Target="/ppt/notesMasters/notesMaster1.xml" Id="R2d258a855265473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f588616ab714fec" /><Relationship Type="http://schemas.openxmlformats.org/officeDocument/2006/relationships/notesMaster" Target="/ppt/notesMasters/notesMaster1.xml" Id="Rd4e961fa77174d1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8186b65c8d54ded" /><Relationship Type="http://schemas.openxmlformats.org/officeDocument/2006/relationships/notesMaster" Target="/ppt/notesMasters/notesMaster1.xml" Id="Rb2f8af7d4f9b455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c1c3040df6a4d09" /><Relationship Type="http://schemas.openxmlformats.org/officeDocument/2006/relationships/notesMaster" Target="/ppt/notesMasters/notesMaster1.xml" Id="Rc8746587d1324ed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42d158f28c746ea" /><Relationship Type="http://schemas.openxmlformats.org/officeDocument/2006/relationships/notesMaster" Target="/ppt/notesMasters/notesMaster1.xml" Id="Rfa7446bc3199440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d187cd76cf446a3" /><Relationship Type="http://schemas.openxmlformats.org/officeDocument/2006/relationships/notesMaster" Target="/ppt/notesMasters/notesMaster1.xml" Id="R52f3b1737eb848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claims and quotations are supplied in talk-ai-coding-evolution/04_drafts/ppt-text-v1.md.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Opening: introduce the question carried through the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claims and quotations are supplied in talk-ai-coding-evolution/04_drafts/ppt-text-v1.md.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Three anchors establish Harness, Loop, and Graph before the role sequence.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claims and quotations are supplied in talk-ai-coding-evolution/04_drafts/ppt-text-v1.md.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Replace agenda with the three questions the talk resolves.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METR, Measuring AI Ability to Complete Long Tasks, 2025-03-19: https://metr.org/blog/2025-03-19-measuring-ai-ability-to-complete-long-tasks/</a:t>
            </a:r>
          </a:p>
          <a:p xmlns:a="http://schemas.openxmlformats.org/drawingml/2006/main">
            <a:r>
              <a:t>Anthropic, Effective context engineering for AI agents: https://www.anthropic.com/engineering/effective-context-engineering-for-ai-agents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slide uses these sources for model capability growth and the declining value of prompt-level micromanagement. The five-layer stacking interpretation is this talk's synthesis.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claims and quotations are supplied in talk-ai-coding-evolution/04_drafts/ppt-text-v1.md.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Prompt/Context slide; show Lost in the Middle curve without introducing claims beyond supplied copy.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Martin Fowler / Birgitta Böckeler, Harness Engineering: https://martinfowler.com/articles/harness-engineering.html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Agent = Model + Harness. Harness refers to the surrounding system that supplies tools, permissions, validation, execution boundaries, and feedback.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claims and quotations are supplied in talk-ai-coding-evolution/04_drafts/ppt-text-v1.md.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Use distinct temporal-loop and spatial-graph structures.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claims and quotations are supplied in talk-ai-coding-evolution/04_drafts/ppt-text-v1.md.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Relationship diagram, not a pyramid; Harness is the reliable execution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claims and quotations are supplied in talk-ai-coding-evolution/04_drafts/ppt-text-v1.md.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Pivot from the relationship map to the reliability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claims and quotations are supplied in talk-ai-coding-evolution/04_drafts/ppt-text-v1.md.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Recover the minimal harness from P5.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claims and quotations are supplied in talk-ai-coding-evolution/04_drafts/ppt-text-v1.md.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Core harness mechanism: retain full Guides/Sensors and deterministic/probabilistic distinction.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Storyline basis: talk-ai-coding-evolution/01_storyline/00-storyline-map.md.</a:t>
            </a:r>
          </a:p>
          <a:p xmlns:a="http://schemas.openxmlformats.org/drawingml/2006/main">
            <a:r>
              <a:t>Knowledge Map basis: talk-ai-coding-evolution/_reference/rawdata_dsh-faq-on-digested/07_borrowing-harness-idea/answer.md.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Sandboxing, gates, and traceability form the reliability core. Knowledge Map is a separate layer of professional context that helps the model locate ownership and correct paths inside that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GraphARC: https://github.com/CodeGraphContext/GraphARC</a:t>
            </a:r>
          </a:p>
          <a:p xmlns:a="http://schemas.openxmlformats.org/drawingml/2006/main">
            <a:r>
              <a:t>Martin Fowler / Birgitta Böckeler, Harness Engineering: https://martinfowler.com/articles/harness-engineering.html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slide's sequencing is the talk's conclusion: deterministic admission gates belong before a proposed Loop or Graph action becomes a real execution.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The Hacker News, 'AWS, Google, and Vercel Agent Flaws Let Attackers Trigger Tools Without Running the Model,' 2026-08-06.</a:t>
            </a:r>
          </a:p>
          <a:p xmlns:a="http://schemas.openxmlformats.org/drawingml/2006/main">
            <a:r>
              <a:t>https://thehackernews.com/2026/08/aws-google-and-vercel-patch-agent-flaws.html</a:t>
            </a:r>
          </a:p>
          <a:p xmlns:a="http://schemas.openxmlformats.org/drawingml/2006/main">
            <a:r>
              <a:t>Local evidence summary: talk-ai-coding-evolution/_reference/rawdata_ai-coding-evolution-final/final_v4/03-2026-harness-era.md.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Concrete example: an authenticated caller could place a tool-use content block at the end of an Amazon Bedrock AgentCore InvokeHarness request. The event loop could dispatch that tool without a model turn. The managed service fix rejects caller-supplied tool-use blocks before dispatch.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Narrative and OPC decision criterion are supplied by the user feedback and talk-ai-coding-evolution/01_storyline/00-storyline-map.md.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Ask for recognition before presenting the decision: tool sprawl, repeated switching, and scattered knowledge/practice are the pain that can make a shared Harness boundary economically relevant.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claims and quotations are supplied in talk-ai-coding-evolution/04_drafts/ppt-text-v1.md.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Fairly state the value of ready-made harnesses.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GitHub REST API, deepseek-ai/deepseek-harness: https://api.github.com/repos/deepseek-ai/deepseek-harness</a:t>
            </a:r>
          </a:p>
          <a:p xmlns:a="http://schemas.openxmlformats.org/drawingml/2006/main">
            <a:r>
              <a:t>Captured 2026-08-27: created 2026-08-13, 199,846 stars, 22,820 forks.</a:t>
            </a:r>
          </a:p>
          <a:p xmlns:a="http://schemas.openxmlformats.org/drawingml/2006/main">
            <a:r>
              <a:t>talk-ai-coding-evolution/_reference/rawdata_dsh-plugin-ecosystem-distribution/answer.md (2026-08-27 snapshot, 2,286 entries)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these numbers only as attention and extensibility signals. They do not certify maturity, quality, security, or trustworthiness.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talk-ai-coding-evolution/_reference/rawdata_dsh-plugin-business-ladder/answer.md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For a self-using owner, the three benefits are saving manual effort, daring to delegate, and reusing combinations the owner has independently verified. External exploration is not external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talk-ai-coding-evolution/_reference/rawdata_dsh-digested/system/00-map.md</a:t>
            </a:r>
          </a:p>
          <a:p xmlns:a="http://schemas.openxmlformats.org/drawingml/2006/main">
            <a:r>
              <a:t>talk-ai-coding-evolution/_reference/rawdata_dsh-faq-on-digested/01_repository-organization/answer.md</a:t>
            </a:r>
          </a:p>
          <a:p xmlns:a="http://schemas.openxmlformats.org/drawingml/2006/main">
            <a:r>
              <a:t>talk-ai-coding-evolution/_reference/rawdata_dsh-plugin-seam-maturity/answer.md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DSH is presented as a composable Harness runtime: inputs vary around shared contracts, while the append-only session log preserves ordered facts.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talk-ai-coding-evolution/_reference/rawdata_dsh-plugin-seam-maturity/answer.md</a:t>
            </a:r>
          </a:p>
          <a:p xmlns:a="http://schemas.openxmlformats.org/drawingml/2006/main">
            <a:r>
              <a:t>talk-ai-coding-evolution/_reference/rawdata_dsh-digested/tools-prompt-llm/00-map.md</a:t>
            </a:r>
          </a:p>
          <a:p xmlns:a="http://schemas.openxmlformats.org/drawingml/2006/main">
            <a:r>
              <a:t>talk-ai-coding-evolution/_reference/rawdata_dsh-digested/capability-seams/00-map.md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Mechanism mapping used in the talk: admission -&gt; registry; replacement -&gt; adapter + capability seam; release -&gt; enforced gate; fact reconstruction -&gt; session log. Installability alone is not a trust or safety guarantee.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talk-ai-coding-evolution/_reference/rawdata_dsh-faq-on-digested/07_borrowing-harness-idea/answer.md</a:t>
            </a:r>
          </a:p>
          <a:p xmlns:a="http://schemas.openxmlformats.org/drawingml/2006/main">
            <a:r>
              <a:t>talk-ai-coding-evolution/_reference/rawdata_dsh-plugin-seam-maturity/answer.md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The four-part definition of final authority (admit, replace, release, reconstruct facts) is this talk's synthesis, not an official DSH quotation. It does not require the owner to build every component.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talk-ai-coding-evolution/01_storyline/00-storyline-map.md</a:t>
            </a:r>
          </a:p>
          <a:p xmlns:a="http://schemas.openxmlformats.org/drawingml/2006/main">
            <a:r>
              <a:t>talk-ai-coding-evolution/_reference/rawdata_ai-coding-evolution-final/final_v4/06-five-layer-forward.md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The operating principle is: borrow mature components first, understand the boundary, and retain final authority only where differentiation enters the real execution path.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claims and quotations are supplied in talk-ai-coding-evolution/04_drafts/ppt-text-v1.md.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Close on the reusable choice principle.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be4ab83e6e437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f9731a55a6477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4209fc84c04b5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24a2f3b2804d3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1f4a710d27478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0980cc07fa409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34b686cf90492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da6ed6b7dc4db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c0d581a7c94a2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abdd1fed514ed5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2AE11E3-EFEF-4EEA-AA89-18A57D8D948E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524000" y="1322962"/>
            <a:ext cx="9144000" cy="2187001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lnSpc>
                <a:spcPct val="130000"/>
              </a:lnSpc>
              <a:buNone/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单击此处添加标题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F45372E-CC10-4D98-9D95-90F3E12125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781074B-108D-4C7F-9E3B-3D43BA2A79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D662EE3-119E-444B-8134-7D848C87A2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68ADC448-3193-4AF7-855A-E1F74AE450EB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单击此处添加副标题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6380BA0-8406-49B3-9B37-900883CA33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F6F0F48-2682-496C-A91E-8928A92DBF7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10515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883ACE5-E1ED-4889-A8F7-CB90819B5D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E64AFB6-97E9-4D9B-AFE3-53EECFB366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08125FB-23F7-4FBE-B80F-29FCB35ED1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8F2DB45-72E3-4D78-AB1A-2F5FE6DEF7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3751117"/>
            <a:ext cx="7321550" cy="81135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CF86F43A-E5AD-4CE0-9F1E-9CFE3C9F3D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610028"/>
            <a:ext cx="7321550" cy="64755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C6BF131-3545-4083-B1FB-54FA58D2A7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38ED3A7-C4AA-4CD7-9BFE-4AFFC2C8098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8E591F5-8D6C-404A-9389-5A39B22B30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29A8F55-B68A-483A-A53E-540C8818B3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A8D2A801-E694-4FD7-8E63-D698BB97657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1258DE2C-8D98-42FC-A500-7B2E3150843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981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5F15505-D19D-43F6-9A27-C998016E2E7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B7D99E7-E8CA-4210-97C8-0C2668054FE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366801E-F48B-4B7B-B57D-EFEC492F43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524C8D2-906A-44E5-94E9-FC88BBF57C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E8DB727-2083-4D48-B0DA-48037014CB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744961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11B5D8E6-CA19-4745-A6A7-8A82CBC0F3A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615609"/>
            <a:ext cx="5157787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5498F709-ED1B-4E0E-8E20-10F17B6EA61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744961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D5326E8-0675-4AFF-8B2C-FDF0B6FF556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615609"/>
            <a:ext cx="5183188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36E60D0-2B7E-4A5C-92EA-EEB167C46D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4F28AEA3-6DC2-44DF-B9FA-1BBFB21EFB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D6D67F99-B855-4824-B004-A06206B6B5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6CA199B-58F5-4BDA-8028-60E6D95E41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2766219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EB9440F6-C9F7-4464-B7E3-B581F576369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66448F65-3888-4EE7-A08A-925768F191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4DF899AC-020B-46CD-AB6B-94B04616BF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9066AB12-1CE8-4DA0-A617-37071C3B63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F56422C5-6BBF-4F98-9C93-3313CDB9ACD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1B909A89-EB44-461A-BD20-BF7EFEE369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1FEE799-ECDE-41F7-ACC2-A028E98354B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46747" y="127000"/>
            <a:ext cx="4165200" cy="16002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单击此处编辑标题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7DA67F8A-B568-4E81-9C42-D7B77B67735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4000" y="766354"/>
            <a:ext cx="5817375" cy="5094446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8CBE4A5-37F9-4B46-8FDF-C8E7B9A6F48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51827" y="2057400"/>
            <a:ext cx="4165200" cy="381158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EF1D540-B4F7-4549-937A-B756E1F72E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03B651-75B4-48C9-B5A6-E469B4F3E9D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E6F890E-88E4-4880-9B9C-2A1F104357F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532F8484-7F20-4C6C-B6DF-0AD1028802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824484" y="365125"/>
            <a:ext cx="1529316" cy="5811838"/>
          </a:xfrm>
        </p:spPr>
        <p:txBody>
          <a:bodyPr xmlns:a="http://schemas.openxmlformats.org/drawingml/2006/main" vert="eaVert">
            <a:normAutofit/>
          </a:bodyPr>
          <a:lstStyle xmlns:a="http://schemas.openxmlformats.org/drawingml/2006/main">
            <a:lvl1pPr>
              <a:buNone/>
              <a:defRPr sz="36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D0FE67F-3E6A-4258-9DFC-CBB476B701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8879958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B5F01BB-9F73-4DB1-BB7F-5433E75C03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5998CDA-FD51-482A-AFC0-A439663F9E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9A15723-FE64-402B-B376-BA673F9FB9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6156EC72-DCFB-4AFD-AB36-AC613FA5813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793EF8AF-A9E5-4CED-9332-EFF831DF4AD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83B065D7-EB36-4528-A358-4812AF9E5A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C66EC56A-B5FD-4CC7-AF64-F85A6FED3B8A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38200" y="551543"/>
            <a:ext cx="10515600" cy="555897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9a590e94544371" /><Relationship Type="http://schemas.openxmlformats.org/officeDocument/2006/relationships/slideLayout" Target="/ppt/slideLayouts/slideLayout1.xml" Id="Rece524855a3f4758" /><Relationship Type="http://schemas.openxmlformats.org/officeDocument/2006/relationships/slideLayout" Target="/ppt/slideLayouts/slideLayout2.xml" Id="Rb3d42a09673746c8" /><Relationship Type="http://schemas.openxmlformats.org/officeDocument/2006/relationships/slideLayout" Target="/ppt/slideLayouts/slideLayout3.xml" Id="R28aa7c8739e146f2" /><Relationship Type="http://schemas.openxmlformats.org/officeDocument/2006/relationships/slideLayout" Target="/ppt/slideLayouts/slideLayout4.xml" Id="R729fd029fc004686" /><Relationship Type="http://schemas.openxmlformats.org/officeDocument/2006/relationships/slideLayout" Target="/ppt/slideLayouts/slideLayout5.xml" Id="R520692b8230c429b" /><Relationship Type="http://schemas.openxmlformats.org/officeDocument/2006/relationships/slideLayout" Target="/ppt/slideLayouts/slideLayout6.xml" Id="R30eaf4b70b814d24" /><Relationship Type="http://schemas.openxmlformats.org/officeDocument/2006/relationships/slideLayout" Target="/ppt/slideLayouts/slideLayout7.xml" Id="Rc2501c2af7444d9a" /><Relationship Type="http://schemas.openxmlformats.org/officeDocument/2006/relationships/slideLayout" Target="/ppt/slideLayouts/slideLayout8.xml" Id="R8f04cc8048814b12" /><Relationship Type="http://schemas.openxmlformats.org/officeDocument/2006/relationships/slideLayout" Target="/ppt/slideLayouts/slideLayout9.xml" Id="R106e6d21d2424cc7" /><Relationship Type="http://schemas.openxmlformats.org/officeDocument/2006/relationships/slideLayout" Target="/ppt/slideLayouts/slideLayout10.xml" Id="R5b6b5159563b4f7f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A19B4D4-75CE-4A17-AED6-20D968EC9F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B2E0814-64EC-45B2-81E7-F0B0371D9C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D2CEEE8-4DEC-4F89-865E-5AE4C6F437A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6BD3693-0FFB-4137-8FCD-2FA59D951F6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22BAACC-6271-4091-AD55-B49135007FD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e524855a3f4758"/>
    <p:sldLayoutId xmlns:r="http://schemas.openxmlformats.org/officeDocument/2006/relationships" id="2147483650" r:id="Rb3d42a09673746c8"/>
    <p:sldLayoutId xmlns:r="http://schemas.openxmlformats.org/officeDocument/2006/relationships" id="2147483651" r:id="R28aa7c8739e146f2"/>
    <p:sldLayoutId xmlns:r="http://schemas.openxmlformats.org/officeDocument/2006/relationships" id="2147483652" r:id="R729fd029fc004686"/>
    <p:sldLayoutId xmlns:r="http://schemas.openxmlformats.org/officeDocument/2006/relationships" id="2147483653" r:id="R520692b8230c429b"/>
    <p:sldLayoutId xmlns:r="http://schemas.openxmlformats.org/officeDocument/2006/relationships" id="2147483654" r:id="R30eaf4b70b814d24"/>
    <p:sldLayoutId xmlns:r="http://schemas.openxmlformats.org/officeDocument/2006/relationships" id="2147483655" r:id="Rc2501c2af7444d9a"/>
    <p:sldLayoutId xmlns:r="http://schemas.openxmlformats.org/officeDocument/2006/relationships" id="2147483656" r:id="R8f04cc8048814b12"/>
    <p:sldLayoutId xmlns:r="http://schemas.openxmlformats.org/officeDocument/2006/relationships" id="2147483657" r:id="R106e6d21d2424cc7"/>
    <p:sldLayoutId xmlns:r="http://schemas.openxmlformats.org/officeDocument/2006/relationships" id="2147483658" r:id="R5b6b5159563b4f7f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​​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70e9ba7b8a46c5" /><Relationship Type="http://schemas.openxmlformats.org/officeDocument/2006/relationships/image" Target="/ppt/media/image.jpeg" Id="Rc8a57fa5407b4bc3" /><Relationship Type="http://schemas.openxmlformats.org/officeDocument/2006/relationships/image" Target="/ppt/media/image.png" Id="R54ab48d8a73a4139" /><Relationship Type="http://schemas.openxmlformats.org/officeDocument/2006/relationships/image" Target="/ppt/media/image2.png" Id="R3a35dd5593aa4ba9" /><Relationship Type="http://schemas.openxmlformats.org/officeDocument/2006/relationships/image" Target="/ppt/media/image3.png" Id="R036c1a37f3ce4d34" /><Relationship Type="http://schemas.openxmlformats.org/officeDocument/2006/relationships/image" Target="/ppt/media/image4.png" Id="R42e6d16df48b4007" /><Relationship Type="http://schemas.openxmlformats.org/officeDocument/2006/relationships/notesSlide" Target="/ppt/notesSlides/notesSlide1.xml" Id="R72dda4c7fe694f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127e8231b42ba" /><Relationship Type="http://schemas.openxmlformats.org/officeDocument/2006/relationships/image" Target="/ppt/media/image.png" Id="R516402954ca04c02" /><Relationship Type="http://schemas.openxmlformats.org/officeDocument/2006/relationships/image" Target="/ppt/media/image2.png" Id="R182589fab6b9409f" /><Relationship Type="http://schemas.openxmlformats.org/officeDocument/2006/relationships/image" Target="/ppt/media/image3.png" Id="Rda92e4a2c6b8420a" /><Relationship Type="http://schemas.openxmlformats.org/officeDocument/2006/relationships/image" Target="/ppt/media/image4.png" Id="Rba117e46744f4d7e" /><Relationship Type="http://schemas.openxmlformats.org/officeDocument/2006/relationships/notesSlide" Target="/ppt/notesSlides/notesSlide2.xml" Id="R1f10f0d931814b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144c32c074431f" /><Relationship Type="http://schemas.openxmlformats.org/officeDocument/2006/relationships/image" Target="/ppt/media/image.png" Id="R801f66c4b17b4208" /><Relationship Type="http://schemas.openxmlformats.org/officeDocument/2006/relationships/image" Target="/ppt/media/image2.png" Id="R85aad63ca6314eff" /><Relationship Type="http://schemas.openxmlformats.org/officeDocument/2006/relationships/image" Target="/ppt/media/image3.png" Id="R58d14a44d3a84acb" /><Relationship Type="http://schemas.openxmlformats.org/officeDocument/2006/relationships/image" Target="/ppt/media/image4.png" Id="Rb0b45219da21411a" /><Relationship Type="http://schemas.openxmlformats.org/officeDocument/2006/relationships/notesSlide" Target="/ppt/notesSlides/notesSlide3.xml" Id="R4715fcf0c2aa41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8dbf4c49984f2b" /><Relationship Type="http://schemas.openxmlformats.org/officeDocument/2006/relationships/image" Target="/ppt/media/image.png" Id="Rcb411be788dd4bad" /><Relationship Type="http://schemas.openxmlformats.org/officeDocument/2006/relationships/image" Target="/ppt/media/image2.png" Id="Rea8ceb7a70de40a6" /><Relationship Type="http://schemas.openxmlformats.org/officeDocument/2006/relationships/image" Target="/ppt/media/image3.png" Id="Ra47dd033df8a40c8" /><Relationship Type="http://schemas.openxmlformats.org/officeDocument/2006/relationships/image" Target="/ppt/media/image4.png" Id="R6aab91e511d7418c" /><Relationship Type="http://schemas.openxmlformats.org/officeDocument/2006/relationships/notesSlide" Target="/ppt/notesSlides/notesSlide4.xml" Id="R0cad2efef0534c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b1e2accbd4b14" /><Relationship Type="http://schemas.openxmlformats.org/officeDocument/2006/relationships/image" Target="/ppt/media/image.png" Id="R41bee278d9d64355" /><Relationship Type="http://schemas.openxmlformats.org/officeDocument/2006/relationships/image" Target="/ppt/media/image2.png" Id="Ra111ce868d1b4493" /><Relationship Type="http://schemas.openxmlformats.org/officeDocument/2006/relationships/image" Target="/ppt/media/image3.png" Id="R803892daebc14624" /><Relationship Type="http://schemas.openxmlformats.org/officeDocument/2006/relationships/image" Target="/ppt/media/image4.png" Id="R59e7a8e8e7484407" /><Relationship Type="http://schemas.openxmlformats.org/officeDocument/2006/relationships/notesSlide" Target="/ppt/notesSlides/notesSlide5.xml" Id="Re2fa089edb1a4d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d1ab4c85714adb" /><Relationship Type="http://schemas.openxmlformats.org/officeDocument/2006/relationships/image" Target="/ppt/media/image.png" Id="R975ebaf8c2df4923" /><Relationship Type="http://schemas.openxmlformats.org/officeDocument/2006/relationships/image" Target="/ppt/media/image2.png" Id="R0c49fa340dd84757" /><Relationship Type="http://schemas.openxmlformats.org/officeDocument/2006/relationships/image" Target="/ppt/media/image3.png" Id="R5caf97d8117346d3" /><Relationship Type="http://schemas.openxmlformats.org/officeDocument/2006/relationships/image" Target="/ppt/media/image4.png" Id="Rd64fdf3d59e142e1" /><Relationship Type="http://schemas.openxmlformats.org/officeDocument/2006/relationships/notesSlide" Target="/ppt/notesSlides/notesSlide6.xml" Id="Rd33360dbd3a44c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3f4148d4824a58" /><Relationship Type="http://schemas.openxmlformats.org/officeDocument/2006/relationships/image" Target="/ppt/media/image.png" Id="R71691cddcb114f79" /><Relationship Type="http://schemas.openxmlformats.org/officeDocument/2006/relationships/image" Target="/ppt/media/image2.png" Id="R5e8dbc8c4db14591" /><Relationship Type="http://schemas.openxmlformats.org/officeDocument/2006/relationships/image" Target="/ppt/media/image3.png" Id="Rd1c08aa8f90443af" /><Relationship Type="http://schemas.openxmlformats.org/officeDocument/2006/relationships/image" Target="/ppt/media/image4.png" Id="R5ed2fce78f844adc" /><Relationship Type="http://schemas.openxmlformats.org/officeDocument/2006/relationships/notesSlide" Target="/ppt/notesSlides/notesSlide7.xml" Id="Rac70968aa32246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fbb774b19c41fd" /><Relationship Type="http://schemas.openxmlformats.org/officeDocument/2006/relationships/image" Target="/ppt/media/image.png" Id="R5e477bf72a5740dd" /><Relationship Type="http://schemas.openxmlformats.org/officeDocument/2006/relationships/image" Target="/ppt/media/image2.png" Id="R80f9a72cb6aa41d9" /><Relationship Type="http://schemas.openxmlformats.org/officeDocument/2006/relationships/image" Target="/ppt/media/image3.png" Id="R8b97e7ac63734335" /><Relationship Type="http://schemas.openxmlformats.org/officeDocument/2006/relationships/image" Target="/ppt/media/image4.png" Id="Rd86da35b9157409f" /><Relationship Type="http://schemas.openxmlformats.org/officeDocument/2006/relationships/notesSlide" Target="/ppt/notesSlides/notesSlide8.xml" Id="R0e53cbb95a43494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e00729f3494b33" /><Relationship Type="http://schemas.openxmlformats.org/officeDocument/2006/relationships/image" Target="/ppt/media/image.png" Id="R1e1ad85331374679" /><Relationship Type="http://schemas.openxmlformats.org/officeDocument/2006/relationships/image" Target="/ppt/media/image2.png" Id="R629fa8bf08ae4e78" /><Relationship Type="http://schemas.openxmlformats.org/officeDocument/2006/relationships/image" Target="/ppt/media/image3.png" Id="R075e48460ded4714" /><Relationship Type="http://schemas.openxmlformats.org/officeDocument/2006/relationships/image" Target="/ppt/media/image4.png" Id="R0fe801a127d5476c" /><Relationship Type="http://schemas.openxmlformats.org/officeDocument/2006/relationships/notesSlide" Target="/ppt/notesSlides/notesSlide9.xml" Id="R387c2c45b995419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41eb5776d2425c" /><Relationship Type="http://schemas.openxmlformats.org/officeDocument/2006/relationships/image" Target="/ppt/media/image.png" Id="R11c8f146e3f743e8" /><Relationship Type="http://schemas.openxmlformats.org/officeDocument/2006/relationships/image" Target="/ppt/media/image2.png" Id="R2ba4a7a60e4148e2" /><Relationship Type="http://schemas.openxmlformats.org/officeDocument/2006/relationships/image" Target="/ppt/media/image3.png" Id="Ra8b4a5b3684d46aa" /><Relationship Type="http://schemas.openxmlformats.org/officeDocument/2006/relationships/image" Target="/ppt/media/image4.png" Id="R7984c0fda1e3455b" /><Relationship Type="http://schemas.openxmlformats.org/officeDocument/2006/relationships/notesSlide" Target="/ppt/notesSlides/notesSlide10.xml" Id="R9e47e8d163cf402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cac38ab63947af" /><Relationship Type="http://schemas.openxmlformats.org/officeDocument/2006/relationships/image" Target="/ppt/media/image.png" Id="Rbd6e3054847f4a21" /><Relationship Type="http://schemas.openxmlformats.org/officeDocument/2006/relationships/image" Target="/ppt/media/image2.png" Id="R96cbada7dc4b44e0" /><Relationship Type="http://schemas.openxmlformats.org/officeDocument/2006/relationships/image" Target="/ppt/media/image3.png" Id="R71cba4c9ffca4969" /><Relationship Type="http://schemas.openxmlformats.org/officeDocument/2006/relationships/image" Target="/ppt/media/image4.png" Id="Rdbdd31991981401d" /><Relationship Type="http://schemas.openxmlformats.org/officeDocument/2006/relationships/notesSlide" Target="/ppt/notesSlides/notesSlide11.xml" Id="Rd55270acef364f0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b4eb4b44074092" /><Relationship Type="http://schemas.openxmlformats.org/officeDocument/2006/relationships/image" Target="/ppt/media/image.png" Id="R41aa1790844244cf" /><Relationship Type="http://schemas.openxmlformats.org/officeDocument/2006/relationships/image" Target="/ppt/media/image2.png" Id="Ra934bc82c4a24308" /><Relationship Type="http://schemas.openxmlformats.org/officeDocument/2006/relationships/image" Target="/ppt/media/image3.png" Id="Rff8a65cb8a4d4344" /><Relationship Type="http://schemas.openxmlformats.org/officeDocument/2006/relationships/image" Target="/ppt/media/image4.png" Id="R736e8989034b4034" /><Relationship Type="http://schemas.openxmlformats.org/officeDocument/2006/relationships/notesSlide" Target="/ppt/notesSlides/notesSlide12.xml" Id="R2d25682fbf45460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5503d4fe294757" /><Relationship Type="http://schemas.openxmlformats.org/officeDocument/2006/relationships/image" Target="/ppt/media/image.png" Id="Rc5b27820b4344367" /><Relationship Type="http://schemas.openxmlformats.org/officeDocument/2006/relationships/image" Target="/ppt/media/image2.png" Id="R8a51e38cac894fc6" /><Relationship Type="http://schemas.openxmlformats.org/officeDocument/2006/relationships/image" Target="/ppt/media/image3.png" Id="Rd6dd4919aad04d66" /><Relationship Type="http://schemas.openxmlformats.org/officeDocument/2006/relationships/image" Target="/ppt/media/image4.png" Id="Rb5f5c71a600c4ed3" /><Relationship Type="http://schemas.openxmlformats.org/officeDocument/2006/relationships/notesSlide" Target="/ppt/notesSlides/notesSlide13.xml" Id="R7d4188c134c246a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84382113364a8f" /><Relationship Type="http://schemas.openxmlformats.org/officeDocument/2006/relationships/image" Target="/ppt/media/image.png" Id="Ra5ea9131fafb4fed" /><Relationship Type="http://schemas.openxmlformats.org/officeDocument/2006/relationships/image" Target="/ppt/media/image2.png" Id="R9f632a32e27c4803" /><Relationship Type="http://schemas.openxmlformats.org/officeDocument/2006/relationships/image" Target="/ppt/media/image3.png" Id="R28b87eb4cf3b4f06" /><Relationship Type="http://schemas.openxmlformats.org/officeDocument/2006/relationships/image" Target="/ppt/media/image4.png" Id="R54c6d9a99ea24461" /><Relationship Type="http://schemas.openxmlformats.org/officeDocument/2006/relationships/notesSlide" Target="/ppt/notesSlides/notesSlide14.xml" Id="R2c649f0f69204a8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47a1f716994bb9" /><Relationship Type="http://schemas.openxmlformats.org/officeDocument/2006/relationships/image" Target="/ppt/media/image.png" Id="R37a2689536684e53" /><Relationship Type="http://schemas.openxmlformats.org/officeDocument/2006/relationships/image" Target="/ppt/media/image2.png" Id="R279c43ab19984f9b" /><Relationship Type="http://schemas.openxmlformats.org/officeDocument/2006/relationships/image" Target="/ppt/media/image3.png" Id="Rd7cc05bc7e87440d" /><Relationship Type="http://schemas.openxmlformats.org/officeDocument/2006/relationships/image" Target="/ppt/media/image4.png" Id="R6b02831e41aa4935" /><Relationship Type="http://schemas.openxmlformats.org/officeDocument/2006/relationships/notesSlide" Target="/ppt/notesSlides/notesSlide15.xml" Id="R6c9a4c0c934e405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3eeb019e794131" /><Relationship Type="http://schemas.openxmlformats.org/officeDocument/2006/relationships/image" Target="/ppt/media/image.png" Id="Rf320a9fedd3241b2" /><Relationship Type="http://schemas.openxmlformats.org/officeDocument/2006/relationships/image" Target="/ppt/media/image2.png" Id="Rbfd11e14e1264ff8" /><Relationship Type="http://schemas.openxmlformats.org/officeDocument/2006/relationships/image" Target="/ppt/media/image3.png" Id="R002eaa82c6f74aaf" /><Relationship Type="http://schemas.openxmlformats.org/officeDocument/2006/relationships/image" Target="/ppt/media/image4.png" Id="R4182327fd2464553" /><Relationship Type="http://schemas.openxmlformats.org/officeDocument/2006/relationships/notesSlide" Target="/ppt/notesSlides/notesSlide16.xml" Id="Re34e72d2842b4e2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b94b60c968430c" /><Relationship Type="http://schemas.openxmlformats.org/officeDocument/2006/relationships/image" Target="/ppt/media/image.png" Id="R09d028be30b14dc1" /><Relationship Type="http://schemas.openxmlformats.org/officeDocument/2006/relationships/image" Target="/ppt/media/image2.png" Id="R478af05abdd140bb" /><Relationship Type="http://schemas.openxmlformats.org/officeDocument/2006/relationships/image" Target="/ppt/media/image3.png" Id="R59af4692dafa40f5" /><Relationship Type="http://schemas.openxmlformats.org/officeDocument/2006/relationships/image" Target="/ppt/media/image4.png" Id="R904938b1c6ed4283" /><Relationship Type="http://schemas.openxmlformats.org/officeDocument/2006/relationships/notesSlide" Target="/ppt/notesSlides/notesSlide17.xml" Id="R69fd3093904c4d3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f5d355557f4d27" /><Relationship Type="http://schemas.openxmlformats.org/officeDocument/2006/relationships/image" Target="/ppt/media/image.png" Id="R34640d1da664463a" /><Relationship Type="http://schemas.openxmlformats.org/officeDocument/2006/relationships/image" Target="/ppt/media/image2.png" Id="R3a4e749147f142ff" /><Relationship Type="http://schemas.openxmlformats.org/officeDocument/2006/relationships/image" Target="/ppt/media/image3.png" Id="R041bb41a51804437" /><Relationship Type="http://schemas.openxmlformats.org/officeDocument/2006/relationships/image" Target="/ppt/media/image4.png" Id="R3c293885eb4442a5" /><Relationship Type="http://schemas.openxmlformats.org/officeDocument/2006/relationships/notesSlide" Target="/ppt/notesSlides/notesSlide18.xml" Id="R0579b8f166f441a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878591274c4850" /><Relationship Type="http://schemas.openxmlformats.org/officeDocument/2006/relationships/image" Target="/ppt/media/image.png" Id="R866b7d793310421c" /><Relationship Type="http://schemas.openxmlformats.org/officeDocument/2006/relationships/image" Target="/ppt/media/image2.png" Id="Rc8162fef86104c73" /><Relationship Type="http://schemas.openxmlformats.org/officeDocument/2006/relationships/image" Target="/ppt/media/image3.png" Id="R9db8e6c5a6c04af6" /><Relationship Type="http://schemas.openxmlformats.org/officeDocument/2006/relationships/image" Target="/ppt/media/image4.png" Id="Rf5823026cb284853" /><Relationship Type="http://schemas.openxmlformats.org/officeDocument/2006/relationships/notesSlide" Target="/ppt/notesSlides/notesSlide19.xml" Id="Rb26de003911f49d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1b906e246f4bf3" /><Relationship Type="http://schemas.openxmlformats.org/officeDocument/2006/relationships/image" Target="/ppt/media/image.png" Id="R7885cb5d94324f5f" /><Relationship Type="http://schemas.openxmlformats.org/officeDocument/2006/relationships/image" Target="/ppt/media/image2.png" Id="R49036194a2b44428" /><Relationship Type="http://schemas.openxmlformats.org/officeDocument/2006/relationships/image" Target="/ppt/media/image3.png" Id="Ra4378c05aa364ba0" /><Relationship Type="http://schemas.openxmlformats.org/officeDocument/2006/relationships/image" Target="/ppt/media/image4.png" Id="Rec8b968461764a89" /><Relationship Type="http://schemas.openxmlformats.org/officeDocument/2006/relationships/notesSlide" Target="/ppt/notesSlides/notesSlide20.xml" Id="R6af5e12a424b489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e2dd9c0f5345e8" /><Relationship Type="http://schemas.openxmlformats.org/officeDocument/2006/relationships/image" Target="/ppt/media/image.png" Id="R3a48f74c272d4263" /><Relationship Type="http://schemas.openxmlformats.org/officeDocument/2006/relationships/image" Target="/ppt/media/image2.png" Id="R3b031277140a45cd" /><Relationship Type="http://schemas.openxmlformats.org/officeDocument/2006/relationships/image" Target="/ppt/media/image3.png" Id="R7816002465634a3b" /><Relationship Type="http://schemas.openxmlformats.org/officeDocument/2006/relationships/image" Target="/ppt/media/image4.png" Id="R7528bb675015426f" /><Relationship Type="http://schemas.openxmlformats.org/officeDocument/2006/relationships/notesSlide" Target="/ppt/notesSlides/notesSlide21.xml" Id="R8a73c63aeedd419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06d1b4b4e34674" /><Relationship Type="http://schemas.openxmlformats.org/officeDocument/2006/relationships/image" Target="/ppt/media/image.png" Id="R83985813a8da4980" /><Relationship Type="http://schemas.openxmlformats.org/officeDocument/2006/relationships/image" Target="/ppt/media/image2.png" Id="Rf6897735faca4b29" /><Relationship Type="http://schemas.openxmlformats.org/officeDocument/2006/relationships/image" Target="/ppt/media/image3.png" Id="Rd1c13f6d0032456c" /><Relationship Type="http://schemas.openxmlformats.org/officeDocument/2006/relationships/image" Target="/ppt/media/image4.png" Id="Rf677d4c803da4a09" /><Relationship Type="http://schemas.openxmlformats.org/officeDocument/2006/relationships/notesSlide" Target="/ppt/notesSlides/notesSlide22.xml" Id="Rf0763d1218754e5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262b9430464466" /><Relationship Type="http://schemas.openxmlformats.org/officeDocument/2006/relationships/image" Target="/ppt/media/image.jpeg" Id="Re03c378c62074b4c" /><Relationship Type="http://schemas.openxmlformats.org/officeDocument/2006/relationships/image" Target="/ppt/media/image.png" Id="Rab651b9abe4c49da" /><Relationship Type="http://schemas.openxmlformats.org/officeDocument/2006/relationships/image" Target="/ppt/media/image2.png" Id="R0ab2d439d84d4ba7" /><Relationship Type="http://schemas.openxmlformats.org/officeDocument/2006/relationships/image" Target="/ppt/media/image3.png" Id="Racfd03b9bdd844fe" /><Relationship Type="http://schemas.openxmlformats.org/officeDocument/2006/relationships/image" Target="/ppt/media/image4.png" Id="R5b33fd9958704f28" /><Relationship Type="http://schemas.openxmlformats.org/officeDocument/2006/relationships/notesSlide" Target="/ppt/notesSlides/notesSlide23.xml" Id="Rb09d7d8402e240b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a57fa5407b4b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" y="263842"/>
            <a:ext cx="12191365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FD37E421-4BCF-4EC7-B5A4-7F06A4971C3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496060" y="3212782"/>
            <a:ext cx="9144000" cy="960120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225" b="1">
                <a:solidFill>
                  <a:srgbClr val="111827"/>
                </a:solidFill>
              </a:defRPr>
            </a:pPr>
            <a:r>
              <a:rPr sz="3225" b="1">
                <a:solidFill>
                  <a:srgbClr val="111827"/>
                </a:solidFill>
                <a:latin typeface="+mj-ea"/>
                <a:ea typeface="+mj-ea"/>
                <a:cs typeface="+mj-ea"/>
              </a:rPr>
              <a:t>OPC 航海指南</a:t>
            </a:r>
            <a:endParaRPr sz="5335">
              <a:solidFill>
                <a:srgbClr val="C00000"/>
              </a:solidFill>
              <a:latin typeface="+mj-ea"/>
              <a:ea typeface="+mj-ea"/>
              <a:cs typeface="+mj-ea"/>
            </a:endParaRPr>
          </a:p>
          <a:p xmlns:a="http://schemas.openxmlformats.org/drawingml/2006/main">
            <a:pPr algn="ctr">
              <a:buNone/>
              <a:defRPr sz="3225" b="1">
                <a:solidFill>
                  <a:srgbClr val="111827"/>
                </a:solidFill>
              </a:defRPr>
            </a:pPr>
            <a:r>
              <a:rPr sz="3225" b="1">
                <a:solidFill>
                  <a:srgbClr val="111827"/>
                </a:solidFill>
                <a:latin typeface="+mj-ea"/>
                <a:ea typeface="+mj-ea"/>
                <a:cs typeface="+mj-ea"/>
              </a:rPr>
              <a:t>一个人，AI Coding 要掌握到多深？</a:t>
            </a:r>
            <a:endParaRPr sz="5335">
              <a:solidFill>
                <a:srgbClr val="C00000"/>
              </a:solidFill>
              <a:latin typeface="+mj-ea"/>
              <a:ea typeface="+mj-ea"/>
              <a:cs typeface="+mj-ea"/>
            </a:endParaRPr>
          </a:p>
          <a:p xmlns:a="http://schemas.openxmlformats.org/drawingml/2006/main">
            <a:endParaRPr sz="5335">
              <a:solidFill>
                <a:srgbClr val="C00000"/>
              </a:solidFill>
              <a:latin typeface="+mj-ea"/>
              <a:ea typeface="+mj-ea"/>
              <a:cs typeface="+mj-ea"/>
            </a:endParaRPr>
          </a:p>
          <a:p xmlns:a="http://schemas.openxmlformats.org/drawingml/2006/main">
            <a:pPr algn="ctr">
              <a:buNone/>
              <a:defRPr sz="3225" b="1">
                <a:solidFill>
                  <a:srgbClr val="111827"/>
                </a:solidFill>
              </a:defRPr>
            </a:pPr>
            <a:r>
              <a:rPr sz="2200" b="1">
                <a:solidFill>
                  <a:srgbClr val="111827"/>
                </a:solidFill>
                <a:latin typeface="+mj-ea"/>
                <a:ea typeface="+mj-ea"/>
                <a:cs typeface="+mj-ea"/>
              </a:rPr>
              <a:t>Ethan Jiang</a:t>
            </a:r>
            <a:endParaRPr sz="2200">
              <a:solidFill>
                <a:srgbClr val="C00000"/>
              </a:solidFill>
              <a:latin typeface="+mj-ea"/>
              <a:ea typeface="+mj-ea"/>
              <a:cs typeface="+mj-ea"/>
            </a:endParaRPr>
          </a:p>
        </p:txBody>
      </p:sp>
      <p:pic>
        <p:nvPicPr>
          <p:cNvPr id="12" name="图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ab48d8a73a41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92590" y="321310"/>
            <a:ext cx="2756535" cy="487680"/>
          </a:xfrm>
          <a:prstGeom xmlns:a="http://schemas.openxmlformats.org/drawingml/2006/main" prst="rect">
            <a:avLst/>
          </a:prstGeom>
        </p:spPr>
      </p:pic>
      <p:pic>
        <p:nvPicPr>
          <p:cNvPr id="13" name="图片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35dd5593aa4b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5910" y="187960"/>
            <a:ext cx="1130300" cy="753745"/>
          </a:xfrm>
          <a:prstGeom xmlns:a="http://schemas.openxmlformats.org/drawingml/2006/main" prst="rect">
            <a:avLst/>
          </a:prstGeom>
        </p:spPr>
      </p:pic>
      <p:pic>
        <p:nvPicPr>
          <p:cNvPr id="14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6c1a37f3ce4d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5560" y="76835"/>
            <a:ext cx="1673860" cy="976630"/>
          </a:xfrm>
          <a:prstGeom xmlns:a="http://schemas.openxmlformats.org/drawingml/2006/main" prst="rect">
            <a:avLst/>
          </a:prstGeom>
        </p:spPr>
      </p:pic>
      <p:pic>
        <p:nvPicPr>
          <p:cNvPr id="15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e6d16df48b40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51940" y="0"/>
            <a:ext cx="1197610" cy="169481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0928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6402954ca04c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36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2589fab6b940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37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92e4a2c6b842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38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117e46744f4d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11A407E-D2C9-4203-B4D2-E12A286D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AI Coding 的五个 Engineering，先看全貌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ABB8FB4C-6C74-41EC-BF16-4722B864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它们不是新词清单，而是模型变强后，人要解决的问题不断上移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489083B-5006-4CC6-A882-DB046ECE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61492ABF-6BB6-4F22-AD30-85E0FF5A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38450"/>
            <a:ext cx="628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9BD81693-2E76-42F9-A885-DCA348B5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574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Prompt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Engineering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B7510426-2387-4FE6-840F-49A7897F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095625"/>
            <a:ext cx="131445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说什么？</a:t>
            </a:r>
          </a:p>
        </p:txBody>
      </p:sp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51653769-22E0-496E-A149-6AE3ED0A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38450"/>
            <a:ext cx="628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82874CA6-1353-4DA2-BFDF-73E5DB4B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574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Context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Engineering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81256396-50AB-475E-A069-5C8BBC9D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095625"/>
            <a:ext cx="131445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看什么？</a:t>
            </a:r>
          </a:p>
        </p:txBody>
      </p:sp>
      <p:sp>
        <p:nvSpPr>
          <p:cNvPr id="14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AE650C15-8399-4B83-892D-2642D504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838450"/>
            <a:ext cx="628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4FE8E040-7CB2-4D54-864C-B5B888ED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4574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Harness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Engineering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2A278214-E7A2-4F96-B186-650F6F3E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095625"/>
            <a:ext cx="131445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在哪行动？</a:t>
            </a:r>
            <a:endParaRPr sz="975" b="0">
              <a:solidFill>
                <a:srgbClr val="667085"/>
              </a:solidFill>
            </a:endParaRPr>
          </a:p>
        </p:txBody>
      </p:sp>
      <p:sp>
        <p:nvSpPr>
          <p:cNvPr id="17" name="Straight Connector 16">
            <a:extLst xmlns:a="http://schemas.openxmlformats.org/drawingml/2006/main">
              <a:ext uri="{FF2B5EF4-FFF2-40B4-BE49-F238E27FC236}">
                <a16:creationId xmlns:a16="http://schemas.microsoft.com/office/drawing/2014/main" id="{66474467-ADDD-4315-8505-17E7475C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38450"/>
            <a:ext cx="628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6AB04E20-5400-460D-A6D9-47731EB5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574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Loop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Engineering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4E9999E6-10ED-4189-87F7-29546F1F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95625"/>
            <a:ext cx="131445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何时重试？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CDB55F7A-248A-40CA-8CE5-455A202A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4574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Graph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Engineering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C002F2A2-D07C-4443-A0B9-E6829C3F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095625"/>
            <a:ext cx="131445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如何编排？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C5E4F42B-8422-49EE-B313-5F72FEC4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38550"/>
            <a:ext cx="10782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0DD3C5AC-30F1-4A79-AA53-AC3716C9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10782300" cy="41910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模型越强，人的动作越从亲手做，变成设计它怎样做</a:t>
            </a:r>
          </a:p>
        </p:txBody>
      </p:sp>
      <p:sp>
        <p:nvSpPr>
          <p:cNvPr id="30" name="anchor-quote-1">
            <a:extLst xmlns:a="http://schemas.openxmlformats.org/drawingml/2006/main">
              <a:ext uri="{FF2B5EF4-FFF2-40B4-BE49-F238E27FC236}">
                <a16:creationId xmlns:a16="http://schemas.microsoft.com/office/drawing/2014/main" id="{2AD90136-AE97-4DD2-A346-01839E58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38575"/>
            <a:ext cx="10144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说清任务  →  让动作可靠  →  把工作组织起来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1f66c4b17b42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23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aad63ca6314e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24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d14a44d3a84a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25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b45219da2141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504F9D81-5232-4606-8300-65ADA559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后面每一层，都在回答前一层解决不了的问题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2169C003-9073-4973-BE77-C65D4337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先看清五个对象，再沿着“为什么还不够”一路往下走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5DE8197-2EBD-4CED-8BC9-2D620FBA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50BF025-E5E7-415D-A6C5-D8C2EFBE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647700" cy="3810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01</a:t>
            </a:r>
          </a:p>
        </p:txBody>
      </p:sp>
      <p:sp>
        <p:nvSpPr>
          <p:cNvPr id="9" name="Straight Connector 8">
            <a:extLst xmlns:a="http://schemas.openxmlformats.org/drawingml/2006/main">
              <a:ext uri="{FF2B5EF4-FFF2-40B4-BE49-F238E27FC236}">
                <a16:creationId xmlns:a16="http://schemas.microsoft.com/office/drawing/2014/main" id="{C378FC25-E79A-4587-A32F-46F969B3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28875"/>
            <a:ext cx="666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B16EC273-D0EA-45E5-979E-1DA9822B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219325"/>
            <a:ext cx="7810500" cy="49530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F2937"/>
                </a:solidFill>
              </a:defRPr>
            </a:pPr>
            <a:r>
              <a:rPr sz="1800" b="1">
                <a:solidFill>
                  <a:srgbClr val="1F2937"/>
                </a:solidFill>
              </a:rPr>
              <a:t>说清任务后，模型到底该看到哪些事实？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5B4609F3-6E0B-4429-BBAA-C4864784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647700" cy="3810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02</a:t>
            </a:r>
          </a:p>
        </p:txBody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0B766B5D-D049-469D-A35D-A52389E2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666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1FFB3FA8-DD1E-446A-A821-C321AADD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19450"/>
            <a:ext cx="7810500" cy="49530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F2937"/>
                </a:solidFill>
              </a:defRPr>
            </a:pPr>
            <a:r>
              <a:rPr sz="1950" b="1">
                <a:solidFill>
                  <a:srgbClr val="1F2937"/>
                </a:solidFill>
              </a:rPr>
              <a:t>看见事实后，它怎样在真实世界安全地行动？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C2CC39AA-27BC-49F0-88E2-65615130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38625"/>
            <a:ext cx="647700" cy="3810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03</a:t>
            </a:r>
          </a:p>
        </p:txBody>
      </p:sp>
      <p:sp>
        <p:nvSpPr>
          <p:cNvPr id="15" name="Straight Connector 14">
            <a:extLst xmlns:a="http://schemas.openxmlformats.org/drawingml/2006/main">
              <a:ext uri="{FF2B5EF4-FFF2-40B4-BE49-F238E27FC236}">
                <a16:creationId xmlns:a16="http://schemas.microsoft.com/office/drawing/2014/main" id="{7CE820D4-A3FA-4DEC-A74C-F5D9D5E3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29125"/>
            <a:ext cx="666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B3223016-6B36-4D94-8696-808D8CEE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219575"/>
            <a:ext cx="7810500" cy="49530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F2937"/>
                </a:solidFill>
              </a:defRPr>
            </a:pPr>
            <a:r>
              <a:rPr sz="1800" b="1">
                <a:solidFill>
                  <a:srgbClr val="1F2937"/>
                </a:solidFill>
              </a:rPr>
              <a:t>动作可靠后，何时该借现成，何时必须改边界？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92807CD9-BC07-4AE4-8944-B83A9666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0"/>
            <a:ext cx="10782300" cy="41910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最后用 DSH 看：怎样既借现成，又保留改边界的能力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0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411be788dd4b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211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8ceb7a70de40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212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7dd033df8a40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213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ab91e511d741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9F3EF70F-6A2F-4775-901D-DFCB9C64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模型越强，工程对象越从一句话往系统上移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A2A83F3A-7BD3-44B3-90DB-6DCECC76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五个 Engineering 由同一台发动机推动：模型变强，手工动作就得上移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F4E5BB30-6870-4753-A2B2-9B89DE6D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E311D89E-7B3F-4DF9-8C68-228D9C5C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24288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50%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可靠性任务长度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约每 7 个月翻倍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ACB7FAAA-8DC9-49F8-8022-7DC7EDAA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2238375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METR · 独立评估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783875FF-C192-43DD-B050-09BEDA50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67000"/>
            <a:ext cx="176212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模型能力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更强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EFC2EB7A-F936-4DBF-B4FC-B1305352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667000"/>
            <a:ext cx="176212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单次措辞优化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收益递减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A8E069AF-6D0A-4854-842C-94B00854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67000"/>
            <a:ext cx="176212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工程杠杆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向上移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4069BAC9-A158-4E12-BE96-33236DD5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14750"/>
            <a:ext cx="6667500" cy="428625"/>
          </a:xfrm>
          <a:prstGeom xmlns:a="http://schemas.openxmlformats.org/drawingml/2006/main" prst="roundRect">
            <a:avLst>
              <a:gd name="adj" fmla="val 1777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写清一次任务  →  设计一次行动  →  设计一套系统怎样工作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47F26EC6-5B2B-4115-A76B-9DB843E2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24375"/>
            <a:ext cx="10782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4B4F4C65-F849-4A4D-A1CC-8FB5B3AC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38675"/>
            <a:ext cx="10144125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“prompt 的精确措辞，越来越不重要”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2BE7D3E2-0A14-4FA5-8C6C-76246E2A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10144125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D0D5DD"/>
                </a:solidFill>
              </a:defRPr>
            </a:pPr>
            <a:r>
              <a:rPr sz="1400" b="0">
                <a:solidFill>
                  <a:srgbClr val="D0D5DD"/>
                </a:solidFill>
              </a:rPr>
              <a:t>Anthropic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BF09C2AC-5E70-4970-8C00-0DE53EC6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76875"/>
            <a:ext cx="10782300" cy="41910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不是替代，是叠加：旧问题仍在，新问题继续往上长</a:t>
            </a:r>
          </a:p>
        </p:txBody>
      </p:sp>
      <p:cxnSp>
        <p:nvCxnSpPr>
          <p:cNvPr id="227" name="Straight Arrow Connector 88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667375" y="302418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228" name="Straight Arrow Connector 89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905750" y="302418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bee278d9d643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22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11ce868d1b44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23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3892daebc146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24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e7a8e8e74844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515EC674-98A9-4B04-BDED-A42D7DA1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Prompt Engineering 与 Context Engineering：先说清，再看对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03184A62-B99F-45C2-B5A2-14D0C221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它们解决“说什么、看什么”，却还没解决“能不能安全地行动”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AF79838D-BC20-4A43-B584-7DD3DFD3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04C2F4C9-07FE-48CD-8AD1-640BEA73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4857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Prompt Engineering</a:t>
            </a:r>
          </a:p>
          <a:p xmlns:a="http://schemas.openxmlformats.org/drawingml/2006/main">
            <a:endParaRPr sz="1425" b="0">
              <a:solidFill>
                <a:srgbClr val="1F2937"/>
              </a:solidFill>
            </a:endParaRP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说清任务、约束和格式</a:t>
            </a:r>
          </a:p>
          <a:p xmlns:a="http://schemas.openxmlformats.org/drawingml/2006/main">
            <a:endParaRPr sz="1425" b="0">
              <a:solidFill>
                <a:srgbClr val="1F2937"/>
              </a:solidFill>
            </a:endParaRP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局限：文字不能代替系统控制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33AD2A75-C3E1-403C-B7CA-BD993BF5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143125"/>
            <a:ext cx="4857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Context Engineering</a:t>
            </a:r>
          </a:p>
          <a:p xmlns:a="http://schemas.openxmlformats.org/drawingml/2006/main">
            <a:endParaRPr sz="1425" b="0">
              <a:solidFill>
                <a:srgbClr val="1F2937"/>
              </a:solidFill>
            </a:endParaRP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挑出此刻需要的事实和状态</a:t>
            </a:r>
          </a:p>
          <a:p xmlns:a="http://schemas.openxmlformats.org/drawingml/2006/main">
            <a:endParaRPr sz="1425" b="0">
              <a:solidFill>
                <a:srgbClr val="1F2937"/>
              </a:solidFill>
            </a:endParaRP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局限：材料越多，关键内容越容易被淹没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BFE4156B-B97E-452C-B03C-4C933C42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10782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56824014-65BE-4B6B-9890-EA5CC8CB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9675"/>
            <a:ext cx="10144125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说对、看对之后，下一问是：它究竟能在什么边界里行动？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2BC2CDA1-95FE-4AD9-8F88-296BE605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10144125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D0D5DD"/>
                </a:solidFill>
              </a:defRPr>
            </a:pPr>
            <a:r>
              <a:rPr sz="1400" b="0">
                <a:solidFill>
                  <a:srgbClr val="D0D5DD"/>
                </a:solidFill>
              </a:rPr>
              <a:t>这正是</a:t>
            </a:r>
            <a:r>
              <a:rPr sz="1400" b="0">
                <a:solidFill>
                  <a:srgbClr val="D0D5DD"/>
                </a:solidFill>
              </a:rPr>
              <a:t> Harness Engineering </a:t>
            </a:r>
            <a:r>
              <a:rPr sz="1400" b="0">
                <a:solidFill>
                  <a:srgbClr val="D0D5DD"/>
                </a:solidFill>
              </a:rPr>
              <a:t>出场的原因</a:t>
            </a:r>
            <a:endParaRPr sz="1400" b="0">
              <a:solidFill>
                <a:srgbClr val="D0D5D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5ebaf8c2df49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22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49fa340dd847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23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af97d8117346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24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4fdf3d59e142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52A5A23-641A-49E3-8354-8CEAA4A4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Harness Engineering：为每一次行动设下可靠边界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99020DAA-B098-44AD-904F-CB119310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它回答的不是模型会不会想，而是它此刻能做什么、谁来检查、如何留下记录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46F6231-D683-4262-966E-29280E15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0647CF74-EF65-49BA-AFEF-2F0E7E73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71700"/>
            <a:ext cx="9144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Agent = Model + Harness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8978D20-623F-4E2D-84C6-2D0C7A94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876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权限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E5148654-B48B-4CB3-B7F0-F015772F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33750"/>
            <a:ext cx="876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沙箱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AB8909F3-4C75-41E0-86BA-93F6D2CE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876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工具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CC5BF741-B9E2-4CEF-AD6B-D6B128D1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876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验证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BD5B70C7-149B-4810-9730-137BD1FD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33750"/>
            <a:ext cx="1123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执行记录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ADC10DCC-A51D-4BF0-8645-D2EC8181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33750"/>
            <a:ext cx="876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CI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1D74D192-638A-4D1E-AD0E-C4010261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9906000" cy="476250"/>
          </a:xfrm>
          <a:prstGeom xmlns:a="http://schemas.openxmlformats.org/drawingml/2006/main" prst="roundRect">
            <a:avLst>
              <a:gd name="adj" fmla="val 16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F2937"/>
                </a:solidFill>
              </a:defRPr>
            </a:pPr>
            <a:r>
              <a:rPr sz="1950" b="1">
                <a:solidFill>
                  <a:srgbClr val="1F2937"/>
                </a:solidFill>
              </a:rPr>
              <a:t>权限、沙箱、工具、验证、执行记录、CI：模型之外让行动可交付的一切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A1D394D1-C03C-4A2C-943A-A2B1681A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24375"/>
            <a:ext cx="8763000" cy="428625"/>
          </a:xfrm>
          <a:prstGeom xmlns:a="http://schemas.openxmlformats.org/drawingml/2006/main" prst="roundRect">
            <a:avLst>
              <a:gd name="adj" fmla="val 1777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一次动作可靠后，问题才变成：怎样把反馈连成 Loop、把任务组织成 Graph？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75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691cddcb114f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476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8dbc8c4db145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477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c08aa8f90443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478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d2fce78f844a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22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26AE55A-6E7B-44AE-B491-6CCE11EF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Loop Engineering 与 Graph Engineering：让可靠行动持续发生</a:t>
            </a:r>
          </a:p>
        </p:txBody>
      </p:sp>
      <p:sp>
        <p:nvSpPr>
          <p:cNvPr id="230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EA431B4-1651-4618-B6FF-2980D9E9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2464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26A78"/>
                </a:solidFill>
                <a:latin typeface="Arial"/>
                <a:ea typeface="Arial"/>
                <a:cs typeface="Arial"/>
              </a:rPr>
              <a:t>Loop 解决“怎样知错再改”；Graph 解决“谁先做、谁并行、何时汇合”</a:t>
            </a:r>
          </a:p>
        </p:txBody>
      </p:sp>
      <p:sp>
        <p:nvSpPr>
          <p:cNvPr id="231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CA13F1A5-1823-433E-81E9-1A7BB6BE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2" name="loop-heading">
            <a:extLst xmlns:a="http://schemas.openxmlformats.org/drawingml/2006/main">
              <a:ext uri="{FF2B5EF4-FFF2-40B4-BE49-F238E27FC236}">
                <a16:creationId xmlns:a16="http://schemas.microsoft.com/office/drawing/2014/main" id="{44EEF591-D66F-49B6-915F-BA532876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LOOP ENGINEERING：检验失败，就把反馈带回下一轮</a:t>
            </a:r>
          </a:p>
        </p:txBody>
      </p:sp>
      <p:sp>
        <p:nvSpPr>
          <p:cNvPr id="233" name="graph-heading">
            <a:extLst xmlns:a="http://schemas.openxmlformats.org/drawingml/2006/main">
              <a:ext uri="{FF2B5EF4-FFF2-40B4-BE49-F238E27FC236}">
                <a16:creationId xmlns:a16="http://schemas.microsoft.com/office/drawing/2014/main" id="{258B3783-0DD5-44CC-9446-CDE353CE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431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GRAPH ENGINEERING：把复杂任务写成显式依赖</a:t>
            </a:r>
          </a:p>
        </p:txBody>
      </p:sp>
      <p:sp>
        <p:nvSpPr>
          <p:cNvPr id="234" name="graph-example">
            <a:extLst xmlns:a="http://schemas.openxmlformats.org/drawingml/2006/main">
              <a:ext uri="{FF2B5EF4-FFF2-40B4-BE49-F238E27FC236}">
                <a16:creationId xmlns:a16="http://schemas.microsoft.com/office/drawing/2014/main" id="{CF4626DC-CEF6-49AA-947E-D2FB5A7D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7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606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26A78"/>
                </a:solidFill>
                <a:latin typeface="Arial"/>
                <a:ea typeface="Arial"/>
                <a:cs typeface="Arial"/>
              </a:rPr>
              <a:t>例：修复登录故障</a:t>
            </a:r>
          </a:p>
        </p:txBody>
      </p:sp>
      <p:sp>
        <p:nvSpPr>
          <p:cNvPr id="235" name="loop-execute">
            <a:extLst xmlns:a="http://schemas.openxmlformats.org/drawingml/2006/main">
              <a:ext uri="{FF2B5EF4-FFF2-40B4-BE49-F238E27FC236}">
                <a16:creationId xmlns:a16="http://schemas.microsoft.com/office/drawing/2014/main" id="{A13B57F0-FAA1-482A-A809-C56D4C4C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90875"/>
            <a:ext cx="1190625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执行</a:t>
            </a:r>
          </a:p>
        </p:txBody>
      </p:sp>
      <p:sp>
        <p:nvSpPr>
          <p:cNvPr id="236" name="loop-verify">
            <a:extLst xmlns:a="http://schemas.openxmlformats.org/drawingml/2006/main">
              <a:ext uri="{FF2B5EF4-FFF2-40B4-BE49-F238E27FC236}">
                <a16:creationId xmlns:a16="http://schemas.microsoft.com/office/drawing/2014/main" id="{93ABF9DB-57C6-4D30-ABCA-E90D479E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190875"/>
            <a:ext cx="1190625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检验</a:t>
            </a:r>
          </a:p>
        </p:txBody>
      </p:sp>
      <p:sp>
        <p:nvSpPr>
          <p:cNvPr id="237" name="loop-decision">
            <a:extLst xmlns:a="http://schemas.openxmlformats.org/drawingml/2006/main">
              <a:ext uri="{FF2B5EF4-FFF2-40B4-BE49-F238E27FC236}">
                <a16:creationId xmlns:a16="http://schemas.microsoft.com/office/drawing/2014/main" id="{62F73BA2-F304-404D-AFB3-06B2D53D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05150"/>
            <a:ext cx="876300" cy="7239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1423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5902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通过？</a:t>
            </a:r>
          </a:p>
        </p:txBody>
      </p:sp>
      <p:sp>
        <p:nvSpPr>
          <p:cNvPr id="238" name="loop-done">
            <a:extLst xmlns:a="http://schemas.openxmlformats.org/drawingml/2006/main">
              <a:ext uri="{FF2B5EF4-FFF2-40B4-BE49-F238E27FC236}">
                <a16:creationId xmlns:a16="http://schemas.microsoft.com/office/drawing/2014/main" id="{1F57E71C-2C64-4D06-8CE4-373AA254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79703"/>
            <a:ext cx="8763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9525">
            <a:solidFill>
              <a:srgbClr val="0F1423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完成</a:t>
            </a:r>
            <a:endParaRPr sz="1425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89" name="Straight Arrow Connector 272"/>
          <p:cNvCxnSpPr>
            <a:stCxn xmlns:a="http://schemas.openxmlformats.org/drawingml/2006/main" id="235" idx="3"/>
            <a:endCxn xmlns:a="http://schemas.openxmlformats.org/drawingml/2006/main" id="236" idx="1"/>
          </p:cNvCxnSpPr>
          <p:nvPr/>
        </p:nvCxnSpPr>
        <p:spPr>
          <a:xfrm xmlns:a="http://schemas.openxmlformats.org/drawingml/2006/main">
            <a:off x="2095500" y="34671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490" name="Straight Arrow Connector 273"/>
          <p:cNvCxnSpPr>
            <a:stCxn xmlns:a="http://schemas.openxmlformats.org/drawingml/2006/main" id="236" idx="3"/>
            <a:endCxn xmlns:a="http://schemas.openxmlformats.org/drawingml/2006/main" id="237" idx="1"/>
          </p:cNvCxnSpPr>
          <p:nvPr/>
        </p:nvCxnSpPr>
        <p:spPr>
          <a:xfrm xmlns:a="http://schemas.openxmlformats.org/drawingml/2006/main">
            <a:off x="3810000" y="346710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491" name="Straight Arrow Connector 274"/>
          <p:cNvCxnSpPr>
            <a:stCxn xmlns:a="http://schemas.openxmlformats.org/drawingml/2006/main" id="237" idx="3"/>
            <a:endCxn xmlns:a="http://schemas.openxmlformats.org/drawingml/2006/main" id="238" idx="0"/>
          </p:cNvCxnSpPr>
          <p:nvPr/>
        </p:nvCxnSpPr>
        <p:spPr>
          <a:xfrm xmlns:a="http://schemas.openxmlformats.org/drawingml/2006/main">
            <a:off x="5276850" y="3467100"/>
            <a:ext cx="0" cy="71260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492" name="Elbow Connector 275"/>
          <p:cNvCxnSpPr>
            <a:stCxn xmlns:a="http://schemas.openxmlformats.org/drawingml/2006/main" id="237" idx="2"/>
            <a:endCxn xmlns:a="http://schemas.openxmlformats.org/drawingml/2006/main" id="235" idx="2"/>
          </p:cNvCxnSpPr>
          <p:nvPr/>
        </p:nvCxnSpPr>
        <p:spPr>
          <a:xfrm xmlns:a="http://schemas.openxmlformats.org/drawingml/2006/main" rot="5400000" flipH="1">
            <a:off x="3126581" y="2116932"/>
            <a:ext cx="85725" cy="3338512"/>
          </a:xfrm>
          <a:prstGeom xmlns:a="http://schemas.openxmlformats.org/drawingml/2006/main" prst="bentConnector3">
            <a:avLst>
              <a:gd name="adj1" fmla="val -266667"/>
            </a:avLst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  <p:sp>
        <p:nvSpPr>
          <p:cNvPr id="243" name="loop-yes">
            <a:extLst xmlns:a="http://schemas.openxmlformats.org/drawingml/2006/main">
              <a:ext uri="{FF2B5EF4-FFF2-40B4-BE49-F238E27FC236}">
                <a16:creationId xmlns:a16="http://schemas.microsoft.com/office/drawing/2014/main" id="{255DA673-F0C3-423D-AEC6-1E1AB830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76650"/>
            <a:ext cx="342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712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26A78"/>
                </a:solidFill>
                <a:latin typeface="Arial"/>
                <a:ea typeface="Arial"/>
                <a:cs typeface="Arial"/>
              </a:rPr>
              <a:t>是</a:t>
            </a:r>
            <a:endParaRPr sz="1125" b="1">
              <a:solidFill>
                <a:srgbClr val="626A7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4" name="loop-no">
            <a:extLst xmlns:a="http://schemas.openxmlformats.org/drawingml/2006/main">
              <a:ext uri="{FF2B5EF4-FFF2-40B4-BE49-F238E27FC236}">
                <a16:creationId xmlns:a16="http://schemas.microsoft.com/office/drawing/2014/main" id="{65030EF4-7B8D-46B6-894D-382540EA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0481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6818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否：反馈下一轮</a:t>
            </a:r>
          </a:p>
        </p:txBody>
      </p:sp>
      <p:sp>
        <p:nvSpPr>
          <p:cNvPr id="245" name="dag-incident">
            <a:extLst xmlns:a="http://schemas.openxmlformats.org/drawingml/2006/main">
              <a:ext uri="{FF2B5EF4-FFF2-40B4-BE49-F238E27FC236}">
                <a16:creationId xmlns:a16="http://schemas.microsoft.com/office/drawing/2014/main" id="{7DB82A42-B812-4016-A876-DA2FC10B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209925"/>
            <a:ext cx="8382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9525">
            <a:solidFill>
              <a:srgbClr val="0F1423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119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收到故障</a:t>
            </a:r>
          </a:p>
        </p:txBody>
      </p:sp>
      <p:sp>
        <p:nvSpPr>
          <p:cNvPr id="246" name="dag-reproduce">
            <a:extLst xmlns:a="http://schemas.openxmlformats.org/drawingml/2006/main">
              <a:ext uri="{FF2B5EF4-FFF2-40B4-BE49-F238E27FC236}">
                <a16:creationId xmlns:a16="http://schemas.microsoft.com/office/drawing/2014/main" id="{98A320FF-63DF-4FF4-9D2A-47A3C591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09925"/>
            <a:ext cx="8953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744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复现问题</a:t>
            </a:r>
          </a:p>
        </p:txBody>
      </p:sp>
      <p:sp>
        <p:nvSpPr>
          <p:cNvPr id="247" name="dag-fix">
            <a:extLst xmlns:a="http://schemas.openxmlformats.org/drawingml/2006/main">
              <a:ext uri="{FF2B5EF4-FFF2-40B4-BE49-F238E27FC236}">
                <a16:creationId xmlns:a16="http://schemas.microsoft.com/office/drawing/2014/main" id="{71F88942-F721-4388-81C9-FC60EA93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81300"/>
            <a:ext cx="952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070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定位并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修复</a:t>
            </a:r>
          </a:p>
        </p:txBody>
      </p:sp>
      <p:sp>
        <p:nvSpPr>
          <p:cNvPr id="248" name="dag-regression">
            <a:extLst xmlns:a="http://schemas.openxmlformats.org/drawingml/2006/main">
              <a:ext uri="{FF2B5EF4-FFF2-40B4-BE49-F238E27FC236}">
                <a16:creationId xmlns:a16="http://schemas.microsoft.com/office/drawing/2014/main" id="{7CBA32D4-D128-4F8B-BE60-3C90B8B2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10000"/>
            <a:ext cx="952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070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补回归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测试</a:t>
            </a:r>
          </a:p>
        </p:txBody>
      </p:sp>
      <p:sp>
        <p:nvSpPr>
          <p:cNvPr id="249" name="dag-integration">
            <a:extLst xmlns:a="http://schemas.openxmlformats.org/drawingml/2006/main">
              <a:ext uri="{FF2B5EF4-FFF2-40B4-BE49-F238E27FC236}">
                <a16:creationId xmlns:a16="http://schemas.microsoft.com/office/drawing/2014/main" id="{A9783E7A-A552-4A2E-B611-F0730641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81350"/>
            <a:ext cx="952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070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集成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验证</a:t>
            </a:r>
          </a:p>
        </p:txBody>
      </p:sp>
      <p:sp>
        <p:nvSpPr>
          <p:cNvPr id="250" name="dag-deliver">
            <a:extLst xmlns:a="http://schemas.openxmlformats.org/drawingml/2006/main">
              <a:ext uri="{FF2B5EF4-FFF2-40B4-BE49-F238E27FC236}">
                <a16:creationId xmlns:a16="http://schemas.microsoft.com/office/drawing/2014/main" id="{D43C52A6-1379-4500-B1FC-F662CED5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09925"/>
            <a:ext cx="6858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9525">
            <a:solidFill>
              <a:srgbClr val="0F1423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交付</a:t>
            </a:r>
          </a:p>
        </p:txBody>
      </p:sp>
      <p:cxnSp>
        <p:nvCxnSpPr>
          <p:cNvPr id="501" name="Straight Arrow Connector 284"/>
          <p:cNvCxnSpPr>
            <a:stCxn xmlns:a="http://schemas.openxmlformats.org/drawingml/2006/main" id="245" idx="3"/>
            <a:endCxn xmlns:a="http://schemas.openxmlformats.org/drawingml/2006/main" id="246" idx="1"/>
          </p:cNvCxnSpPr>
          <p:nvPr/>
        </p:nvCxnSpPr>
        <p:spPr>
          <a:xfrm xmlns:a="http://schemas.openxmlformats.org/drawingml/2006/main">
            <a:off x="7362825" y="34575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502" name="Elbow Connector 285"/>
          <p:cNvCxnSpPr>
            <a:stCxn xmlns:a="http://schemas.openxmlformats.org/drawingml/2006/main" id="246" idx="3"/>
            <a:endCxn xmlns:a="http://schemas.openxmlformats.org/drawingml/2006/main" id="247" idx="1"/>
          </p:cNvCxnSpPr>
          <p:nvPr/>
        </p:nvCxnSpPr>
        <p:spPr>
          <a:xfrm xmlns:a="http://schemas.openxmlformats.org/drawingml/2006/main" flipV="1">
            <a:off x="8467725" y="3057525"/>
            <a:ext cx="295275" cy="400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503" name="Elbow Connector 286"/>
          <p:cNvCxnSpPr>
            <a:stCxn xmlns:a="http://schemas.openxmlformats.org/drawingml/2006/main" id="246" idx="3"/>
            <a:endCxn xmlns:a="http://schemas.openxmlformats.org/drawingml/2006/main" id="248" idx="1"/>
          </p:cNvCxnSpPr>
          <p:nvPr/>
        </p:nvCxnSpPr>
        <p:spPr>
          <a:xfrm xmlns:a="http://schemas.openxmlformats.org/drawingml/2006/main">
            <a:off x="8467725" y="3457575"/>
            <a:ext cx="295275" cy="628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504" name="Elbow Connector 287"/>
          <p:cNvCxnSpPr>
            <a:stCxn xmlns:a="http://schemas.openxmlformats.org/drawingml/2006/main" id="247" idx="3"/>
            <a:endCxn xmlns:a="http://schemas.openxmlformats.org/drawingml/2006/main" id="249" idx="1"/>
          </p:cNvCxnSpPr>
          <p:nvPr/>
        </p:nvCxnSpPr>
        <p:spPr>
          <a:xfrm xmlns:a="http://schemas.openxmlformats.org/drawingml/2006/main">
            <a:off x="9715500" y="3057525"/>
            <a:ext cx="285750" cy="400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505" name="Elbow Connector 288"/>
          <p:cNvCxnSpPr>
            <a:stCxn xmlns:a="http://schemas.openxmlformats.org/drawingml/2006/main" id="248" idx="3"/>
            <a:endCxn xmlns:a="http://schemas.openxmlformats.org/drawingml/2006/main" id="249" idx="1"/>
          </p:cNvCxnSpPr>
          <p:nvPr/>
        </p:nvCxnSpPr>
        <p:spPr>
          <a:xfrm xmlns:a="http://schemas.openxmlformats.org/drawingml/2006/main" flipV="1">
            <a:off x="9715500" y="3457575"/>
            <a:ext cx="285750" cy="628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506" name="Straight Arrow Connector 289"/>
          <p:cNvCxnSpPr>
            <a:stCxn xmlns:a="http://schemas.openxmlformats.org/drawingml/2006/main" id="249" idx="3"/>
            <a:endCxn xmlns:a="http://schemas.openxmlformats.org/drawingml/2006/main" id="250" idx="1"/>
          </p:cNvCxnSpPr>
          <p:nvPr/>
        </p:nvCxnSpPr>
        <p:spPr>
          <a:xfrm xmlns:a="http://schemas.openxmlformats.org/drawingml/2006/main">
            <a:off x="10953750" y="34575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  <p:sp>
        <p:nvSpPr>
          <p:cNvPr id="257" name="dag-note">
            <a:extLst xmlns:a="http://schemas.openxmlformats.org/drawingml/2006/main">
              <a:ext uri="{FF2B5EF4-FFF2-40B4-BE49-F238E27FC236}">
                <a16:creationId xmlns:a16="http://schemas.microsoft.com/office/drawing/2014/main" id="{E73A05B7-FA95-4B34-84A9-0D94AE1C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148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575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26A78"/>
                </a:solidFill>
                <a:latin typeface="Arial"/>
                <a:ea typeface="Arial"/>
                <a:cs typeface="Arial"/>
              </a:rPr>
              <a:t>节点可以是 agent、工具或验证器；节点内部仍可以运行自己的 Loop</a:t>
            </a:r>
          </a:p>
        </p:txBody>
      </p:sp>
      <p:sp>
        <p:nvSpPr>
          <p:cNvPr id="258" name="slide7-callout">
            <a:extLst xmlns:a="http://schemas.openxmlformats.org/drawingml/2006/main">
              <a:ext uri="{FF2B5EF4-FFF2-40B4-BE49-F238E27FC236}">
                <a16:creationId xmlns:a16="http://schemas.microsoft.com/office/drawing/2014/main" id="{042B83D6-B370-4C45-A346-59F4A4AF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91125"/>
            <a:ext cx="107823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先有可靠的单次行动，Loop 才不会放大失败，Graph 才不会组织混乱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0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477bf72a5740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211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f9a72cb6aa41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212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97e7ac637343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213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6da35b915740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C71A8AB4-7145-4BB1-AA60-D23C8A96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五个 Engineering 同时活着，但各自回答不同的问题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3A4A406-F3A4-42DD-A63D-01C81836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这不是一座金字塔，而是一张“每个问题为何需要下一步”的关系图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DC26CD05-7437-4077-BE0A-91A2643F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single-call-label">
            <a:extLst xmlns:a="http://schemas.openxmlformats.org/drawingml/2006/main">
              <a:ext uri="{FF2B5EF4-FFF2-40B4-BE49-F238E27FC236}">
                <a16:creationId xmlns:a16="http://schemas.microsoft.com/office/drawing/2014/main" id="{7794A7AB-1866-46C9-AA93-48337288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26A78"/>
                </a:solidFill>
                <a:latin typeface="Arial"/>
                <a:ea typeface="Arial"/>
                <a:cs typeface="Arial"/>
              </a:rPr>
              <a:t>一次模型调用：先说清任务，再挑选材料</a:t>
            </a:r>
          </a:p>
        </p:txBody>
      </p:sp>
      <p:sp>
        <p:nvSpPr>
          <p:cNvPr id="23" name="layer-prompt">
            <a:extLst xmlns:a="http://schemas.openxmlformats.org/drawingml/2006/main">
              <a:ext uri="{FF2B5EF4-FFF2-40B4-BE49-F238E27FC236}">
                <a16:creationId xmlns:a16="http://schemas.microsoft.com/office/drawing/2014/main" id="{22269F1C-0652-43C1-A9AF-7EB30147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19375"/>
            <a:ext cx="209550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695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Prompt Engineering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说清任务</a:t>
            </a:r>
          </a:p>
        </p:txBody>
      </p:sp>
      <p:sp>
        <p:nvSpPr>
          <p:cNvPr id="24" name="layer-context">
            <a:extLst xmlns:a="http://schemas.openxmlformats.org/drawingml/2006/main">
              <a:ext uri="{FF2B5EF4-FFF2-40B4-BE49-F238E27FC236}">
                <a16:creationId xmlns:a16="http://schemas.microsoft.com/office/drawing/2014/main" id="{AD660BE0-AC9E-43D1-8236-8AA91BB6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19375"/>
            <a:ext cx="209550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55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Context Engineering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挑选材料</a:t>
            </a:r>
          </a:p>
        </p:txBody>
      </p:sp>
      <p:sp>
        <p:nvSpPr>
          <p:cNvPr id="25" name="layer-harness">
            <a:extLst xmlns:a="http://schemas.openxmlformats.org/drawingml/2006/main">
              <a:ext uri="{FF2B5EF4-FFF2-40B4-BE49-F238E27FC236}">
                <a16:creationId xmlns:a16="http://schemas.microsoft.com/office/drawing/2014/main" id="{89DD92E2-0B7D-407E-BE90-90C36A3D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57450"/>
            <a:ext cx="4238625" cy="9715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Harness Engineering：形成可靠行动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授权 · 执行 · 验证 · 记录</a:t>
            </a:r>
          </a:p>
        </p:txBody>
      </p:sp>
      <p:sp>
        <p:nvSpPr>
          <p:cNvPr id="28" name="layer-loop">
            <a:extLst xmlns:a="http://schemas.openxmlformats.org/drawingml/2006/main">
              <a:ext uri="{FF2B5EF4-FFF2-40B4-BE49-F238E27FC236}">
                <a16:creationId xmlns:a16="http://schemas.microsoft.com/office/drawing/2014/main" id="{CBA54A39-9F89-45A4-A513-9E88DC8D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05250"/>
            <a:ext cx="4762500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Loop Engineering：反复同一行动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检验失败，就把反馈带回下一轮</a:t>
            </a:r>
          </a:p>
        </p:txBody>
      </p:sp>
      <p:sp>
        <p:nvSpPr>
          <p:cNvPr id="29" name="layer-graph">
            <a:extLst xmlns:a="http://schemas.openxmlformats.org/drawingml/2006/main">
              <a:ext uri="{FF2B5EF4-FFF2-40B4-BE49-F238E27FC236}">
                <a16:creationId xmlns:a16="http://schemas.microsoft.com/office/drawing/2014/main" id="{8D8C82E4-B267-4899-B637-A5828BB9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905250"/>
            <a:ext cx="4762500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Graph Engineering：编排多个行动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分工、分叉、汇合；部分节点可以运行 Loop</a:t>
            </a:r>
          </a:p>
        </p:txBody>
      </p:sp>
      <p:cxnSp>
        <p:nvCxnSpPr>
          <p:cNvPr id="223" name="Elbow Connector 90"/>
          <p:cNvCxnSpPr>
            <a:stCxn xmlns:a="http://schemas.openxmlformats.org/drawingml/2006/main" id="25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 flipH="1">
            <a:off x="3286125" y="3429000"/>
            <a:ext cx="5834063" cy="476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8BEC8"/>
            </a:solidFill>
            <a:prstDash val="solid"/>
            <a:tailEnd type="triangle" w="sm" len="sm"/>
          </a:ln>
        </p:spPr>
      </p:cxnSp>
      <p:cxnSp>
        <p:nvCxnSpPr>
          <p:cNvPr id="224" name="Elbow Connector 91"/>
          <p:cNvCxnSpPr>
            <a:stCxn xmlns:a="http://schemas.openxmlformats.org/drawingml/2006/main" id="25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 flipH="1">
            <a:off x="8905875" y="3429000"/>
            <a:ext cx="214313" cy="476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8BEC8"/>
            </a:solidFill>
            <a:prstDash val="solid"/>
            <a:tailEnd type="triangle" w="sm" len="sm"/>
          </a:ln>
        </p:spPr>
      </p:cxnSp>
      <p:sp>
        <p:nvSpPr>
          <p:cNvPr id="32" name="layer-takeaway">
            <a:extLst xmlns:a="http://schemas.openxmlformats.org/drawingml/2006/main">
              <a:ext uri="{FF2B5EF4-FFF2-40B4-BE49-F238E27FC236}">
                <a16:creationId xmlns:a16="http://schemas.microsoft.com/office/drawing/2014/main" id="{D451FDDF-3BA7-41DE-A2F6-5E405AE0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0"/>
            <a:ext cx="107823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无论上面怎样组织，每一次真实动作都要经过 Harness 的执行边界</a:t>
            </a:r>
          </a:p>
        </p:txBody>
      </p:sp>
      <p:cxnSp>
        <p:nvCxnSpPr>
          <p:cNvPr id="226" name="Straight Arrow Connector 93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3000375" y="2943225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227" name="Straight Arrow Connector 94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5810250" y="2943225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3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1ad853313746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184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9fa8bf08ae4e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185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5e48460ded47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186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e801a127d547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5EDF3F5F-E020-45F0-BD6B-674D10F4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最值得看懂的不是最高层，而是真实动作穿过的边界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0273F9C5-D8C1-4F55-86A7-58B94230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五层关系图推出来的结论：所有上层组织能力，都要落到一次可靠执行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0210E86E-21D9-45F3-A6B1-E0BBFBB2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49ADDD8E-8C00-4FB5-9A91-E2E7611E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14625"/>
            <a:ext cx="204787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模型提出动作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F8CFC8C3-36B2-4DDC-9FDC-88C83275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714625"/>
            <a:ext cx="204787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Harness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授权 · 执行 · 验证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4DF464BF-FCA6-44B7-91CB-5389F192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14625"/>
            <a:ext cx="204787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结果进入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Loop / Graph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AEB970E0-1215-4656-8D5B-A4E013D5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57625"/>
            <a:ext cx="9429750" cy="5334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F2937"/>
                </a:solidFill>
              </a:defRPr>
            </a:pPr>
            <a:r>
              <a:rPr sz="1950" b="1">
                <a:solidFill>
                  <a:srgbClr val="1F2937"/>
                </a:solidFill>
              </a:rPr>
              <a:t>每一个 Loop、每一个 Graph 节点，最后都要经过能独立授权、检查、记录的执行边界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6CB7CACE-EE82-4711-87D1-B025CB89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0125"/>
            <a:ext cx="10782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5C1F3C32-BE8F-479D-8F87-DD42D60A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24425"/>
            <a:ext cx="10144125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可靠性不是模型单独拥有的属性，而是 Model + Harness 的属性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98A00F15-EF6C-4B43-8D5F-26BC05F4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95900"/>
            <a:ext cx="10144125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D0D5DD"/>
                </a:solidFill>
              </a:defRPr>
            </a:pPr>
            <a:r>
              <a:rPr sz="1400" b="0">
                <a:solidFill>
                  <a:srgbClr val="D0D5DD"/>
                </a:solidFill>
              </a:rPr>
              <a:t>这就是</a:t>
            </a:r>
            <a:r>
              <a:rPr sz="1400" b="0">
                <a:solidFill>
                  <a:srgbClr val="D0D5DD"/>
                </a:solidFill>
              </a:rPr>
              <a:t> Harness </a:t>
            </a:r>
            <a:r>
              <a:rPr sz="1400" b="0">
                <a:solidFill>
                  <a:srgbClr val="D0D5DD"/>
                </a:solidFill>
              </a:rPr>
              <a:t>对</a:t>
            </a:r>
            <a:r>
              <a:rPr sz="1400" b="0">
                <a:solidFill>
                  <a:srgbClr val="D0D5DD"/>
                </a:solidFill>
              </a:rPr>
              <a:t> OPC </a:t>
            </a:r>
            <a:r>
              <a:rPr sz="1400" b="0">
                <a:solidFill>
                  <a:srgbClr val="D0D5DD"/>
                </a:solidFill>
              </a:rPr>
              <a:t>的临界意义</a:t>
            </a:r>
            <a:endParaRPr sz="1400" b="0">
              <a:solidFill>
                <a:srgbClr val="D0D5DD"/>
              </a:solidFill>
            </a:endParaRPr>
          </a:p>
        </p:txBody>
      </p:sp>
      <p:cxnSp>
        <p:nvCxnSpPr>
          <p:cNvPr id="197" name="Straight Arrow Connector 76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429000" y="3009900"/>
            <a:ext cx="1638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198" name="Straight Arrow Connector 77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115175" y="3009900"/>
            <a:ext cx="1647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c8f146e3f743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24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a4a7a60e4148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25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b4a5b3684d46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26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84c0fda1e345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E00CFA7-38C2-4288-A122-4FA5F522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Agent 从来不是裸模型：它一行动，Harness 就已经在场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F1315C7A-C5FB-44AB-98E8-C3FB49EB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模型给能力；Harness 把这份能力变成一次可以交付的行动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3AF97D62-79C9-41B0-9842-59F43033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44B58052-D8A2-4D25-AA2D-81FF8BE3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90750"/>
            <a:ext cx="685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能力：Model   +   可靠性：Harness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0B8FA771-79B2-4DC0-8EF9-C4EB24FA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1428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权限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01858724-E5F9-498E-A477-F18702A7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429000"/>
            <a:ext cx="1428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沙箱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C7BDA0FA-068F-4719-8E86-725D8071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29000"/>
            <a:ext cx="1428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工具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538F4AB2-B9AE-46B5-BCB6-CBA73EB2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29000"/>
            <a:ext cx="1428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验证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C588D7B5-CAC9-43C1-8640-45136280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29000"/>
            <a:ext cx="1428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142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B42318"/>
                </a:solidFill>
              </a:defRPr>
            </a:pPr>
            <a:r>
              <a:rPr sz="1950" b="1">
                <a:solidFill>
                  <a:srgbClr val="0F1423"/>
                </a:solidFill>
              </a:rPr>
              <a:t>执行记录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C27694D4-DC91-431A-84CA-FB3D489D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29000"/>
            <a:ext cx="1428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持续检查（CI）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8268DCC4-1DC1-4E42-B179-8D18E54F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38625"/>
            <a:ext cx="9144000" cy="333375"/>
          </a:xfrm>
          <a:prstGeom xmlns:a="http://schemas.openxmlformats.org/drawingml/2006/main" prst="roundRect">
            <a:avLst>
              <a:gd name="adj" fmla="val 2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买到的是模型能力；能否稳定交付，取决于围绕它的一圈运行边界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A325894E-82FC-40EC-A329-8BAAA850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10782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FEFE0264-57D1-414D-9200-9F66D742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9675"/>
            <a:ext cx="10144125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最小的 agent 也不只是 prompt：它至少有工具，并要面对真实执行结果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CF5DFFB1-44A5-4BC3-8888-2AD6B329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10144125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D0D5DD"/>
                </a:solidFill>
              </a:defRPr>
            </a:pPr>
            <a:r>
              <a:rPr sz="1400" b="0">
                <a:solidFill>
                  <a:srgbClr val="D0D5DD"/>
                </a:solidFill>
              </a:rPr>
              <a:t>这就是</a:t>
            </a:r>
            <a:r>
              <a:rPr sz="1400" b="0">
                <a:solidFill>
                  <a:srgbClr val="D0D5DD"/>
                </a:solidFill>
              </a:rPr>
              <a:t> Harness Engineering </a:t>
            </a:r>
            <a:r>
              <a:rPr sz="1400" b="0">
                <a:solidFill>
                  <a:srgbClr val="D0D5DD"/>
                </a:solidFill>
              </a:rPr>
              <a:t>的起点</a:t>
            </a:r>
            <a:endParaRPr sz="1400" b="0">
              <a:solidFill>
                <a:srgbClr val="D0D5D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6e3054847f4a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18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cbada7dc4b44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19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cba4c9ffca49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20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dd3199198140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5E86FF0F-0669-43AF-9401-5256598E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可靠性发生在两次：行动前约束，行动后反馈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C5E6071-1C87-4646-95DF-5BE85B2C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能写成规则和测试的，就不要让模型猜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067DDF78-56EC-491B-94A6-52FD7B2B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9991801D-7A72-4956-B944-4C9B0A8D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43125"/>
            <a:ext cx="4857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事前引导（Guides）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行动前：允许哪些工具、必须通过什么检查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FD81526F-45F8-4989-AA17-D9A95102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43125"/>
            <a:ext cx="4857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事后反馈（Sensors）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行动后：测试失败、用户拒绝、退出码非零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275F73B-DBD8-4169-A501-6476243F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4857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确定性检查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测试 / lint / 类型：可复现、可审计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4D311603-F728-4512-9A8B-E1D07A74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905250"/>
            <a:ext cx="4857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语义判断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AI review / 人工判断：必要，但可能出错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F43F7831-1A53-4B08-8D4B-47A08624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86375"/>
            <a:ext cx="10782300" cy="41910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确定的事交给系统；需要理解语义时，才交给模型或人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aa1790844244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17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34bc82c4a243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18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8a65cb8a4d43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19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6e8989034b40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758AF05-EE6F-41F4-BF48-73F6C3D9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Harness 先保证可靠，再承载专业知识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DACEEFA-C6DF-438A-B201-9A2F5B8D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圈住伤害、拦住错误、看清过程；Knowledge Map 帮模型找到正确路径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26B4EFB-6E68-4CE3-95D2-E4D78A0D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DED25187-3A3E-44EE-A191-F77742DB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2524125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23813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圈住</a:t>
            </a:r>
          </a:p>
          <a:p xmlns:a="http://schemas.openxmlformats.org/drawingml/2006/main">
            <a:endParaRPr sz="1575" b="1">
              <a:solidFill>
                <a:srgbClr val="111827"/>
              </a:solidFill>
            </a:endParaRP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沙箱 + 权限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限制能碰的范围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9B8EDC39-FEBA-4E87-B941-8A422956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286000"/>
            <a:ext cx="2524125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23813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拦住</a:t>
            </a:r>
          </a:p>
          <a:p xmlns:a="http://schemas.openxmlformats.org/drawingml/2006/main">
            <a:endParaRPr sz="1575" b="1">
              <a:solidFill>
                <a:srgbClr val="111827"/>
              </a:solidFill>
            </a:endParaRP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验证门禁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错误一出现就停止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1068C5B-0617-472A-B8D9-4D505C27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86000"/>
            <a:ext cx="2524125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23813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看清</a:t>
            </a:r>
          </a:p>
          <a:p xmlns:a="http://schemas.openxmlformats.org/drawingml/2006/main">
            <a:endParaRPr sz="1575" b="1">
              <a:solidFill>
                <a:srgbClr val="111827"/>
              </a:solidFill>
            </a:endParaRP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Trace + 来源记录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还原每一步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552DF948-9D0E-496B-BCCF-10722BC3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286000"/>
            <a:ext cx="2524125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23813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专业知识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111827"/>
                </a:solidFill>
              </a:defRPr>
            </a:pPr>
            <a:r>
              <a:t/>
            </a:r>
            <a:endParaRPr sz="1800" b="1">
              <a:solidFill>
                <a:srgbClr val="111827"/>
              </a:solidFill>
            </a:endParaRPr>
          </a:p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Knowledge Map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找到归属与正确路径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b27820b43443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20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51e38cac894f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21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dd4919aad04d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2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f5c71a600c4e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1249455-5706-40D3-AF3E-82EAB887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Loop 与 Graph 开始之前，先过确定性门禁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42F91A5-3305-408D-876D-C6D49489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上层负责反复与编排；Harness 在每次执行前独立授权、验证与记录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3018FF49-DD72-47C3-B309-9C253C63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673610BA-D279-440B-A046-5B1419F4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2762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Loop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跨运行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放大反馈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FE622211-9719-4DFB-8306-211A693D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667000"/>
            <a:ext cx="2762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Graph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跨节点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显式路由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009B642-7F07-49BA-AA87-82DFCE86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67000"/>
            <a:ext cx="2762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Harness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执行前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授权 · 检查 · 记录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681C5E9-D8CF-4787-B2FE-1EB74668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43375"/>
            <a:ext cx="9810750" cy="3810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F2937"/>
                </a:solidFill>
              </a:defRPr>
            </a:pPr>
            <a:r>
              <a:rPr sz="1950" b="1">
                <a:solidFill>
                  <a:srgbClr val="1F2937"/>
                </a:solidFill>
              </a:rPr>
              <a:t>可靠性先进入节点，Loop 才能放大，Graph 才能编排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C105161E-CC49-4F87-B339-05262149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10782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5F7FE365-305F-45D2-B9B4-EE77970F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9675"/>
            <a:ext cx="10144125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模型可以提议工作图；确定性检查器决定放行还是拒绝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E1ECC1CD-A4ED-46C5-AC8C-03730527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10144125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0">
                <a:solidFill>
                  <a:srgbClr val="D0D5DD"/>
                </a:solidFill>
              </a:defRPr>
            </a:pPr>
            <a:r>
              <a:rPr sz="1400" b="0">
                <a:solidFill>
                  <a:srgbClr val="D0D5DD"/>
                </a:solidFill>
              </a:rPr>
              <a:t>GraphARC</a:t>
            </a:r>
            <a:endParaRPr sz="1400" b="0">
              <a:solidFill>
                <a:srgbClr val="D0D5D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8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ea9131fafb4f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249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632a32e27c48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250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b87eb4cf3b4f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251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c6d9a99ea244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6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2FEB96-F8F6-460C-BC74-0C89CA9C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真实事故：伪造工具调用，无需模型也能触发真实动作</a:t>
            </a:r>
          </a:p>
        </p:txBody>
      </p:sp>
      <p:sp>
        <p:nvSpPr>
          <p:cNvPr id="61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8A39AD1-24C0-4849-9237-B2644A23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2464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26A78"/>
                </a:solidFill>
                <a:latin typeface="Arial"/>
                <a:ea typeface="Arial"/>
                <a:cs typeface="Arial"/>
              </a:rPr>
              <a:t>Amazon Bedrock AgentCore InvokeHarness · CVE-2026-18830</a:t>
            </a:r>
          </a:p>
        </p:txBody>
      </p:sp>
      <p:sp>
        <p:nvSpPr>
          <p:cNvPr id="62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077C2C04-5DD0-4AE1-8D78-64D91E90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3" name="risk-step-1">
            <a:extLst xmlns:a="http://schemas.openxmlformats.org/drawingml/2006/main">
              <a:ext uri="{FF2B5EF4-FFF2-40B4-BE49-F238E27FC236}">
                <a16:creationId xmlns:a16="http://schemas.microsoft.com/office/drawing/2014/main" id="{6FDF9A51-EEC2-4C37-BAF6-A800AA6E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28575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3A3A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请求末尾塞入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伪造的 tool-use 块</a:t>
            </a:r>
          </a:p>
        </p:txBody>
      </p:sp>
      <p:sp>
        <p:nvSpPr>
          <p:cNvPr id="64" name="risk-number-1">
            <a:extLst xmlns:a="http://schemas.openxmlformats.org/drawingml/2006/main">
              <a:ext uri="{FF2B5EF4-FFF2-40B4-BE49-F238E27FC236}">
                <a16:creationId xmlns:a16="http://schemas.microsoft.com/office/drawing/2014/main" id="{C1151810-C340-4B65-87D3-7C552E4F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43815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3A3A"/>
          </a:solidFill>
          <a:ln xmlns:a="http://schemas.openxmlformats.org/drawingml/2006/main" w="9525">
            <a:solidFill>
              <a:srgbClr val="B93A3A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82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5" name="risk-step-2">
            <a:extLst xmlns:a="http://schemas.openxmlformats.org/drawingml/2006/main">
              <a:ext uri="{FF2B5EF4-FFF2-40B4-BE49-F238E27FC236}">
                <a16:creationId xmlns:a16="http://schemas.microsoft.com/office/drawing/2014/main" id="{9ECF0E25-1C67-43E9-99BA-FE178173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0"/>
            <a:ext cx="28575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3A3A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事件循环信任形状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跳过模型回合</a:t>
            </a:r>
          </a:p>
        </p:txBody>
      </p:sp>
      <p:sp>
        <p:nvSpPr>
          <p:cNvPr id="66" name="risk-number-2">
            <a:extLst xmlns:a="http://schemas.openxmlformats.org/drawingml/2006/main">
              <a:ext uri="{FF2B5EF4-FFF2-40B4-BE49-F238E27FC236}">
                <a16:creationId xmlns:a16="http://schemas.microsoft.com/office/drawing/2014/main" id="{D170DFB2-B750-4566-99D3-E7F438F2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43150"/>
            <a:ext cx="43815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3A3A"/>
          </a:solidFill>
          <a:ln xmlns:a="http://schemas.openxmlformats.org/drawingml/2006/main" w="9525">
            <a:solidFill>
              <a:srgbClr val="B93A3A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82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7" name="risk-step-3">
            <a:extLst xmlns:a="http://schemas.openxmlformats.org/drawingml/2006/main">
              <a:ext uri="{FF2B5EF4-FFF2-40B4-BE49-F238E27FC236}">
                <a16:creationId xmlns:a16="http://schemas.microsoft.com/office/drawing/2014/main" id="{63D2B7EE-B21F-4CC1-971D-6C811ACE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28575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9EDEE"/>
          </a:solidFill>
          <a:ln xmlns:a="http://schemas.openxmlformats.org/drawingml/2006/main" w="19050">
            <a:solidFill>
              <a:srgbClr val="B93A3A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指定工具被直接执行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真实动作发生</a:t>
            </a:r>
          </a:p>
        </p:txBody>
      </p:sp>
      <p:sp>
        <p:nvSpPr>
          <p:cNvPr id="68" name="risk-number-3">
            <a:extLst xmlns:a="http://schemas.openxmlformats.org/drawingml/2006/main">
              <a:ext uri="{FF2B5EF4-FFF2-40B4-BE49-F238E27FC236}">
                <a16:creationId xmlns:a16="http://schemas.microsoft.com/office/drawing/2014/main" id="{C8A44B56-CA0F-4FB2-93AC-3614D54F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43150"/>
            <a:ext cx="43815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3A3A"/>
          </a:solidFill>
          <a:ln xmlns:a="http://schemas.openxmlformats.org/drawingml/2006/main" w="9525">
            <a:solidFill>
              <a:srgbClr val="B93A3A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82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cxnSp>
        <p:nvCxnSpPr>
          <p:cNvPr id="261" name="Straight Arrow Connector 146"/>
          <p:cNvCxnSpPr>
            <a:stCxn xmlns:a="http://schemas.openxmlformats.org/drawingml/2006/main" id="63" idx="3"/>
            <a:endCxn xmlns:a="http://schemas.openxmlformats.org/drawingml/2006/main" id="65" idx="1"/>
          </p:cNvCxnSpPr>
          <p:nvPr/>
        </p:nvCxnSpPr>
        <p:spPr>
          <a:xfrm xmlns:a="http://schemas.openxmlformats.org/drawingml/2006/main">
            <a:off x="3619500" y="31337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93A3A"/>
            </a:solidFill>
            <a:prstDash val="solid"/>
            <a:tailEnd type="triangle" w="sm" len="sm"/>
          </a:ln>
        </p:spPr>
      </p:cxnSp>
      <p:cxnSp>
        <p:nvCxnSpPr>
          <p:cNvPr id="262" name="Straight Arrow Connector 147"/>
          <p:cNvCxnSpPr>
            <a:stCxn xmlns:a="http://schemas.openxmlformats.org/drawingml/2006/main" id="65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7143750" y="31337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93A3A"/>
            </a:solidFill>
            <a:prstDash val="solid"/>
            <a:tailEnd type="triangle" w="sm" len="sm"/>
          </a:ln>
        </p:spPr>
      </p:cxnSp>
      <p:sp>
        <p:nvSpPr>
          <p:cNvPr id="71" name="execution-gate-label">
            <a:extLst xmlns:a="http://schemas.openxmlformats.org/drawingml/2006/main">
              <a:ext uri="{FF2B5EF4-FFF2-40B4-BE49-F238E27FC236}">
                <a16:creationId xmlns:a16="http://schemas.microsoft.com/office/drawing/2014/main" id="{85F55C4D-2AB2-47EE-9226-4BCE600F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修复</a:t>
            </a:r>
          </a:p>
        </p:txBody>
      </p:sp>
      <p:sp>
        <p:nvSpPr>
          <p:cNvPr id="72" name="execution-gate">
            <a:extLst xmlns:a="http://schemas.openxmlformats.org/drawingml/2006/main">
              <a:ext uri="{FF2B5EF4-FFF2-40B4-BE49-F238E27FC236}">
                <a16:creationId xmlns:a16="http://schemas.microsoft.com/office/drawing/2014/main" id="{D0E5BD08-A13F-4F1C-BA28-A56E218F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981450"/>
            <a:ext cx="9001125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执行端拒绝伪造的 tool-use 块；工具运行前独立授权</a:t>
            </a:r>
          </a:p>
        </p:txBody>
      </p:sp>
      <p:sp>
        <p:nvSpPr>
          <p:cNvPr id="73" name="quote-background">
            <a:extLst xmlns:a="http://schemas.openxmlformats.org/drawingml/2006/main">
              <a:ext uri="{FF2B5EF4-FFF2-40B4-BE49-F238E27FC236}">
                <a16:creationId xmlns:a16="http://schemas.microsoft.com/office/drawing/2014/main" id="{363DCF82-F62E-4ACF-A096-6E7CEBA4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107823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4" name="quote">
            <a:extLst xmlns:a="http://schemas.openxmlformats.org/drawingml/2006/main">
              <a:ext uri="{FF2B5EF4-FFF2-40B4-BE49-F238E27FC236}">
                <a16:creationId xmlns:a16="http://schemas.microsoft.com/office/drawing/2014/main" id="{F369B8D2-A2E8-4396-AC6F-CB009CF6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292" y="4974044"/>
            <a:ext cx="1014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“authorize at execution, not at generation”</a:t>
            </a:r>
          </a:p>
        </p:txBody>
      </p:sp>
      <p:sp>
        <p:nvSpPr>
          <p:cNvPr id="76" name="security-close">
            <a:extLst xmlns:a="http://schemas.openxmlformats.org/drawingml/2006/main">
              <a:ext uri="{FF2B5EF4-FFF2-40B4-BE49-F238E27FC236}">
                <a16:creationId xmlns:a16="http://schemas.microsoft.com/office/drawing/2014/main" id="{91456300-CFD3-4996-B719-4C302CAD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97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B93A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93A3A"/>
                </a:solidFill>
                <a:latin typeface="Arial"/>
                <a:ea typeface="Arial"/>
                <a:cs typeface="Arial"/>
              </a:rPr>
              <a:t>事故根因：执行时授权缺失，不是 prompt injection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a2689536684e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20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9c43ab19984f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21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cc05bc7e8744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2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02831e41aa49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282E3534-000A-41C2-BFDD-913771C1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回到 OPC：你是否已经被工具切换和知识分散拖慢？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AF936B20-9373-4E58-89E8-40C4B880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工具越多、切换越频繁，知识与实践越散，协作成本就越像经营问题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F9F49991-4E10-415A-9DF4-82C4A83F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2E283376-8C62-4B6F-BDF2-42758DD5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266950"/>
            <a:ext cx="9239250" cy="609600"/>
          </a:xfrm>
          <a:prstGeom xmlns:a="http://schemas.openxmlformats.org/drawingml/2006/main" prst="roundRect">
            <a:avLst>
              <a:gd name="adj" fmla="val 1904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1F2937"/>
                </a:solidFill>
              </a:defRPr>
            </a:pPr>
            <a:r>
              <a:rPr sz="2250" b="1">
                <a:solidFill>
                  <a:srgbClr val="1F2937"/>
                </a:solidFill>
              </a:rPr>
              <a:t>工具多   ·   老切换   ·   知识散   ·   实践散</a:t>
            </a:r>
          </a:p>
        </p:txBody>
      </p:sp>
      <p:sp>
        <p:nvSpPr>
          <p:cNvPr id="9" name="Straight Connector 8">
            <a:extLst xmlns:a="http://schemas.openxmlformats.org/drawingml/2006/main">
              <a:ext uri="{FF2B5EF4-FFF2-40B4-BE49-F238E27FC236}">
                <a16:creationId xmlns:a16="http://schemas.microsoft.com/office/drawing/2014/main" id="{72430FA5-4932-4B8E-A21D-6644C065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29000"/>
            <a:ext cx="8572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31E71C6D-3058-4C95-8B38-37059BB0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33800"/>
            <a:ext cx="285750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667085"/>
                </a:solidFill>
              </a:defRPr>
            </a:pPr>
            <a:r>
              <a:rPr sz="1800" b="1">
                <a:solidFill>
                  <a:srgbClr val="667085"/>
                </a:solidFill>
              </a:rPr>
              <a:t>还没有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247B0D11-0FFA-4DA8-9203-5A2459F9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33800"/>
            <a:ext cx="285750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667085"/>
                </a:solidFill>
              </a:defRPr>
            </a:pPr>
            <a:r>
              <a:rPr sz="1950" b="1">
                <a:solidFill>
                  <a:srgbClr val="667085"/>
                </a:solidFill>
              </a:rPr>
              <a:t>已经有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53869A1A-9FE2-4230-A11F-BDE2524A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91000"/>
            <a:ext cx="2857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继续借现成 Harness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把注意力留给业务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49FE1348-EC33-46AB-8867-7B239678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91000"/>
            <a:ext cx="2857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需要统一入口与边界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再谈灵活 Harness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C1F29330-048A-4C64-B757-A23780F0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81625"/>
            <a:ext cx="10782300" cy="41910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真正的判断：这些摩擦是否已经进入每天的真实交付路径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20a9fedd3241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19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d11e14e1264f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20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2eaa82c6f74a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21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82327fd24645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5144E2FD-1D95-432B-AE20-F9A54523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Codex、Claude Code 已经很强：大多数 OPC 应直接借用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24A9C809-92C9-4166-88E3-CEDF6585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成熟 Harness 已把模型变成能工作的产品，而不只是一个会生成代码的模型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DDD3A680-8D53-4259-B68D-1407D0B4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B4A20A4E-A5CD-4577-8A13-6890D309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4762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它们已经替你做好</a:t>
            </a:r>
          </a:p>
          <a:p xmlns:a="http://schemas.openxmlformats.org/drawingml/2006/main">
            <a:endParaRPr sz="1500" b="0">
              <a:solidFill>
                <a:srgbClr val="1F2937"/>
              </a:solidFill>
            </a:endParaRP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工具调用与上下文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沙箱、权限与执行记录</a:t>
            </a:r>
          </a:p>
          <a:p xmlns:a="http://schemas.openxmlformats.org/drawingml/2006/main">
            <a:pPr>
              <a:buNone/>
              <a:defRPr sz="1800"/>
            </a:pPr>
            <a:r>
              <a:rPr sz="1800"/>
              <a:t>验证与持续检查</a:t>
            </a:r>
            <a:endParaRPr sz="1500" b="0">
              <a:solidFill>
                <a:srgbClr val="1F2937"/>
              </a:solidFill>
            </a:endParaR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A4C74F72-D5A0-4C2D-93BC-A8561A9D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4762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所以，默认选择应该是</a:t>
            </a:r>
          </a:p>
          <a:p xmlns:a="http://schemas.openxmlformats.org/drawingml/2006/main">
            <a:endParaRPr sz="1500" b="0">
              <a:solidFill>
                <a:srgbClr val="1F2937"/>
              </a:solidFill>
            </a:endParaRP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直接借现成 Harness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把稀缺注意力留给业务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5634F322-B193-4868-B7FE-1629D219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0125"/>
            <a:ext cx="10782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50A4873B-D054-49D6-B96F-7FEE498E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24425"/>
            <a:ext cx="10144125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问题不是它们够不够强，而是业务要改变它们的边界时怎么办？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240D5A47-746F-4607-9B04-5576484A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95900"/>
            <a:ext cx="10144125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0">
                <a:solidFill>
                  <a:srgbClr val="D0D5DD"/>
                </a:solidFill>
              </a:defRPr>
            </a:pPr>
            <a:r>
              <a:rPr sz="1400" b="0">
                <a:solidFill>
                  <a:srgbClr val="D0D5DD"/>
                </a:solidFill>
              </a:rPr>
              <a:t>Anthropic · Start with the simplest viable system.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5A6B61E2-FC28-4981-BB34-C8DAC702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9750"/>
            <a:ext cx="10782300" cy="41910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真正的转折从这里开始：边界是不是已经变成业务的一部分？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7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d028be30b14d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48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8af05abdd140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49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af4692dafa40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50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4938b1c6ed42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B8A9CB5B-0DDD-4CA0-817A-43295221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公开 14 天，DeepSeek Harness 接近 20 万 GitHub stars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D02A81A-B243-4755-9866-5CD24B30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关注度爆发，扩展条目同时涌入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048310DA-ACF2-4AB9-B43C-4B378DBE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B820A077-C6FA-488C-9BB8-57581B04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10782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7C2FC547-8F31-4540-8E91-16021169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292" y="5172075"/>
            <a:ext cx="10144125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这是关注与扩展入口的信号，不是质量认证</a:t>
            </a:r>
          </a:p>
        </p:txBody>
      </p:sp>
      <p:sp>
        <p:nvSpPr>
          <p:cNvPr id="27" name="need-1">
            <a:extLst xmlns:a="http://schemas.openxmlformats.org/drawingml/2006/main">
              <a:ext uri="{FF2B5EF4-FFF2-40B4-BE49-F238E27FC236}">
                <a16:creationId xmlns:a16="http://schemas.microsoft.com/office/drawing/2014/main" id="{89FC6DBC-2D89-45C3-8617-92775CB0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5810250" cy="2238375"/>
          </a:xfrm>
          <a:prstGeom xmlns:a="http://schemas.openxmlformats.org/drawingml/2006/main" prst="roundRect">
            <a:avLst>
              <a:gd name="adj" fmla="val 3404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F1423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need-number-1">
            <a:extLst xmlns:a="http://schemas.openxmlformats.org/drawingml/2006/main">
              <a:ext uri="{FF2B5EF4-FFF2-40B4-BE49-F238E27FC236}">
                <a16:creationId xmlns:a16="http://schemas.microsoft.com/office/drawing/2014/main" id="{EDEA05D4-D376-4EAB-828F-249E2E43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28875"/>
            <a:ext cx="4953000" cy="800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7340"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近 20 万</a:t>
            </a:r>
          </a:p>
        </p:txBody>
      </p:sp>
      <p:sp>
        <p:nvSpPr>
          <p:cNvPr id="29" name="need-heading-1">
            <a:extLst xmlns:a="http://schemas.openxmlformats.org/drawingml/2006/main">
              <a:ext uri="{FF2B5EF4-FFF2-40B4-BE49-F238E27FC236}">
                <a16:creationId xmlns:a16="http://schemas.microsoft.com/office/drawing/2014/main" id="{F4BFF754-3EFF-464B-821F-11A8A864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337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GitHub stars · 公开约 14 天</a:t>
            </a:r>
          </a:p>
        </p:txBody>
      </p:sp>
      <p:sp>
        <p:nvSpPr>
          <p:cNvPr id="30" name="need-body-1">
            <a:extLst xmlns:a="http://schemas.openxmlformats.org/drawingml/2006/main">
              <a:ext uri="{FF2B5EF4-FFF2-40B4-BE49-F238E27FC236}">
                <a16:creationId xmlns:a16="http://schemas.microsoft.com/office/drawing/2014/main" id="{F380BDDF-2DFD-4E61-99E7-1B3F31DA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0047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67085"/>
                </a:solidFill>
                <a:latin typeface="Arial"/>
                <a:ea typeface="Arial"/>
                <a:cs typeface="Arial"/>
              </a:rPr>
              <a:t>199,846 stars · 2026-08-27 快照</a:t>
            </a:r>
          </a:p>
        </p:txBody>
      </p:sp>
      <p:sp>
        <p:nvSpPr>
          <p:cNvPr id="31" name="need-2">
            <a:extLst xmlns:a="http://schemas.openxmlformats.org/drawingml/2006/main">
              <a:ext uri="{FF2B5EF4-FFF2-40B4-BE49-F238E27FC236}">
                <a16:creationId xmlns:a16="http://schemas.microsoft.com/office/drawing/2014/main" id="{15D2A963-B369-47FF-90F7-E226CF97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38375"/>
            <a:ext cx="4191000" cy="619125"/>
          </a:xfrm>
          <a:prstGeom xmlns:a="http://schemas.openxmlformats.org/drawingml/2006/main" prst="roundRect">
            <a:avLst>
              <a:gd name="adj" fmla="val 12308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C7CEDA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need-number-2">
            <a:extLst xmlns:a="http://schemas.openxmlformats.org/drawingml/2006/main">
              <a:ext uri="{FF2B5EF4-FFF2-40B4-BE49-F238E27FC236}">
                <a16:creationId xmlns:a16="http://schemas.microsoft.com/office/drawing/2014/main" id="{77860BEE-0CE0-41BE-B30B-D2EE0B6C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3" name="need-heading-2">
            <a:extLst xmlns:a="http://schemas.openxmlformats.org/drawingml/2006/main">
              <a:ext uri="{FF2B5EF4-FFF2-40B4-BE49-F238E27FC236}">
                <a16:creationId xmlns:a16="http://schemas.microsoft.com/office/drawing/2014/main" id="{DF5C5F07-BEC1-4C51-AFAB-BF2E4335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2410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6597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22,820 forks</a:t>
            </a:r>
          </a:p>
        </p:txBody>
      </p:sp>
      <p:sp>
        <p:nvSpPr>
          <p:cNvPr id="34" name="need-body-2">
            <a:extLst xmlns:a="http://schemas.openxmlformats.org/drawingml/2006/main">
              <a:ext uri="{FF2B5EF4-FFF2-40B4-BE49-F238E27FC236}">
                <a16:creationId xmlns:a16="http://schemas.microsoft.com/office/drawing/2014/main" id="{2539F1D8-1368-475D-A7FD-16253FFB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581275"/>
            <a:ext cx="3714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6770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67085"/>
                </a:solidFill>
                <a:latin typeface="Arial"/>
                <a:ea typeface="Arial"/>
                <a:cs typeface="Arial"/>
              </a:rPr>
              <a:t>同日快照</a:t>
            </a:r>
          </a:p>
        </p:txBody>
      </p:sp>
      <p:sp>
        <p:nvSpPr>
          <p:cNvPr id="35" name="need-3">
            <a:extLst xmlns:a="http://schemas.openxmlformats.org/drawingml/2006/main">
              <a:ext uri="{FF2B5EF4-FFF2-40B4-BE49-F238E27FC236}">
                <a16:creationId xmlns:a16="http://schemas.microsoft.com/office/drawing/2014/main" id="{97DACF7E-E6B0-4368-B836-8BBBE457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00375"/>
            <a:ext cx="4191000" cy="619125"/>
          </a:xfrm>
          <a:prstGeom xmlns:a="http://schemas.openxmlformats.org/drawingml/2006/main" prst="roundRect">
            <a:avLst>
              <a:gd name="adj" fmla="val 12308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C7CEDA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need-number-3">
            <a:extLst xmlns:a="http://schemas.openxmlformats.org/drawingml/2006/main">
              <a:ext uri="{FF2B5EF4-FFF2-40B4-BE49-F238E27FC236}">
                <a16:creationId xmlns:a16="http://schemas.microsoft.com/office/drawing/2014/main" id="{094E60DB-8D0F-46C9-A39E-5E76D20A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7" name="need-heading-3">
            <a:extLst xmlns:a="http://schemas.openxmlformats.org/drawingml/2006/main">
              <a:ext uri="{FF2B5EF4-FFF2-40B4-BE49-F238E27FC236}">
                <a16:creationId xmlns:a16="http://schemas.microsoft.com/office/drawing/2014/main" id="{8FD41C1F-D6A8-447F-B973-902AD6F6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8610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6597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2,286 条生态快照</a:t>
            </a:r>
          </a:p>
        </p:txBody>
      </p:sp>
      <p:sp>
        <p:nvSpPr>
          <p:cNvPr id="38" name="need-body-3">
            <a:extLst xmlns:a="http://schemas.openxmlformats.org/drawingml/2006/main">
              <a:ext uri="{FF2B5EF4-FFF2-40B4-BE49-F238E27FC236}">
                <a16:creationId xmlns:a16="http://schemas.microsoft.com/office/drawing/2014/main" id="{19BC0155-7919-457F-BF62-16F876EB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343275"/>
            <a:ext cx="3714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6770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67085"/>
                </a:solidFill>
                <a:latin typeface="Arial"/>
                <a:ea typeface="Arial"/>
                <a:cs typeface="Arial"/>
              </a:rPr>
              <a:t>扩展尝试同时涌入</a:t>
            </a:r>
          </a:p>
        </p:txBody>
      </p:sp>
      <p:sp>
        <p:nvSpPr>
          <p:cNvPr id="39" name="need-4">
            <a:extLst xmlns:a="http://schemas.openxmlformats.org/drawingml/2006/main">
              <a:ext uri="{FF2B5EF4-FFF2-40B4-BE49-F238E27FC236}">
                <a16:creationId xmlns:a16="http://schemas.microsoft.com/office/drawing/2014/main" id="{A70D9D8C-951C-4C71-8223-8AF35F59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62375"/>
            <a:ext cx="4191000" cy="619125"/>
          </a:xfrm>
          <a:prstGeom xmlns:a="http://schemas.openxmlformats.org/drawingml/2006/main" prst="roundRect">
            <a:avLst>
              <a:gd name="adj" fmla="val 12308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C7CEDA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need-number-4">
            <a:extLst xmlns:a="http://schemas.openxmlformats.org/drawingml/2006/main">
              <a:ext uri="{FF2B5EF4-FFF2-40B4-BE49-F238E27FC236}">
                <a16:creationId xmlns:a16="http://schemas.microsoft.com/office/drawing/2014/main" id="{6CD96A03-C989-44BB-8459-F1363147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41" name="need-heading-4">
            <a:extLst xmlns:a="http://schemas.openxmlformats.org/drawingml/2006/main">
              <a:ext uri="{FF2B5EF4-FFF2-40B4-BE49-F238E27FC236}">
                <a16:creationId xmlns:a16="http://schemas.microsoft.com/office/drawing/2014/main" id="{1A46D5FA-00B7-4397-97AC-71A53B26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84810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6597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关注与扩展面 ≠ 成熟或可信</a:t>
            </a:r>
          </a:p>
        </p:txBody>
      </p:sp>
      <p:sp>
        <p:nvSpPr>
          <p:cNvPr id="42" name="need-body-4">
            <a:extLst xmlns:a="http://schemas.openxmlformats.org/drawingml/2006/main">
              <a:ext uri="{FF2B5EF4-FFF2-40B4-BE49-F238E27FC236}">
                <a16:creationId xmlns:a16="http://schemas.microsoft.com/office/drawing/2014/main" id="{C01E49F0-CB81-4861-91FD-8D25BF9C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05275"/>
            <a:ext cx="3714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6770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67085"/>
                </a:solidFill>
                <a:latin typeface="Arial"/>
                <a:ea typeface="Arial"/>
                <a:cs typeface="Arial"/>
              </a:rPr>
              <a:t>不是质量认证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1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640d1da66446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72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4e749147f142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73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1bb41a518044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74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293885eb4442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4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DF017CF-FDBC-401D-AD5B-AF816ED4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对 OPC，价值不在装得多，而在少盯、敢放、能复用</a:t>
            </a:r>
          </a:p>
        </p:txBody>
      </p:sp>
      <p:sp>
        <p:nvSpPr>
          <p:cNvPr id="49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0B66B34-9DD2-4D98-A87A-6788DAA3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2464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26A78"/>
                </a:solidFill>
                <a:latin typeface="Arial"/>
                <a:ea typeface="Arial"/>
                <a:cs typeface="Arial"/>
              </a:rPr>
              <a:t>别人替你探索过，不等于替你验证过</a:t>
            </a:r>
          </a:p>
        </p:txBody>
      </p:sp>
      <p:sp>
        <p:nvSpPr>
          <p:cNvPr id="50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139CB90F-7221-4D9C-BF46-AF3C6E4D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dsh-definition">
            <a:extLst xmlns:a="http://schemas.openxmlformats.org/drawingml/2006/main">
              <a:ext uri="{FF2B5EF4-FFF2-40B4-BE49-F238E27FC236}">
                <a16:creationId xmlns:a16="http://schemas.microsoft.com/office/drawing/2014/main" id="{543687FA-F963-4F9A-9768-B3B15700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102870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生态的价值：把别人已经做过、自己可以验证的能力借进来</a:t>
            </a:r>
          </a:p>
        </p:txBody>
      </p:sp>
      <p:sp>
        <p:nvSpPr>
          <p:cNvPr id="52" name="takeaway-1">
            <a:extLst xmlns:a="http://schemas.openxmlformats.org/drawingml/2006/main">
              <a:ext uri="{FF2B5EF4-FFF2-40B4-BE49-F238E27FC236}">
                <a16:creationId xmlns:a16="http://schemas.microsoft.com/office/drawing/2014/main" id="{0B691603-72B5-4062-8BD6-A4AB7671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43250"/>
            <a:ext cx="3429000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takeaway-number-1">
            <a:extLst xmlns:a="http://schemas.openxmlformats.org/drawingml/2006/main">
              <a:ext uri="{FF2B5EF4-FFF2-40B4-BE49-F238E27FC236}">
                <a16:creationId xmlns:a16="http://schemas.microsoft.com/office/drawing/2014/main" id="{7AD8864A-D747-402A-9073-139FAD3E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2861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423"/>
          </a:solidFill>
          <a:ln xmlns:a="http://schemas.openxmlformats.org/drawingml/2006/main" w="9525">
            <a:solidFill>
              <a:srgbClr val="0F1423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4" name="takeaway-heading-1">
            <a:extLst xmlns:a="http://schemas.openxmlformats.org/drawingml/2006/main">
              <a:ext uri="{FF2B5EF4-FFF2-40B4-BE49-F238E27FC236}">
                <a16:creationId xmlns:a16="http://schemas.microsoft.com/office/drawing/2014/main" id="{D2402E29-395C-4DFA-820B-3379542F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2385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省手</a:t>
            </a:r>
          </a:p>
        </p:txBody>
      </p:sp>
      <p:sp>
        <p:nvSpPr>
          <p:cNvPr id="55" name="takeaway-body-1">
            <a:extLst xmlns:a="http://schemas.openxmlformats.org/drawingml/2006/main">
              <a:ext uri="{FF2B5EF4-FFF2-40B4-BE49-F238E27FC236}">
                <a16:creationId xmlns:a16="http://schemas.microsoft.com/office/drawing/2014/main" id="{2B287E18-333E-4655-96FE-D9BE1E69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6766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换底座时</a:t>
            </a:r>
          </a:p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少重写</a:t>
            </a:r>
          </a:p>
        </p:txBody>
      </p:sp>
      <p:sp>
        <p:nvSpPr>
          <p:cNvPr id="56" name="takeaway-2">
            <a:extLst xmlns:a="http://schemas.openxmlformats.org/drawingml/2006/main">
              <a:ext uri="{FF2B5EF4-FFF2-40B4-BE49-F238E27FC236}">
                <a16:creationId xmlns:a16="http://schemas.microsoft.com/office/drawing/2014/main" id="{5AA9A7F8-FF33-416C-8855-E2664430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43250"/>
            <a:ext cx="3429000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7" name="takeaway-number-2">
            <a:extLst xmlns:a="http://schemas.openxmlformats.org/drawingml/2006/main">
              <a:ext uri="{FF2B5EF4-FFF2-40B4-BE49-F238E27FC236}">
                <a16:creationId xmlns:a16="http://schemas.microsoft.com/office/drawing/2014/main" id="{CEA2DDC5-2905-4DC7-AF90-2FDC27F0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861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423"/>
          </a:solidFill>
          <a:ln xmlns:a="http://schemas.openxmlformats.org/drawingml/2006/main" w="9525">
            <a:solidFill>
              <a:srgbClr val="0F1423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8" name="takeaway-heading-2">
            <a:extLst xmlns:a="http://schemas.openxmlformats.org/drawingml/2006/main">
              <a:ext uri="{FF2B5EF4-FFF2-40B4-BE49-F238E27FC236}">
                <a16:creationId xmlns:a16="http://schemas.microsoft.com/office/drawing/2014/main" id="{47E6827D-F20D-4FDE-89F1-8315B2AF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385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敢放手</a:t>
            </a:r>
          </a:p>
        </p:txBody>
      </p:sp>
      <p:sp>
        <p:nvSpPr>
          <p:cNvPr id="59" name="takeaway-body-2">
            <a:extLst xmlns:a="http://schemas.openxmlformats.org/drawingml/2006/main">
              <a:ext uri="{FF2B5EF4-FFF2-40B4-BE49-F238E27FC236}">
                <a16:creationId xmlns:a16="http://schemas.microsoft.com/office/drawing/2014/main" id="{9E1EC817-E921-4159-9B2F-0B994125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766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审批 fail-closed</a:t>
            </a:r>
          </a:p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事实可重建</a:t>
            </a:r>
          </a:p>
        </p:txBody>
      </p:sp>
      <p:sp>
        <p:nvSpPr>
          <p:cNvPr id="60" name="takeaway-3">
            <a:extLst xmlns:a="http://schemas.openxmlformats.org/drawingml/2006/main">
              <a:ext uri="{FF2B5EF4-FFF2-40B4-BE49-F238E27FC236}">
                <a16:creationId xmlns:a16="http://schemas.microsoft.com/office/drawing/2014/main" id="{9C0DFFCB-44AE-420E-8EA2-BE8ED7CE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143250"/>
            <a:ext cx="3429000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1" name="takeaway-number-3">
            <a:extLst xmlns:a="http://schemas.openxmlformats.org/drawingml/2006/main">
              <a:ext uri="{FF2B5EF4-FFF2-40B4-BE49-F238E27FC236}">
                <a16:creationId xmlns:a16="http://schemas.microsoft.com/office/drawing/2014/main" id="{96D7359F-3B33-47B8-8510-583890A4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2861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423"/>
          </a:solidFill>
          <a:ln xmlns:a="http://schemas.openxmlformats.org/drawingml/2006/main" w="9525">
            <a:solidFill>
              <a:srgbClr val="0F1423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2" name="takeaway-heading-3">
            <a:extLst xmlns:a="http://schemas.openxmlformats.org/drawingml/2006/main">
              <a:ext uri="{FF2B5EF4-FFF2-40B4-BE49-F238E27FC236}">
                <a16:creationId xmlns:a16="http://schemas.microsoft.com/office/drawing/2014/main" id="{15ED2356-D226-4D09-BA9B-CCFC19F1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2385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可复用</a:t>
            </a:r>
          </a:p>
        </p:txBody>
      </p:sp>
      <p:sp>
        <p:nvSpPr>
          <p:cNvPr id="63" name="takeaway-body-3">
            <a:extLst xmlns:a="http://schemas.openxmlformats.org/drawingml/2006/main">
              <a:ext uri="{FF2B5EF4-FFF2-40B4-BE49-F238E27FC236}">
                <a16:creationId xmlns:a16="http://schemas.microsoft.com/office/drawing/2014/main" id="{B26DC81A-2BCF-4AC4-98B0-0082D262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6766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自己验证过的组合</a:t>
            </a:r>
          </a:p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带到下一项目</a:t>
            </a:r>
          </a:p>
        </p:txBody>
      </p:sp>
      <p:sp>
        <p:nvSpPr>
          <p:cNvPr id="64" name="quote-background">
            <a:extLst xmlns:a="http://schemas.openxmlformats.org/drawingml/2006/main">
              <a:ext uri="{FF2B5EF4-FFF2-40B4-BE49-F238E27FC236}">
                <a16:creationId xmlns:a16="http://schemas.microsoft.com/office/drawing/2014/main" id="{6D4D03E7-156A-4CA8-AA6A-DE2B9B0C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0"/>
            <a:ext cx="107823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5" name="quote">
            <a:extLst xmlns:a="http://schemas.openxmlformats.org/drawingml/2006/main">
              <a:ext uri="{FF2B5EF4-FFF2-40B4-BE49-F238E27FC236}">
                <a16:creationId xmlns:a16="http://schemas.microsoft.com/office/drawing/2014/main" id="{2FACF421-D639-40A9-A536-CD01564B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10144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先验证，再借力；少回手工，敢交真活</a:t>
            </a:r>
          </a:p>
        </p:txBody>
      </p:sp>
      <p:sp>
        <p:nvSpPr>
          <p:cNvPr id="66" name="quote-source">
            <a:extLst xmlns:a="http://schemas.openxmlformats.org/drawingml/2006/main">
              <a:ext uri="{FF2B5EF4-FFF2-40B4-BE49-F238E27FC236}">
                <a16:creationId xmlns:a16="http://schemas.microsoft.com/office/drawing/2014/main" id="{9D161A0B-18A7-4F80-B028-3F446CF3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14950"/>
            <a:ext cx="10144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FFFFFF"/>
                </a:solidFill>
                <a:latin typeface="Arial"/>
                <a:ea typeface="Arial"/>
                <a:cs typeface="Arial"/>
              </a:rPr>
              <a:t>OPC 的生产力底座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2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6b7d79331042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293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162fef86104c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294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b8e6c5a6c04a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295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823026cb2848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6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1187CB-8715-40B3-AED3-AE46773C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DSH 不是插件商店；它是一套可组合的 Harness runtime</a:t>
            </a:r>
          </a:p>
        </p:txBody>
      </p:sp>
      <p:sp>
        <p:nvSpPr>
          <p:cNvPr id="6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34E57DF-34BA-4128-8EE0-88D40EF1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2464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26A78"/>
                </a:solidFill>
                <a:latin typeface="Arial"/>
                <a:ea typeface="Arial"/>
                <a:cs typeface="Arial"/>
              </a:rPr>
              <a:t>插件围绕共同合同、执行路径和事实记录工作</a:t>
            </a:r>
          </a:p>
        </p:txBody>
      </p:sp>
      <p:sp>
        <p:nvSpPr>
          <p:cNvPr id="68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9B24902F-B67E-4AFB-B4ED-7518A2E7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9" name="active-label">
            <a:extLst xmlns:a="http://schemas.openxmlformats.org/drawingml/2006/main">
              <a:ext uri="{FF2B5EF4-FFF2-40B4-BE49-F238E27FC236}">
                <a16:creationId xmlns:a16="http://schemas.microsoft.com/office/drawing/2014/main" id="{14E39DD4-AB8F-40A6-ADB0-CDA7C694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78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26A78"/>
                </a:solidFill>
                <a:latin typeface="Arial"/>
                <a:ea typeface="Arial"/>
                <a:cs typeface="Arial"/>
              </a:rPr>
              <a:t>四类输入</a:t>
            </a:r>
          </a:p>
        </p:txBody>
      </p:sp>
      <p:sp>
        <p:nvSpPr>
          <p:cNvPr id="70" name="dsh-plugin-1">
            <a:extLst xmlns:a="http://schemas.openxmlformats.org/drawingml/2006/main">
              <a:ext uri="{FF2B5EF4-FFF2-40B4-BE49-F238E27FC236}">
                <a16:creationId xmlns:a16="http://schemas.microsoft.com/office/drawing/2014/main" id="{16FC36F2-5315-4DAC-B5AD-298CFF3A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2333625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模型</a:t>
            </a:r>
          </a:p>
        </p:txBody>
      </p:sp>
      <p:sp>
        <p:nvSpPr>
          <p:cNvPr id="71" name="dsh-plugin-2">
            <a:extLst xmlns:a="http://schemas.openxmlformats.org/drawingml/2006/main">
              <a:ext uri="{FF2B5EF4-FFF2-40B4-BE49-F238E27FC236}">
                <a16:creationId xmlns:a16="http://schemas.microsoft.com/office/drawing/2014/main" id="{E98323BA-19CE-40B8-AE10-19E47B74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457450"/>
            <a:ext cx="2333625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工具</a:t>
            </a:r>
          </a:p>
        </p:txBody>
      </p:sp>
      <p:sp>
        <p:nvSpPr>
          <p:cNvPr id="72" name="dsh-plugin-3">
            <a:extLst xmlns:a="http://schemas.openxmlformats.org/drawingml/2006/main">
              <a:ext uri="{FF2B5EF4-FFF2-40B4-BE49-F238E27FC236}">
                <a16:creationId xmlns:a16="http://schemas.microsoft.com/office/drawing/2014/main" id="{17B1C388-9D63-4D6D-BBE3-3C7FB7B9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57450"/>
            <a:ext cx="2333625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执行后端</a:t>
            </a:r>
          </a:p>
        </p:txBody>
      </p:sp>
      <p:sp>
        <p:nvSpPr>
          <p:cNvPr id="73" name="dsh-plugin-4">
            <a:extLst xmlns:a="http://schemas.openxmlformats.org/drawingml/2006/main">
              <a:ext uri="{FF2B5EF4-FFF2-40B4-BE49-F238E27FC236}">
                <a16:creationId xmlns:a16="http://schemas.microsoft.com/office/drawing/2014/main" id="{95DAEC01-B598-4925-A4AE-FBC66ECD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457450"/>
            <a:ext cx="2333625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规则 / Loop</a:t>
            </a:r>
          </a:p>
        </p:txBody>
      </p:sp>
      <p:sp>
        <p:nvSpPr>
          <p:cNvPr id="74" name="dsh-runtime">
            <a:extLst xmlns:a="http://schemas.openxmlformats.org/drawingml/2006/main">
              <a:ext uri="{FF2B5EF4-FFF2-40B4-BE49-F238E27FC236}">
                <a16:creationId xmlns:a16="http://schemas.microsoft.com/office/drawing/2014/main" id="{843F84F0-26B0-43FD-8447-B14D15E6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33750"/>
            <a:ext cx="87630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共同合同：模型、工具、后端与规则可组合、可替换</a:t>
            </a:r>
          </a:p>
        </p:txBody>
      </p:sp>
      <p:cxnSp>
        <p:nvCxnSpPr>
          <p:cNvPr id="305" name="Elbow Connector 166"/>
          <p:cNvCxnSpPr>
            <a:stCxn xmlns:a="http://schemas.openxmlformats.org/drawingml/2006/main" id="70" idx="2"/>
            <a:endCxn xmlns:a="http://schemas.openxmlformats.org/drawingml/2006/main" id="74" idx="0"/>
          </p:cNvCxnSpPr>
          <p:nvPr/>
        </p:nvCxnSpPr>
        <p:spPr>
          <a:xfrm xmlns:a="http://schemas.openxmlformats.org/drawingml/2006/main">
            <a:off x="1947863" y="3009900"/>
            <a:ext cx="4148138" cy="323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8BEC8"/>
            </a:solidFill>
            <a:prstDash val="solid"/>
            <a:tailEnd type="triangle" w="sm" len="sm"/>
          </a:ln>
        </p:spPr>
      </p:cxnSp>
      <p:cxnSp>
        <p:nvCxnSpPr>
          <p:cNvPr id="306" name="Elbow Connector 167"/>
          <p:cNvCxnSpPr>
            <a:stCxn xmlns:a="http://schemas.openxmlformats.org/drawingml/2006/main" id="71" idx="2"/>
            <a:endCxn xmlns:a="http://schemas.openxmlformats.org/drawingml/2006/main" id="74" idx="0"/>
          </p:cNvCxnSpPr>
          <p:nvPr/>
        </p:nvCxnSpPr>
        <p:spPr>
          <a:xfrm xmlns:a="http://schemas.openxmlformats.org/drawingml/2006/main">
            <a:off x="4662488" y="3009900"/>
            <a:ext cx="1433513" cy="323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8BEC8"/>
            </a:solidFill>
            <a:prstDash val="solid"/>
            <a:tailEnd type="triangle" w="sm" len="sm"/>
          </a:ln>
        </p:spPr>
      </p:cxnSp>
      <p:cxnSp>
        <p:nvCxnSpPr>
          <p:cNvPr id="307" name="Elbow Connector 168"/>
          <p:cNvCxnSpPr>
            <a:stCxn xmlns:a="http://schemas.openxmlformats.org/drawingml/2006/main" id="72" idx="2"/>
            <a:endCxn xmlns:a="http://schemas.openxmlformats.org/drawingml/2006/main" id="74" idx="0"/>
          </p:cNvCxnSpPr>
          <p:nvPr/>
        </p:nvCxnSpPr>
        <p:spPr>
          <a:xfrm xmlns:a="http://schemas.openxmlformats.org/drawingml/2006/main" flipH="1">
            <a:off x="6096000" y="3009900"/>
            <a:ext cx="1281113" cy="323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8BEC8"/>
            </a:solidFill>
            <a:prstDash val="solid"/>
            <a:tailEnd type="triangle" w="sm" len="sm"/>
          </a:ln>
        </p:spPr>
      </p:cxnSp>
      <p:cxnSp>
        <p:nvCxnSpPr>
          <p:cNvPr id="308" name="Elbow Connector 169"/>
          <p:cNvCxnSpPr>
            <a:stCxn xmlns:a="http://schemas.openxmlformats.org/drawingml/2006/main" id="73" idx="2"/>
            <a:endCxn xmlns:a="http://schemas.openxmlformats.org/drawingml/2006/main" id="74" idx="0"/>
          </p:cNvCxnSpPr>
          <p:nvPr/>
        </p:nvCxnSpPr>
        <p:spPr>
          <a:xfrm xmlns:a="http://schemas.openxmlformats.org/drawingml/2006/main" flipH="1">
            <a:off x="6096000" y="3009900"/>
            <a:ext cx="3995738" cy="323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8BEC8"/>
            </a:solidFill>
            <a:prstDash val="solid"/>
            <a:tailEnd type="triangle" w="sm" len="sm"/>
          </a:ln>
        </p:spPr>
      </p:cxnSp>
      <p:sp>
        <p:nvSpPr>
          <p:cNvPr id="79" name="session-log">
            <a:extLst xmlns:a="http://schemas.openxmlformats.org/drawingml/2006/main">
              <a:ext uri="{FF2B5EF4-FFF2-40B4-BE49-F238E27FC236}">
                <a16:creationId xmlns:a16="http://schemas.microsoft.com/office/drawing/2014/main" id="{102CE0CD-E2BD-4796-B566-A676A78C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67200"/>
            <a:ext cx="72390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1423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共同事实：发生过的行动按顺序留下</a:t>
            </a:r>
          </a:p>
        </p:txBody>
      </p:sp>
      <p:cxnSp>
        <p:nvCxnSpPr>
          <p:cNvPr id="310" name="Straight Arrow Connector 171"/>
          <p:cNvCxnSpPr>
            <a:stCxn xmlns:a="http://schemas.openxmlformats.org/drawingml/2006/main" id="74" idx="2"/>
            <a:endCxn xmlns:a="http://schemas.openxmlformats.org/drawingml/2006/main" id="79" idx="0"/>
          </p:cNvCxnSpPr>
          <p:nvPr/>
        </p:nvCxnSpPr>
        <p:spPr>
          <a:xfrm xmlns:a="http://schemas.openxmlformats.org/drawingml/2006/main">
            <a:off x="6096000" y="39243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  <p:sp>
        <p:nvSpPr>
          <p:cNvPr id="81" name="log-label">
            <a:extLst xmlns:a="http://schemas.openxmlformats.org/drawingml/2006/main">
              <a:ext uri="{FF2B5EF4-FFF2-40B4-BE49-F238E27FC236}">
                <a16:creationId xmlns:a16="http://schemas.microsoft.com/office/drawing/2014/main" id="{A336EA11-672E-4336-A7BF-B9F17DBF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625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26A78"/>
                </a:solidFill>
                <a:latin typeface="Arial"/>
                <a:ea typeface="Arial"/>
                <a:cs typeface="Arial"/>
              </a:rPr>
              <a:t>append-only session log</a:t>
            </a:r>
          </a:p>
        </p:txBody>
      </p:sp>
      <p:sp>
        <p:nvSpPr>
          <p:cNvPr id="82" name="quote-background">
            <a:extLst xmlns:a="http://schemas.openxmlformats.org/drawingml/2006/main">
              <a:ext uri="{FF2B5EF4-FFF2-40B4-BE49-F238E27FC236}">
                <a16:creationId xmlns:a16="http://schemas.microsoft.com/office/drawing/2014/main" id="{528257E1-D239-483E-A6F7-7F6C80B5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0"/>
            <a:ext cx="107823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3" name="quote">
            <a:extLst xmlns:a="http://schemas.openxmlformats.org/drawingml/2006/main">
              <a:ext uri="{FF2B5EF4-FFF2-40B4-BE49-F238E27FC236}">
                <a16:creationId xmlns:a16="http://schemas.microsoft.com/office/drawing/2014/main" id="{E618B42D-B738-4920-8699-AF354EAE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292" y="5372100"/>
            <a:ext cx="1014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插件扩展 Harness；Harness 负责运行合同与事实记录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0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85cb5d94324f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61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036194a2b44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62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378c05aa364b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63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8b968461764a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3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F74F2BB-831F-400F-AFB8-05392464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只有插件不够：能装，还必须能管</a:t>
            </a:r>
          </a:p>
        </p:txBody>
      </p:sp>
      <p:sp>
        <p:nvSpPr>
          <p:cNvPr id="40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56B6CEC-E271-45F3-AD5D-902B16BF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2464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26A78"/>
                </a:solidFill>
                <a:latin typeface="Arial"/>
                <a:ea typeface="Arial"/>
                <a:cs typeface="Arial"/>
              </a:rPr>
              <a:t>能力一旦进入真实执行路径，就必须回答四个控制问题</a:t>
            </a:r>
          </a:p>
        </p:txBody>
      </p:sp>
      <p:sp>
        <p:nvSpPr>
          <p:cNvPr id="41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2AB38078-8304-4034-A9F5-F199B311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extension-1">
            <a:extLst xmlns:a="http://schemas.openxmlformats.org/drawingml/2006/main">
              <a:ext uri="{FF2B5EF4-FFF2-40B4-BE49-F238E27FC236}">
                <a16:creationId xmlns:a16="http://schemas.microsoft.com/office/drawing/2014/main" id="{1D8F1106-7DDA-4018-A32A-8805FD6D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51435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extension-heading-1">
            <a:extLst xmlns:a="http://schemas.openxmlformats.org/drawingml/2006/main">
              <a:ext uri="{FF2B5EF4-FFF2-40B4-BE49-F238E27FC236}">
                <a16:creationId xmlns:a16="http://schemas.microsoft.com/office/drawing/2014/main" id="{23E8B89B-53E5-435F-9003-473E2B0A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2860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63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接入</a:t>
            </a:r>
          </a:p>
        </p:txBody>
      </p:sp>
      <p:sp>
        <p:nvSpPr>
          <p:cNvPr id="44" name="extension-body-1">
            <a:extLst xmlns:a="http://schemas.openxmlformats.org/drawingml/2006/main">
              <a:ext uri="{FF2B5EF4-FFF2-40B4-BE49-F238E27FC236}">
                <a16:creationId xmlns:a16="http://schemas.microsoft.com/office/drawing/2014/main" id="{B29AF623-6CB7-45F1-B01C-DD10FCCB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590800"/>
            <a:ext cx="4800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registry</a:t>
            </a:r>
          </a:p>
        </p:txBody>
      </p:sp>
      <p:sp>
        <p:nvSpPr>
          <p:cNvPr id="45" name="extension-2">
            <a:extLst xmlns:a="http://schemas.openxmlformats.org/drawingml/2006/main">
              <a:ext uri="{FF2B5EF4-FFF2-40B4-BE49-F238E27FC236}">
                <a16:creationId xmlns:a16="http://schemas.microsoft.com/office/drawing/2014/main" id="{1ABF8853-5B4C-4788-87DB-13C89604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190750"/>
            <a:ext cx="51435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6" name="extension-heading-2">
            <a:extLst xmlns:a="http://schemas.openxmlformats.org/drawingml/2006/main">
              <a:ext uri="{FF2B5EF4-FFF2-40B4-BE49-F238E27FC236}">
                <a16:creationId xmlns:a16="http://schemas.microsoft.com/office/drawing/2014/main" id="{E519C0F9-DD9B-4265-93FF-6E82CF29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860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63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替换</a:t>
            </a:r>
          </a:p>
        </p:txBody>
      </p:sp>
      <p:sp>
        <p:nvSpPr>
          <p:cNvPr id="47" name="extension-body-2">
            <a:extLst xmlns:a="http://schemas.openxmlformats.org/drawingml/2006/main">
              <a:ext uri="{FF2B5EF4-FFF2-40B4-BE49-F238E27FC236}">
                <a16:creationId xmlns:a16="http://schemas.microsoft.com/office/drawing/2014/main" id="{7DD9B057-2D38-497E-B6AC-B6B06F95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590800"/>
            <a:ext cx="4800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adapter + seam</a:t>
            </a:r>
          </a:p>
        </p:txBody>
      </p:sp>
      <p:sp>
        <p:nvSpPr>
          <p:cNvPr id="48" name="extension-3">
            <a:extLst xmlns:a="http://schemas.openxmlformats.org/drawingml/2006/main">
              <a:ext uri="{FF2B5EF4-FFF2-40B4-BE49-F238E27FC236}">
                <a16:creationId xmlns:a16="http://schemas.microsoft.com/office/drawing/2014/main" id="{171C104B-F5C6-4932-82DE-416138B3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33750"/>
            <a:ext cx="51435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extension-heading-3">
            <a:extLst xmlns:a="http://schemas.openxmlformats.org/drawingml/2006/main">
              <a:ext uri="{FF2B5EF4-FFF2-40B4-BE49-F238E27FC236}">
                <a16:creationId xmlns:a16="http://schemas.microsoft.com/office/drawing/2014/main" id="{56CFAD58-4A89-4EFB-AA09-2093BEDC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4290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63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放行</a:t>
            </a:r>
          </a:p>
        </p:txBody>
      </p:sp>
      <p:sp>
        <p:nvSpPr>
          <p:cNvPr id="50" name="extension-body-3">
            <a:extLst xmlns:a="http://schemas.openxmlformats.org/drawingml/2006/main">
              <a:ext uri="{FF2B5EF4-FFF2-40B4-BE49-F238E27FC236}">
                <a16:creationId xmlns:a16="http://schemas.microsoft.com/office/drawing/2014/main" id="{6DA052A6-F726-477B-B831-5896DF6F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733800"/>
            <a:ext cx="4800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enforced gate</a:t>
            </a:r>
          </a:p>
        </p:txBody>
      </p:sp>
      <p:sp>
        <p:nvSpPr>
          <p:cNvPr id="51" name="extension-4">
            <a:extLst xmlns:a="http://schemas.openxmlformats.org/drawingml/2006/main">
              <a:ext uri="{FF2B5EF4-FFF2-40B4-BE49-F238E27FC236}">
                <a16:creationId xmlns:a16="http://schemas.microsoft.com/office/drawing/2014/main" id="{BE4F8065-BC3D-4C8F-843B-C08EDD53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333750"/>
            <a:ext cx="51435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extension-heading-4">
            <a:extLst xmlns:a="http://schemas.openxmlformats.org/drawingml/2006/main">
              <a:ext uri="{FF2B5EF4-FFF2-40B4-BE49-F238E27FC236}">
                <a16:creationId xmlns:a16="http://schemas.microsoft.com/office/drawing/2014/main" id="{27E3E698-88E1-4048-AFB2-2B412083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4290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63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重建事实</a:t>
            </a:r>
          </a:p>
        </p:txBody>
      </p:sp>
      <p:sp>
        <p:nvSpPr>
          <p:cNvPr id="53" name="extension-body-4">
            <a:extLst xmlns:a="http://schemas.openxmlformats.org/drawingml/2006/main">
              <a:ext uri="{FF2B5EF4-FFF2-40B4-BE49-F238E27FC236}">
                <a16:creationId xmlns:a16="http://schemas.microsoft.com/office/drawing/2014/main" id="{1850AA84-52D3-4EB7-914D-BDF0CCAA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733800"/>
            <a:ext cx="4800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session log</a:t>
            </a:r>
          </a:p>
        </p:txBody>
      </p:sp>
      <p:sp>
        <p:nvSpPr>
          <p:cNvPr id="54" name="own-vs-borrow">
            <a:extLst xmlns:a="http://schemas.openxmlformats.org/drawingml/2006/main">
              <a:ext uri="{FF2B5EF4-FFF2-40B4-BE49-F238E27FC236}">
                <a16:creationId xmlns:a16="http://schemas.microsoft.com/office/drawing/2014/main" id="{6070D37D-07A9-4D8A-A669-78151B9C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24375"/>
            <a:ext cx="91440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接入: registry / 替换: adapter + seam / 放行: gate / 重建事实: session log</a:t>
            </a:r>
          </a:p>
        </p:txBody>
      </p:sp>
      <p:sp>
        <p:nvSpPr>
          <p:cNvPr id="55" name="slide20-callout">
            <a:extLst xmlns:a="http://schemas.openxmlformats.org/drawingml/2006/main">
              <a:ext uri="{FF2B5EF4-FFF2-40B4-BE49-F238E27FC236}">
                <a16:creationId xmlns:a16="http://schemas.microsoft.com/office/drawing/2014/main" id="{5FEDAD16-19B4-4E7A-B0F9-540564C6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86375"/>
            <a:ext cx="107823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可安装不等于可信；进入执行链前必须先受控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2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48f74c272d42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193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031277140a45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194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16002465634a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195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28bb67501542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F084A818-FBCD-49FC-AACD-F5F79EE5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Harness 必须在手：部件可借，四项决定权不能外包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7C321B43-121A-40EB-B6FB-E019D34D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在手不是全栈自建，而是 owner 对运行边界保有最终决定权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0076CAB-7FB0-4589-8AE9-651B39D9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16611547-DB1F-439E-A41C-441873A7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782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A20A318D-C522-45D3-BC15-2946FC5D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52675"/>
            <a:ext cx="10144125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最终控制权 = 接入 / 替换 / 放行 / 重建事实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AE825DE6-67C0-426E-A601-C48D617D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24150"/>
            <a:ext cx="10144125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C7CEDA"/>
                </a:solidFill>
              </a:defRPr>
            </a:pPr>
            <a:r>
              <a:rPr sz="1125" b="0">
                <a:solidFill>
                  <a:srgbClr val="C7CEDA"/>
                </a:solidFill>
              </a:rPr>
              <a:t>本 talk 对“在手”的定义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E7FA2AA6-F310-4EA7-82D5-D2205358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2381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4288">
            <a:solidFill>
              <a:srgbClr val="C7CED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F1423"/>
                </a:solidFill>
              </a:defRPr>
            </a:pPr>
            <a:r>
              <a:rPr sz="1650" b="1">
                <a:solidFill>
                  <a:srgbClr val="0F1423"/>
                </a:solidFill>
              </a:rPr>
              <a:t>接入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0F1423"/>
                </a:solidFill>
              </a:defRPr>
            </a:pPr>
            <a:r>
              <a:rPr sz="1650" b="1">
                <a:solidFill>
                  <a:srgbClr val="0F1423"/>
                </a:solidFill>
              </a:rPr>
              <a:t>registry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0DB9FCCE-D973-42B3-AC3A-5583AA29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476625"/>
            <a:ext cx="2381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4288">
            <a:solidFill>
              <a:srgbClr val="C7CED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F1423"/>
                </a:solidFill>
              </a:defRPr>
            </a:pPr>
            <a:r>
              <a:rPr sz="1650" b="1">
                <a:solidFill>
                  <a:srgbClr val="0F1423"/>
                </a:solidFill>
              </a:rPr>
              <a:t>替换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0F1423"/>
                </a:solidFill>
              </a:defRPr>
            </a:pPr>
            <a:r>
              <a:rPr sz="1650" b="1">
                <a:solidFill>
                  <a:srgbClr val="0F1423"/>
                </a:solidFill>
              </a:rPr>
              <a:t>adapter + seam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F7477249-8D3A-4A94-8DBB-371A1530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76625"/>
            <a:ext cx="2381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4288">
            <a:solidFill>
              <a:srgbClr val="C7CED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F1423"/>
                </a:solidFill>
              </a:defRPr>
            </a:pPr>
            <a:r>
              <a:rPr sz="1650" b="1">
                <a:solidFill>
                  <a:srgbClr val="0F1423"/>
                </a:solidFill>
              </a:rPr>
              <a:t>放行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0F1423"/>
                </a:solidFill>
              </a:defRPr>
            </a:pPr>
            <a:r>
              <a:rPr sz="1650" b="1">
                <a:solidFill>
                  <a:srgbClr val="0F1423"/>
                </a:solidFill>
              </a:rPr>
              <a:t>enforced gate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0724FE35-1EF9-4451-A3CD-D3C88644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476625"/>
            <a:ext cx="2381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4288">
            <a:solidFill>
              <a:srgbClr val="C7CED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0F1423"/>
                </a:solidFill>
              </a:defRPr>
            </a:pPr>
            <a:r>
              <a:rPr sz="1650" b="1">
                <a:solidFill>
                  <a:srgbClr val="0F1423"/>
                </a:solidFill>
              </a:rPr>
              <a:t>重建事实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0F1423"/>
                </a:solidFill>
              </a:defRPr>
            </a:pPr>
            <a:r>
              <a:rPr sz="1650" b="1">
                <a:solidFill>
                  <a:srgbClr val="0F1423"/>
                </a:solidFill>
              </a:rPr>
              <a:t>session log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DBDD96AF-E6C1-499E-B2E8-C4A2DECE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0"/>
            <a:ext cx="10782300" cy="41910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部件可借，边界自己定</a:t>
            </a:r>
          </a:p>
        </p:txBody>
      </p:sp>
      <p:cxnSp>
        <p:nvCxnSpPr>
          <p:cNvPr id="207" name="Straight Arrow Connector 80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333750" y="3929063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tailEnd type="triangle" w="sm" len="sm"/>
          </a:ln>
        </p:spPr>
      </p:cxnSp>
      <p:cxnSp>
        <p:nvCxnSpPr>
          <p:cNvPr id="208" name="Straight Arrow Connector 81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953125" y="3929063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0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985813a8da49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71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897735faca4b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72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c13f6d003245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73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77d4c803da4a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4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DF017CF-FDBC-401D-AD5B-AF816ED4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OPC 要掌握到哪一步？先借现成，边界自己定</a:t>
            </a:r>
          </a:p>
        </p:txBody>
      </p:sp>
      <p:sp>
        <p:nvSpPr>
          <p:cNvPr id="49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0B66B34-9DD2-4D98-A87A-6788DAA3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2464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26A78"/>
                </a:solidFill>
                <a:latin typeface="Arial"/>
                <a:ea typeface="Arial"/>
                <a:cs typeface="Arial"/>
              </a:rPr>
              <a:t>掌握 Harness，不是从零造，而是看懂并保有运行边界</a:t>
            </a:r>
          </a:p>
        </p:txBody>
      </p:sp>
      <p:sp>
        <p:nvSpPr>
          <p:cNvPr id="50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139CB90F-7221-4D9C-BF46-AF3C6E4D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dsh-definition">
            <a:extLst xmlns:a="http://schemas.openxmlformats.org/drawingml/2006/main">
              <a:ext uri="{FF2B5EF4-FFF2-40B4-BE49-F238E27FC236}">
                <a16:creationId xmlns:a16="http://schemas.microsoft.com/office/drawing/2014/main" id="{543687FA-F963-4F9A-9768-B3B15700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102870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DSH 展示了一种可组合、可替换的 Harness runtime</a:t>
            </a:r>
          </a:p>
        </p:txBody>
      </p:sp>
      <p:sp>
        <p:nvSpPr>
          <p:cNvPr id="52" name="takeaway-1">
            <a:extLst xmlns:a="http://schemas.openxmlformats.org/drawingml/2006/main">
              <a:ext uri="{FF2B5EF4-FFF2-40B4-BE49-F238E27FC236}">
                <a16:creationId xmlns:a16="http://schemas.microsoft.com/office/drawing/2014/main" id="{0B691603-72B5-4062-8BD6-A4AB7671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43250"/>
            <a:ext cx="3429000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takeaway-number-1">
            <a:extLst xmlns:a="http://schemas.openxmlformats.org/drawingml/2006/main">
              <a:ext uri="{FF2B5EF4-FFF2-40B4-BE49-F238E27FC236}">
                <a16:creationId xmlns:a16="http://schemas.microsoft.com/office/drawing/2014/main" id="{7AD8864A-D747-402A-9073-139FAD3E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2861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423"/>
          </a:solidFill>
          <a:ln xmlns:a="http://schemas.openxmlformats.org/drawingml/2006/main" w="9525">
            <a:solidFill>
              <a:srgbClr val="0F1423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4" name="takeaway-heading-1">
            <a:extLst xmlns:a="http://schemas.openxmlformats.org/drawingml/2006/main">
              <a:ext uri="{FF2B5EF4-FFF2-40B4-BE49-F238E27FC236}">
                <a16:creationId xmlns:a16="http://schemas.microsoft.com/office/drawing/2014/main" id="{D2402E29-395C-4DFA-820B-3379542F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2385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先借现成</a:t>
            </a:r>
          </a:p>
        </p:txBody>
      </p:sp>
      <p:sp>
        <p:nvSpPr>
          <p:cNvPr id="55" name="takeaway-body-1">
            <a:extLst xmlns:a="http://schemas.openxmlformats.org/drawingml/2006/main">
              <a:ext uri="{FF2B5EF4-FFF2-40B4-BE49-F238E27FC236}">
                <a16:creationId xmlns:a16="http://schemas.microsoft.com/office/drawing/2014/main" id="{2B287E18-333E-4655-96FE-D9BE1E69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6766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常见任务</a:t>
            </a:r>
          </a:p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复用成熟 Harness</a:t>
            </a:r>
          </a:p>
        </p:txBody>
      </p:sp>
      <p:sp>
        <p:nvSpPr>
          <p:cNvPr id="56" name="takeaway-2">
            <a:extLst xmlns:a="http://schemas.openxmlformats.org/drawingml/2006/main">
              <a:ext uri="{FF2B5EF4-FFF2-40B4-BE49-F238E27FC236}">
                <a16:creationId xmlns:a16="http://schemas.microsoft.com/office/drawing/2014/main" id="{5AA9A7F8-FF33-416C-8855-E2664430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43250"/>
            <a:ext cx="3429000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7" name="takeaway-number-2">
            <a:extLst xmlns:a="http://schemas.openxmlformats.org/drawingml/2006/main">
              <a:ext uri="{FF2B5EF4-FFF2-40B4-BE49-F238E27FC236}">
                <a16:creationId xmlns:a16="http://schemas.microsoft.com/office/drawing/2014/main" id="{CEA2DDC5-2905-4DC7-AF90-2FDC27F0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861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423"/>
          </a:solidFill>
          <a:ln xmlns:a="http://schemas.openxmlformats.org/drawingml/2006/main" w="9525">
            <a:solidFill>
              <a:srgbClr val="0F1423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8" name="takeaway-heading-2">
            <a:extLst xmlns:a="http://schemas.openxmlformats.org/drawingml/2006/main">
              <a:ext uri="{FF2B5EF4-FFF2-40B4-BE49-F238E27FC236}">
                <a16:creationId xmlns:a16="http://schemas.microsoft.com/office/drawing/2014/main" id="{47E6827D-F20D-4FDE-89F1-8315B2AF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385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看懂边界</a:t>
            </a:r>
          </a:p>
        </p:txBody>
      </p:sp>
      <p:sp>
        <p:nvSpPr>
          <p:cNvPr id="59" name="takeaway-body-2">
            <a:extLst xmlns:a="http://schemas.openxmlformats.org/drawingml/2006/main">
              <a:ext uri="{FF2B5EF4-FFF2-40B4-BE49-F238E27FC236}">
                <a16:creationId xmlns:a16="http://schemas.microsoft.com/office/drawing/2014/main" id="{9E1EC817-E921-4159-9B2F-0B994125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766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接入、替换</a:t>
            </a:r>
          </a:p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门禁与日志</a:t>
            </a:r>
          </a:p>
        </p:txBody>
      </p:sp>
      <p:sp>
        <p:nvSpPr>
          <p:cNvPr id="60" name="takeaway-3">
            <a:extLst xmlns:a="http://schemas.openxmlformats.org/drawingml/2006/main">
              <a:ext uri="{FF2B5EF4-FFF2-40B4-BE49-F238E27FC236}">
                <a16:creationId xmlns:a16="http://schemas.microsoft.com/office/drawing/2014/main" id="{9C0DFFCB-44AE-420E-8EA2-BE8ED7CE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143250"/>
            <a:ext cx="3429000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1" name="takeaway-number-3">
            <a:extLst xmlns:a="http://schemas.openxmlformats.org/drawingml/2006/main">
              <a:ext uri="{FF2B5EF4-FFF2-40B4-BE49-F238E27FC236}">
                <a16:creationId xmlns:a16="http://schemas.microsoft.com/office/drawing/2014/main" id="{96D7359F-3B33-47B8-8510-583890A4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2861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423"/>
          </a:solidFill>
          <a:ln xmlns:a="http://schemas.openxmlformats.org/drawingml/2006/main" w="9525">
            <a:solidFill>
              <a:srgbClr val="0F1423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2" name="takeaway-heading-3">
            <a:extLst xmlns:a="http://schemas.openxmlformats.org/drawingml/2006/main">
              <a:ext uri="{FF2B5EF4-FFF2-40B4-BE49-F238E27FC236}">
                <a16:creationId xmlns:a16="http://schemas.microsoft.com/office/drawing/2014/main" id="{15ED2356-D226-4D09-BA9B-CCFC19F1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2385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差异化再握权</a:t>
            </a:r>
          </a:p>
        </p:txBody>
      </p:sp>
      <p:sp>
        <p:nvSpPr>
          <p:cNvPr id="63" name="takeaway-body-3">
            <a:extLst xmlns:a="http://schemas.openxmlformats.org/drawingml/2006/main">
              <a:ext uri="{FF2B5EF4-FFF2-40B4-BE49-F238E27FC236}">
                <a16:creationId xmlns:a16="http://schemas.microsoft.com/office/drawing/2014/main" id="{B26DC81A-2BCF-4AC4-98B0-0082D262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6766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进入业务执行链时</a:t>
            </a:r>
          </a:p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保有 final say</a:t>
            </a:r>
          </a:p>
        </p:txBody>
      </p:sp>
      <p:sp>
        <p:nvSpPr>
          <p:cNvPr id="64" name="quote-background">
            <a:extLst xmlns:a="http://schemas.openxmlformats.org/drawingml/2006/main">
              <a:ext uri="{FF2B5EF4-FFF2-40B4-BE49-F238E27FC236}">
                <a16:creationId xmlns:a16="http://schemas.microsoft.com/office/drawing/2014/main" id="{6D4D03E7-156A-4CA8-AA6A-DE2B9B0C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0"/>
            <a:ext cx="107823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5" name="quote">
            <a:extLst xmlns:a="http://schemas.openxmlformats.org/drawingml/2006/main">
              <a:ext uri="{FF2B5EF4-FFF2-40B4-BE49-F238E27FC236}">
                <a16:creationId xmlns:a16="http://schemas.microsoft.com/office/drawing/2014/main" id="{2FACF421-D639-40A9-A536-CD01564B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10144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部件可借，边界自己定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3c378c62074b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" y="0"/>
            <a:ext cx="12191365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FD37E421-4BCF-4EC7-B5A4-7F06A4971C3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51908" y="1476375"/>
            <a:ext cx="9144000" cy="28575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/>
            </a:pPr>
            <a:r>
              <a:rPr sz="3450" b="1">
                <a:solidFill>
                  <a:srgbClr val="111827"/>
                </a:solidFill>
                <a:latin typeface="Arial Black"/>
                <a:ea typeface="Arial Black"/>
                <a:cs typeface="Arial Black"/>
              </a:rPr>
              <a:t>谢谢</a:t>
            </a:r>
          </a:p>
          <a:p xmlns:a="http://schemas.openxmlformats.org/drawingml/2006/main">
            <a:pPr algn="ctr">
              <a:buNone/>
              <a:defRPr sz="3450"/>
            </a:pPr>
            <a:r>
              <a:rPr sz="3450" b="1">
                <a:solidFill>
                  <a:srgbClr val="111827"/>
                </a:solidFill>
                <a:latin typeface="Arial Black"/>
                <a:ea typeface="Arial Black"/>
                <a:cs typeface="Arial Black"/>
              </a:rPr>
              <a:t>部件可借，边界自己定</a:t>
            </a:r>
          </a:p>
          <a:p xmlns:a="http://schemas.openxmlformats.org/drawingml/2006/main">
            <a:pPr>
              <a:buNone/>
            </a:pPr>
            <a:r>
              <a:rPr sz="1350"/>
              <a:t/>
            </a:r>
          </a:p>
          <a:p xmlns:a="http://schemas.openxmlformats.org/drawingml/2006/main">
            <a:pPr algn="ctr">
              <a:buNone/>
              <a:defRPr sz="3450"/>
            </a:pPr>
            <a:r>
              <a:rPr sz="2200" b="1">
                <a:solidFill>
                  <a:srgbClr val="111827"/>
                </a:solidFill>
                <a:latin typeface="Arial Black"/>
                <a:ea typeface="Arial Black"/>
                <a:cs typeface="Arial Black"/>
              </a:rPr>
              <a:t>Ethan Jiang</a:t>
            </a:r>
          </a:p>
        </p:txBody>
      </p:sp>
      <p:pic>
        <p:nvPicPr>
          <p:cNvPr id="12" name="图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651b9abe4c49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92590" y="321310"/>
            <a:ext cx="2756535" cy="487680"/>
          </a:xfrm>
          <a:prstGeom xmlns:a="http://schemas.openxmlformats.org/drawingml/2006/main" prst="rect">
            <a:avLst/>
          </a:prstGeom>
        </p:spPr>
      </p:pic>
      <p:pic>
        <p:nvPicPr>
          <p:cNvPr id="13" name="图片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b2d439d84d4b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5910" y="187960"/>
            <a:ext cx="1130300" cy="753745"/>
          </a:xfrm>
          <a:prstGeom xmlns:a="http://schemas.openxmlformats.org/drawingml/2006/main" prst="rect">
            <a:avLst/>
          </a:prstGeom>
        </p:spPr>
      </p:pic>
      <p:pic>
        <p:nvPicPr>
          <p:cNvPr id="14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fd03b9bdd844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5560" y="76835"/>
            <a:ext cx="1673860" cy="976630"/>
          </a:xfrm>
          <a:prstGeom xmlns:a="http://schemas.openxmlformats.org/drawingml/2006/main" prst="rect">
            <a:avLst/>
          </a:prstGeom>
        </p:spPr>
      </p:pic>
      <p:pic>
        <p:nvPicPr>
          <p:cNvPr id="15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33fd9958704f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51940" y="0"/>
            <a:ext cx="1197610" cy="169481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09286"/>
      </p:ext>
    </p:extLst>
  </p:cSld>
</p:sld>
</file>

<file path=ppt/theme/theme1.xml><?xml version="1.0" encoding="utf-8"?>
<a:theme xmlns:a="http://schemas.openxmlformats.org/drawingml/2006/main" name="WPS​​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2026-08-28T01:46:20.0740000Z</dcterms:created>
  <dcterms:modified xsi:type="dcterms:W3CDTF">2026-08-28T01:46:20.0740000Z</dcterms:modified>
</coreProperties>
</file>