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Opening: introduce the question carried through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Three anchors establish Harness, Loop, and Graph before the role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Replace agenda with the three questions the talk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One engine, five outcomes; do not imply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Prompt/Context slide; show Lost in the Middle curve without introducing claims beyond supplied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Introduce Harness without prematurely inserting the security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Use distinct temporal-loop and spatial-graph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Relationship diagram, not a pyramid; Harness is the reliable execution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Pivot from the relationship map to the reliability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Recover the minimal harness from P5.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Core harness mechanism: retain full Guides/Sensors and deterministic/probabilistic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Memory frame: three verbs in this precise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Explain dependency without reverting to a geometric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Tell the execution-authorization causal chain, not a CVE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Make the decision criterion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Fairly state the value of ready-made harnesses.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Show escalation from configuration need to runtime boundary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Thesis for flexible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DSH is a composable Harness, not a replacement for Loop or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DSH mechanism slide; DSH does not use MCP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Rule -&gt; failing command -&gt; CI; preserve the quote callout.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Answer the opening question without implying Loop/Graph are automatically 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All claims and quotations are supplied in talk-ai-coding-evolution/04_drafts/ppt-text-v1.md.</a:t>
            </a:r>
          </a:p>
          <a:p>
            <a:endParaRPr/>
          </a:p>
          <a:p>
            <a:r>
              <a:t>Close on the reusable choice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E11E3-EFEF-4EEA-AA89-18A57D8D9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5372E-CC10-4D98-9D95-90F3E1212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1074B-108D-4C7F-9E3B-3D43BA2A79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62EE3-119E-444B-8134-7D848C87A2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ADC448-3193-4AF7-855A-E1F74AE450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80BA0-8406-49B3-9B37-900883CA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>
            <a:normAutofit/>
          </a:bodyPr>
          <a:lstStyle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F0F48-2682-496C-A91E-8928A92DB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3ACE5-E1ED-4889-A8F7-CB90819B5D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4AFB6-97E9-4D9B-AFE3-53EECFB366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125FB-23F7-4FBE-B80F-29FCB35ED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2DB45-72E3-4D78-AB1A-2F5FE6DE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86F43A-E5AD-4CE0-9F1E-9CFE3C9F3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BF131-3545-4083-B1FB-54FA58D2A7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ED3A7-C4AA-4CD7-9BFE-4AFFC2C809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591F5-8D6C-404A-9389-5A39B22B30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A8F55-B68A-483A-A53E-540C8818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D2A801-E694-4FD7-8E63-D698BB97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58DE2C-8D98-42FC-A500-7B2E3150843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F15505-D19D-43F6-9A27-C998016E2E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7D99E7-E8CA-4210-97C8-0C2668054F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66801E-F48B-4B7B-B57D-EFEC492F43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4C8D2-906A-44E5-94E9-FC88BBF5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DB727-2083-4D48-B0DA-48037014C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5D8E6-CA19-4745-A6A7-8A82CBC0F3A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98F709-ED1B-4E0E-8E20-10F17B6EA61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5326E8-0675-4AFF-8B2C-FDF0B6FF556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6E60D0-2B7E-4A5C-92EA-EEB167C46D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28AEA3-6DC2-44DF-B9FA-1BBFB21EFB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D67F99-B855-4824-B004-A06206B6B5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A199B-58F5-4BDA-8028-60E6D95E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9440F6-C9F7-4464-B7E3-B581F57636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448F65-3888-4EE7-A08A-925768F191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899AC-020B-46CD-AB6B-94B04616B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66AB12-1CE8-4DA0-A617-37071C3B63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6422C5-6BBF-4F98-9C93-3313CDB9AC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09A89-EB44-461A-BD20-BF7EFEE369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EE799-ECDE-41F7-ACC2-A028E983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>
            <a:normAutofit/>
          </a:bodyPr>
          <a:lstStyle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A67F8A-B568-4E81-9C42-D7B77B677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CBE4A5-37F9-4B46-8FDF-C8E7B9A6F48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F1D540-B4F7-4549-937A-B756E1F72E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03B651-75B4-48C9-B5A6-E469B4F3E9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6F890E-88E4-4880-9B9C-2A1F104357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2F8484-7F20-4C6C-B6DF-0AD10288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buNone/>
              <a:defRPr sz="36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0FE67F-3E6A-4258-9DFC-CBB476B70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F01BB-9F73-4DB1-BB7F-5433E75C0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98CDA-FD51-482A-AFC0-A439663F9E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15723-FE64-402B-B376-BA673F9FB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56EC72-DCFB-4AFD-AB36-AC613FA581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3EF8AF-A9E5-4CED-9332-EFF831DF4A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B065D7-EB36-4528-A358-4812AF9E5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66EC56A-B5FD-4CC7-AF64-F85A6FED3B8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19B4D4-75CE-4A17-AED6-20D968E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E0814-64EC-45B2-81E7-F0B0371D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CEEE8-4DEC-4F89-865E-5AE4C6F437A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BD3693-0FFB-4137-8FCD-2FA59D951F6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BAACC-6271-4091-AD55-B49135007FD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263842"/>
            <a:ext cx="12191365" cy="685800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060" y="3212782"/>
            <a:ext cx="9144000" cy="960120"/>
          </a:xfrm>
        </p:spPr>
        <p:txBody>
          <a:bodyPr>
            <a:normAutofit fontScale="90000"/>
          </a:bodyPr>
          <a:lstStyle/>
          <a:p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OPC 航海指南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一个人，AI Coding 要掌握到多深？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321310"/>
            <a:ext cx="2756535" cy="487680"/>
          </a:xfrm>
          <a:prstGeom prst="rect">
            <a:avLst/>
          </a:prstGeom>
        </p:spPr>
      </p:pic>
      <p:pic>
        <p:nvPicPr>
          <p:cNvPr id="13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5910" y="187960"/>
            <a:ext cx="1130300" cy="753745"/>
          </a:xfrm>
          <a:prstGeom prst="rect">
            <a:avLst/>
          </a:prstGeom>
        </p:spPr>
      </p:pic>
      <p:pic>
        <p:nvPicPr>
          <p:cNvPr id="14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560" y="76835"/>
            <a:ext cx="1673860" cy="976630"/>
          </a:xfrm>
          <a:prstGeom prst="rect">
            <a:avLst/>
          </a:prstGeom>
        </p:spPr>
      </p:pic>
      <p:pic>
        <p:nvPicPr>
          <p:cNvPr id="15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940" y="0"/>
            <a:ext cx="1197610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41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4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4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1A407E-D2C9-4203-B4D2-E12A286DA30F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五个角色，已经分别有人替你命名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B8FB4C-6C74-41EC-BF16-4722B86426FF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人从写一句话，转向设计系统怎么工作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89083B-5006-4CC6-A882-DB046ECED1F8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1492ABF-6BB6-4F22-AD30-85E0FF5ACBD6}"/>
              </a:ext>
            </a:extLst>
          </p:cNvPr>
          <p:cNvSpPr>
            <a:spLocks noGrp="1"/>
          </p:cNvSpPr>
          <p:nvPr/>
        </p:nvSpPr>
        <p:spPr>
          <a:xfrm>
            <a:off x="2143125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D81693-2E76-42F9-A885-DCA348B54E1E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说话者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7510426-2387-4FE6-840F-49A7897F6473}"/>
              </a:ext>
            </a:extLst>
          </p:cNvPr>
          <p:cNvSpPr>
            <a:spLocks noGrp="1"/>
          </p:cNvSpPr>
          <p:nvPr/>
        </p:nvSpPr>
        <p:spPr>
          <a:xfrm>
            <a:off x="771525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写 prompt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1653769-22E0-496E-A149-6AE3ED0A311F}"/>
              </a:ext>
            </a:extLst>
          </p:cNvPr>
          <p:cNvSpPr>
            <a:spLocks noGrp="1"/>
          </p:cNvSpPr>
          <p:nvPr/>
        </p:nvSpPr>
        <p:spPr>
          <a:xfrm>
            <a:off x="4210050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874CA6-1353-4DA2-BFDF-73E5DB4B3730}"/>
              </a:ext>
            </a:extLst>
          </p:cNvPr>
          <p:cNvSpPr>
            <a:spLocks noGrp="1"/>
          </p:cNvSpPr>
          <p:nvPr/>
        </p:nvSpPr>
        <p:spPr>
          <a:xfrm>
            <a:off x="2781300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策展者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1256396-50AB-475E-A069-5C8BBC9DE567}"/>
              </a:ext>
            </a:extLst>
          </p:cNvPr>
          <p:cNvSpPr>
            <a:spLocks noGrp="1"/>
          </p:cNvSpPr>
          <p:nvPr/>
        </p:nvSpPr>
        <p:spPr>
          <a:xfrm>
            <a:off x="2838450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挑 context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E650C15-8399-4B83-892D-2642D5047F67}"/>
              </a:ext>
            </a:extLst>
          </p:cNvPr>
          <p:cNvSpPr>
            <a:spLocks noGrp="1"/>
          </p:cNvSpPr>
          <p:nvPr/>
        </p:nvSpPr>
        <p:spPr>
          <a:xfrm>
            <a:off x="6276975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E8E040-7CB2-4D54-864C-B5B888ED612F}"/>
              </a:ext>
            </a:extLst>
          </p:cNvPr>
          <p:cNvSpPr>
            <a:spLocks noGrp="1"/>
          </p:cNvSpPr>
          <p:nvPr/>
        </p:nvSpPr>
        <p:spPr>
          <a:xfrm>
            <a:off x="4848225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环境工程师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A278214-E7A2-4F96-B186-650F6F3EE2E9}"/>
              </a:ext>
            </a:extLst>
          </p:cNvPr>
          <p:cNvSpPr>
            <a:spLocks noGrp="1"/>
          </p:cNvSpPr>
          <p:nvPr/>
        </p:nvSpPr>
        <p:spPr>
          <a:xfrm>
            <a:off x="4905375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67085"/>
                </a:solidFill>
              </a:defRPr>
            </a:pPr>
            <a:r>
              <a:rPr sz="975" b="0" dirty="0" err="1">
                <a:solidFill>
                  <a:srgbClr val="667085"/>
                </a:solidFill>
              </a:rPr>
              <a:t>搭</a:t>
            </a:r>
            <a:r>
              <a:rPr lang="en-CN" sz="975" b="0" dirty="0">
                <a:solidFill>
                  <a:srgbClr val="667085"/>
                </a:solidFill>
              </a:rPr>
              <a:t>harness</a:t>
            </a:r>
            <a:endParaRPr sz="975" b="0" dirty="0">
              <a:solidFill>
                <a:srgbClr val="667085"/>
              </a:solidFill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6474467-ADDD-4315-8505-17E7475C052F}"/>
              </a:ext>
            </a:extLst>
          </p:cNvPr>
          <p:cNvSpPr>
            <a:spLocks noGrp="1"/>
          </p:cNvSpPr>
          <p:nvPr/>
        </p:nvSpPr>
        <p:spPr>
          <a:xfrm>
            <a:off x="8343900" y="2838450"/>
            <a:ext cx="628650" cy="9525"/>
          </a:xfrm>
          <a:prstGeom prst="line">
            <a:avLst/>
          </a:prstGeom>
          <a:noFill/>
          <a:ln w="14288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B04E20-5400-460D-A6D9-47731EB5A029}"/>
              </a:ext>
            </a:extLst>
          </p:cNvPr>
          <p:cNvSpPr>
            <a:spLocks noGrp="1"/>
          </p:cNvSpPr>
          <p:nvPr/>
        </p:nvSpPr>
        <p:spPr>
          <a:xfrm>
            <a:off x="6915150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控制流作者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E9999E6-10ED-4189-87F7-29546F1FACF9}"/>
              </a:ext>
            </a:extLst>
          </p:cNvPr>
          <p:cNvSpPr>
            <a:spLocks noGrp="1"/>
          </p:cNvSpPr>
          <p:nvPr/>
        </p:nvSpPr>
        <p:spPr>
          <a:xfrm>
            <a:off x="6972300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写 loop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B55F7A-248A-40CA-8CE5-455A202A076A}"/>
              </a:ext>
            </a:extLst>
          </p:cNvPr>
          <p:cNvSpPr>
            <a:spLocks noGrp="1"/>
          </p:cNvSpPr>
          <p:nvPr/>
        </p:nvSpPr>
        <p:spPr>
          <a:xfrm>
            <a:off x="8982075" y="24574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编排者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002F2A2-D07C-4443-A0B9-E6829C3F3E59}"/>
              </a:ext>
            </a:extLst>
          </p:cNvPr>
          <p:cNvSpPr>
            <a:spLocks noGrp="1"/>
          </p:cNvSpPr>
          <p:nvPr/>
        </p:nvSpPr>
        <p:spPr>
          <a:xfrm>
            <a:off x="9039225" y="3095625"/>
            <a:ext cx="13144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排 graph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5E4F42B-8422-49EE-B313-5F72FEC4204B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DD3C5AC-30F1-4A79-AA53-AC3716C93142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责任叠加上移，不是岗位替代</a:t>
            </a:r>
          </a:p>
        </p:txBody>
      </p:sp>
      <p:sp>
        <p:nvSpPr>
          <p:cNvPr id="30" name="anchor-quote-1">
            <a:extLst>
              <a:ext uri="{FF2B5EF4-FFF2-40B4-BE49-F238E27FC236}">
                <a16:creationId xmlns:a16="http://schemas.microsoft.com/office/drawing/2014/main" id="{2AD90136-AE97-4DD2-A346-01839E587C46}"/>
              </a:ext>
            </a:extLst>
          </p:cNvPr>
          <p:cNvSpPr>
            <a:spLocks noGrp="1"/>
          </p:cNvSpPr>
          <p:nvPr/>
        </p:nvSpPr>
        <p:spPr>
          <a:xfrm>
            <a:off x="1000125" y="3733800"/>
            <a:ext cx="309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6491"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= Model + Harness</a:t>
            </a:r>
          </a:p>
        </p:txBody>
      </p:sp>
      <p:sp>
        <p:nvSpPr>
          <p:cNvPr id="31" name="anchor-source-1">
            <a:extLst>
              <a:ext uri="{FF2B5EF4-FFF2-40B4-BE49-F238E27FC236}">
                <a16:creationId xmlns:a16="http://schemas.microsoft.com/office/drawing/2014/main" id="{0C2810CC-1BB7-40A3-843A-93D9F0564490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3095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4103"/>
          </a:bodyPr>
          <a:lstStyle/>
          <a:p>
            <a:pPr algn="ctr">
              <a:buNone/>
              <a:defRPr sz="9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FFFFFF"/>
                </a:solidFill>
                <a:latin typeface="Arial"/>
                <a:ea typeface="Arial"/>
                <a:cs typeface="Arial"/>
              </a:rPr>
              <a:t>Birgitta Böckeler</a:t>
            </a:r>
          </a:p>
        </p:txBody>
      </p:sp>
      <p:sp>
        <p:nvSpPr>
          <p:cNvPr id="32" name="anchor-quote-2">
            <a:extLst>
              <a:ext uri="{FF2B5EF4-FFF2-40B4-BE49-F238E27FC236}">
                <a16:creationId xmlns:a16="http://schemas.microsoft.com/office/drawing/2014/main" id="{DED74534-9614-4172-949E-CB0FBD7FAC6F}"/>
              </a:ext>
            </a:extLst>
          </p:cNvPr>
          <p:cNvSpPr>
            <a:spLocks noGrp="1"/>
          </p:cNvSpPr>
          <p:nvPr/>
        </p:nvSpPr>
        <p:spPr>
          <a:xfrm>
            <a:off x="4238625" y="3733800"/>
            <a:ext cx="309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6491"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 job is to write loops</a:t>
            </a:r>
          </a:p>
        </p:txBody>
      </p:sp>
      <p:sp>
        <p:nvSpPr>
          <p:cNvPr id="33" name="anchor-source-2">
            <a:extLst>
              <a:ext uri="{FF2B5EF4-FFF2-40B4-BE49-F238E27FC236}">
                <a16:creationId xmlns:a16="http://schemas.microsoft.com/office/drawing/2014/main" id="{E0A84C23-22FA-46D2-AD83-AE2EE644A02E}"/>
              </a:ext>
            </a:extLst>
          </p:cNvPr>
          <p:cNvSpPr>
            <a:spLocks noGrp="1"/>
          </p:cNvSpPr>
          <p:nvPr/>
        </p:nvSpPr>
        <p:spPr>
          <a:xfrm>
            <a:off x="4238625" y="4095750"/>
            <a:ext cx="3095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4103"/>
          </a:bodyPr>
          <a:lstStyle/>
          <a:p>
            <a:pPr algn="ctr">
              <a:buNone/>
              <a:defRPr sz="9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FFFFFF"/>
                </a:solidFill>
                <a:latin typeface="Arial"/>
                <a:ea typeface="Arial"/>
                <a:cs typeface="Arial"/>
              </a:rPr>
              <a:t>Boris Cherny</a:t>
            </a:r>
          </a:p>
        </p:txBody>
      </p:sp>
      <p:sp>
        <p:nvSpPr>
          <p:cNvPr id="34" name="anchor-quote-3">
            <a:extLst>
              <a:ext uri="{FF2B5EF4-FFF2-40B4-BE49-F238E27FC236}">
                <a16:creationId xmlns:a16="http://schemas.microsoft.com/office/drawing/2014/main" id="{F56413D1-3622-412E-B3E1-EF20A66500B7}"/>
              </a:ext>
            </a:extLst>
          </p:cNvPr>
          <p:cNvSpPr>
            <a:spLocks noGrp="1"/>
          </p:cNvSpPr>
          <p:nvPr/>
        </p:nvSpPr>
        <p:spPr>
          <a:xfrm>
            <a:off x="7477125" y="3733800"/>
            <a:ext cx="309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agents as state graphs</a:t>
            </a:r>
          </a:p>
        </p:txBody>
      </p:sp>
      <p:sp>
        <p:nvSpPr>
          <p:cNvPr id="35" name="anchor-source-3">
            <a:extLst>
              <a:ext uri="{FF2B5EF4-FFF2-40B4-BE49-F238E27FC236}">
                <a16:creationId xmlns:a16="http://schemas.microsoft.com/office/drawing/2014/main" id="{095A7737-1C00-4C87-9C39-4EE87A915AD0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3095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64103"/>
          </a:bodyPr>
          <a:lstStyle/>
          <a:p>
            <a:pPr algn="ctr">
              <a:buNone/>
              <a:defRPr sz="9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Peter Steinberger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3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4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5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4F9D81-5232-4606-8300-65ADA5594AD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今天只回答三个问题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69C003-9073-4973-BE77-C65D4337635D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五层和 DSH 都只服务这三问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DE8197-2EBD-4CED-8BC9-2D620FBAB699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0BF025-E5E7-415D-A6C5-D8C2EFBEDA29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6477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378FC25-E79A-4587-A32F-46F969B3E92C}"/>
              </a:ext>
            </a:extLst>
          </p:cNvPr>
          <p:cNvSpPr>
            <a:spLocks noGrp="1"/>
          </p:cNvSpPr>
          <p:nvPr/>
        </p:nvSpPr>
        <p:spPr>
          <a:xfrm>
            <a:off x="1714500" y="2428875"/>
            <a:ext cx="666750" cy="9525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6EC273-D0EA-45E5-979E-1DA9822BBD7C}"/>
              </a:ext>
            </a:extLst>
          </p:cNvPr>
          <p:cNvSpPr>
            <a:spLocks noGrp="1"/>
          </p:cNvSpPr>
          <p:nvPr/>
        </p:nvSpPr>
        <p:spPr>
          <a:xfrm>
            <a:off x="2647950" y="2219325"/>
            <a:ext cx="7810500" cy="495300"/>
          </a:xfrm>
          <a:prstGeom prst="roundRect">
            <a:avLst>
              <a:gd name="adj" fmla="val 15385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为什么工程注意力会从一句 prompt 上移到系统设计？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4609F3-6E0B-4429-BBAA-C48647846767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6477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B766B5D-D049-469D-A35D-A52389E29E08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666750" cy="9525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FB3FA8-DD1E-446A-A821-C321AADD5F6B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7810500" cy="495300"/>
          </a:xfrm>
          <a:prstGeom prst="roundRect">
            <a:avLst>
              <a:gd name="adj" fmla="val 15385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为什么可靠性交付最终要落在 Harness？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2CC39AA-27BC-49F0-88E2-65615130D784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6477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CE820D4-A3FA-4DEC-A74C-F5D9D5E3B16E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666750" cy="9525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223016-6B36-4D94-8696-808D8CEE4178}"/>
              </a:ext>
            </a:extLst>
          </p:cNvPr>
          <p:cNvSpPr>
            <a:spLocks noGrp="1"/>
          </p:cNvSpPr>
          <p:nvPr/>
        </p:nvSpPr>
        <p:spPr>
          <a:xfrm>
            <a:off x="2647950" y="4219575"/>
            <a:ext cx="7810500" cy="495300"/>
          </a:xfrm>
          <a:prstGeom prst="roundRect">
            <a:avLst>
              <a:gd name="adj" fmla="val 15385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OPC 怎样从现成开始，又不被现成的边界锁住？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2807CD9-BC07-4AE4-8944-B83A9666345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先看：是什么把人一步步往上推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73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74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3EF70F-6A2F-4775-901D-DFCB9C64EE4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同一台发动机，把人的动作一格格往上推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A83F3A-7BD3-44B3-90DB-6DCECC7615F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五层不是五种潮流，而是同一因果链的五次换挡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E5BB30-6870-4753-A2B2-9B89DE6D04E4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11D89E-7B3F-4DF9-8C68-228D9C5C34B7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428875" cy="161925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50%</a:t>
            </a:r>
          </a:p>
          <a:p>
            <a:pPr algn="ctr"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可靠性任务长度</a:t>
            </a:r>
          </a:p>
          <a:p>
            <a:pPr algn="ctr"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约每 7 个月翻倍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B7FAAA-8DC9-49F8-8022-7DC7EDAADA8B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2238375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METR · 独立评估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83875FF-C192-43DD-B050-09BEDA50DD0B}"/>
              </a:ext>
            </a:extLst>
          </p:cNvPr>
          <p:cNvSpPr>
            <a:spLocks noGrp="1"/>
          </p:cNvSpPr>
          <p:nvPr/>
        </p:nvSpPr>
        <p:spPr>
          <a:xfrm>
            <a:off x="3905250" y="2667000"/>
            <a:ext cx="1762125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模型能力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更强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C2EB7A-F936-4DBF-B4FC-B1305352A992}"/>
              </a:ext>
            </a:extLst>
          </p:cNvPr>
          <p:cNvSpPr>
            <a:spLocks noGrp="1"/>
          </p:cNvSpPr>
          <p:nvPr/>
        </p:nvSpPr>
        <p:spPr>
          <a:xfrm>
            <a:off x="6143625" y="2667000"/>
            <a:ext cx="1762125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反复雕一句 prompt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边际收益更低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E069AF-6D0A-4854-842C-94B008545E6A}"/>
              </a:ext>
            </a:extLst>
          </p:cNvPr>
          <p:cNvSpPr>
            <a:spLocks noGrp="1"/>
          </p:cNvSpPr>
          <p:nvPr/>
        </p:nvSpPr>
        <p:spPr>
          <a:xfrm>
            <a:off x="8382000" y="2667000"/>
            <a:ext cx="1762125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工程杠杆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向上移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69BAC9-A158-4E12-BE96-33236DD578F6}"/>
              </a:ext>
            </a:extLst>
          </p:cNvPr>
          <p:cNvSpPr>
            <a:spLocks noGrp="1"/>
          </p:cNvSpPr>
          <p:nvPr/>
        </p:nvSpPr>
        <p:spPr>
          <a:xfrm>
            <a:off x="3905250" y="3714750"/>
            <a:ext cx="6667500" cy="428625"/>
          </a:xfrm>
          <a:prstGeom prst="roundRect">
            <a:avLst>
              <a:gd name="adj" fmla="val 17778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写对一句话  →  设计一次运行  →  设计系统如何工作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F26EC6-5B2B-4115-A76B-9DB843E21EE9}"/>
              </a:ext>
            </a:extLst>
          </p:cNvPr>
          <p:cNvSpPr>
            <a:spLocks noGrp="1"/>
          </p:cNvSpPr>
          <p:nvPr/>
        </p:nvSpPr>
        <p:spPr>
          <a:xfrm>
            <a:off x="704850" y="4524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4F4C65-F849-4A4D-A1CC-8FB5B3AC0650}"/>
              </a:ext>
            </a:extLst>
          </p:cNvPr>
          <p:cNvSpPr>
            <a:spLocks noGrp="1"/>
          </p:cNvSpPr>
          <p:nvPr/>
        </p:nvSpPr>
        <p:spPr>
          <a:xfrm>
            <a:off x="933450" y="4638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“prompt 的精确措辞，越来越不重要”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BE7D3E2-0A14-4FA5-8C6C-76246E2AD23B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Anthropic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F09C2AC-5E70-4970-8C00-0DE53EC67DBB}"/>
              </a:ext>
            </a:extLst>
          </p:cNvPr>
          <p:cNvSpPr>
            <a:spLocks noGrp="1"/>
          </p:cNvSpPr>
          <p:nvPr/>
        </p:nvSpPr>
        <p:spPr>
          <a:xfrm>
            <a:off x="704850" y="547687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叠加，不是替代</a:t>
            </a:r>
          </a:p>
        </p:txBody>
      </p:sp>
      <p:cxnSp>
        <p:nvCxnSpPr>
          <p:cNvPr id="89" name="Straight Arrow Connector 88"/>
          <p:cNvCxnSpPr>
            <a:stCxn id="10" idx="3"/>
            <a:endCxn id="12" idx="1"/>
          </p:cNvCxnSpPr>
          <p:nvPr/>
        </p:nvCxnSpPr>
        <p:spPr>
          <a:xfrm>
            <a:off x="5667375" y="3024188"/>
            <a:ext cx="4762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90" name="Straight Arrow Connector 89"/>
          <p:cNvCxnSpPr>
            <a:stCxn id="12" idx="3"/>
            <a:endCxn id="14" idx="1"/>
          </p:cNvCxnSpPr>
          <p:nvPr/>
        </p:nvCxnSpPr>
        <p:spPr>
          <a:xfrm>
            <a:off x="7905750" y="3024188"/>
            <a:ext cx="4762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5EC674-98A9-4B04-BDED-A42D7DA1E00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从“说什么”到“看什么”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184A62-B99F-45C2-B5A2-14D0C221534A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前两层 Prompt 与 Context：光会说不够，还得看对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79838D-BC20-4A43-B584-7DD3DFD3992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C2F4C9-07FE-48CD-8AD1-640BEA736429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485775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Prompt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告诉模型这次该怎么做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把所有系统问题都塞进更长 prompt</a:t>
            </a:r>
          </a:p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= 用文字弥补本该由系统承担的控制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D2A75-C3E1-403C-B7CA-BD993BF5B55B}"/>
              </a:ext>
            </a:extLst>
          </p:cNvPr>
          <p:cNvSpPr>
            <a:spLocks noGrp="1"/>
          </p:cNvSpPr>
          <p:nvPr/>
        </p:nvSpPr>
        <p:spPr>
          <a:xfrm>
            <a:off x="6619875" y="2143125"/>
            <a:ext cx="4857750" cy="24765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Context engineering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决定模型此刻该看到什么</a:t>
            </a:r>
          </a:p>
          <a:p>
            <a:endParaRPr sz="1425" b="0">
              <a:solidFill>
                <a:srgbClr val="1F2937"/>
              </a:solidFill>
            </a:endParaRPr>
          </a:p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context rot（上下文腐化）：材料越多</a:t>
            </a:r>
          </a:p>
          <a:p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关键内容越容易被淹没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E4156B-B97E-452C-B03C-4C933C42260C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6824014-65BE-4B6B-9890-EA5CC8CB6A95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“不是塞得越多越好，而是让模型此刻看到正确材料。”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C2CDA1-95FE-4AD9-8F88-296BE6056DD0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Context engineering 的核心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2A5A23-641A-49E3-8354-8CEAA4A4828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能行动之后，问题变成：它在哪个受控环境里行动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20DAA-B098-44AD-904F-CB1193102F87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第三层 Harness：一次动作发生时的运行与治理边界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6F6231-D683-4262-966E-29280E15CFBA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47CF74-EF65-49BA-AFEF-2F0E7E73B69F}"/>
              </a:ext>
            </a:extLst>
          </p:cNvPr>
          <p:cNvSpPr>
            <a:spLocks noGrp="1"/>
          </p:cNvSpPr>
          <p:nvPr/>
        </p:nvSpPr>
        <p:spPr>
          <a:xfrm>
            <a:off x="1524000" y="2171700"/>
            <a:ext cx="9144000" cy="83820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 = Model + Harness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978D20-623F-4E2D-84C6-2D0C7A94A42D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148654-B48B-4CB3-B7F0-F015772FBD3F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8909F3-4C75-41E0-86BA-93F6D2CE165E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5BF741-B9E2-4CEF-AD6B-D6B128D1EFA8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5B70C7-149B-4810-9730-137BD1FDD51E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执行记录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C10DCC-A51D-4BF0-8645-D2EC8181A539}"/>
              </a:ext>
            </a:extLst>
          </p:cNvPr>
          <p:cNvSpPr>
            <a:spLocks noGrp="1"/>
          </p:cNvSpPr>
          <p:nvPr/>
        </p:nvSpPr>
        <p:spPr>
          <a:xfrm>
            <a:off x="9620250" y="33337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D74D192-638A-4D1E-AD0E-C40102613128}"/>
              </a:ext>
            </a:extLst>
          </p:cNvPr>
          <p:cNvSpPr>
            <a:spLocks noGrp="1"/>
          </p:cNvSpPr>
          <p:nvPr/>
        </p:nvSpPr>
        <p:spPr>
          <a:xfrm>
            <a:off x="1143000" y="3857625"/>
            <a:ext cx="99060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什么能做、谁来检查、怎样留下记录：模型之外的一切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D394D1-C03C-4A2C-943A-A2B1681A212D}"/>
              </a:ext>
            </a:extLst>
          </p:cNvPr>
          <p:cNvSpPr>
            <a:spLocks noGrp="1"/>
          </p:cNvSpPr>
          <p:nvPr/>
        </p:nvSpPr>
        <p:spPr>
          <a:xfrm>
            <a:off x="1714500" y="4524375"/>
            <a:ext cx="8763000" cy="428625"/>
          </a:xfrm>
          <a:prstGeom prst="roundRect">
            <a:avLst>
              <a:gd name="adj" fmla="val 17778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一次运行可靠后，才有资格讨论何时重试、谁与谁协作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6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61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62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229" name="slide-title">
            <a:extLst>
              <a:ext uri="{FF2B5EF4-FFF2-40B4-BE49-F238E27FC236}">
                <a16:creationId xmlns:a16="http://schemas.microsoft.com/office/drawing/2014/main" id="{A26AE55A-6E7B-44AE-B491-6CCE11EF5B9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defRPr sz="21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管时间上的反馈；Graph 管任务之间的依赖</a:t>
            </a:r>
          </a:p>
        </p:txBody>
      </p:sp>
      <p:sp>
        <p:nvSpPr>
          <p:cNvPr id="230" name="slide-subtitle">
            <a:extLst>
              <a:ext uri="{FF2B5EF4-FFF2-40B4-BE49-F238E27FC236}">
                <a16:creationId xmlns:a16="http://schemas.microsoft.com/office/drawing/2014/main" id="{9EA431B4-1651-4618-B6FF-2980D9E9CB7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defRPr sz="14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26A78"/>
                </a:solidFill>
                <a:latin typeface="Arial"/>
                <a:ea typeface="Arial"/>
                <a:cs typeface="Arial"/>
              </a:rPr>
              <a:t>Loop 让一次执行知错再改；Graph 把谁先做、谁并行、何时汇合写清楚</a:t>
            </a:r>
          </a:p>
        </p:txBody>
      </p:sp>
      <p:sp>
        <p:nvSpPr>
          <p:cNvPr id="231" name="section-rule">
            <a:extLst>
              <a:ext uri="{FF2B5EF4-FFF2-40B4-BE49-F238E27FC236}">
                <a16:creationId xmlns:a16="http://schemas.microsoft.com/office/drawing/2014/main" id="{CA13F1A5-1823-433E-81E9-1A7BB6BE4498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2" name="loop-heading">
            <a:extLst>
              <a:ext uri="{FF2B5EF4-FFF2-40B4-BE49-F238E27FC236}">
                <a16:creationId xmlns:a16="http://schemas.microsoft.com/office/drawing/2014/main" id="{44EEF591-D66F-49B6-915F-BA532876B629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5238"/>
          </a:bodyPr>
          <a:lstStyle/>
          <a:p>
            <a:pPr algn="l">
              <a:defRPr sz="1575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LOOP：没通过，就带着反馈再做一次</a:t>
            </a:r>
          </a:p>
        </p:txBody>
      </p:sp>
      <p:sp>
        <p:nvSpPr>
          <p:cNvPr id="233" name="graph-heading">
            <a:extLst>
              <a:ext uri="{FF2B5EF4-FFF2-40B4-BE49-F238E27FC236}">
                <a16:creationId xmlns:a16="http://schemas.microsoft.com/office/drawing/2014/main" id="{258B3783-0DD5-44CC-9446-CDE353CEF55A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5238"/>
          </a:bodyPr>
          <a:lstStyle/>
          <a:p>
            <a:pPr algn="l">
              <a:defRPr sz="1575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GRAPH：把复杂任务拆成有依赖的节点</a:t>
            </a:r>
          </a:p>
        </p:txBody>
      </p:sp>
      <p:sp>
        <p:nvSpPr>
          <p:cNvPr id="234" name="graph-example">
            <a:extLst>
              <a:ext uri="{FF2B5EF4-FFF2-40B4-BE49-F238E27FC236}">
                <a16:creationId xmlns:a16="http://schemas.microsoft.com/office/drawing/2014/main" id="{CF4626DC-CEF6-49AA-947E-D2FB5A7DF1B4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3333"/>
          </a:bodyPr>
          <a:lstStyle/>
          <a:p>
            <a:pPr algn="l">
              <a:defRPr sz="120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例：修复登录故障</a:t>
            </a:r>
          </a:p>
        </p:txBody>
      </p:sp>
      <p:sp>
        <p:nvSpPr>
          <p:cNvPr id="235" name="loop-execute">
            <a:extLst>
              <a:ext uri="{FF2B5EF4-FFF2-40B4-BE49-F238E27FC236}">
                <a16:creationId xmlns:a16="http://schemas.microsoft.com/office/drawing/2014/main" id="{A13B57F0-FAA1-482A-A809-C56D4C4CD980}"/>
              </a:ext>
            </a:extLst>
          </p:cNvPr>
          <p:cNvSpPr>
            <a:spLocks noGrp="1"/>
          </p:cNvSpPr>
          <p:nvPr/>
        </p:nvSpPr>
        <p:spPr>
          <a:xfrm>
            <a:off x="904875" y="3190875"/>
            <a:ext cx="1190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36" name="loop-verify">
            <a:extLst>
              <a:ext uri="{FF2B5EF4-FFF2-40B4-BE49-F238E27FC236}">
                <a16:creationId xmlns:a16="http://schemas.microsoft.com/office/drawing/2014/main" id="{93ABF9DB-57C6-4D30-ABCA-E90D479ED978}"/>
              </a:ext>
            </a:extLst>
          </p:cNvPr>
          <p:cNvSpPr>
            <a:spLocks noGrp="1"/>
          </p:cNvSpPr>
          <p:nvPr/>
        </p:nvSpPr>
        <p:spPr>
          <a:xfrm>
            <a:off x="2619375" y="3190875"/>
            <a:ext cx="1190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</a:t>
            </a:r>
          </a:p>
        </p:txBody>
      </p:sp>
      <p:sp>
        <p:nvSpPr>
          <p:cNvPr id="237" name="loop-decision">
            <a:extLst>
              <a:ext uri="{FF2B5EF4-FFF2-40B4-BE49-F238E27FC236}">
                <a16:creationId xmlns:a16="http://schemas.microsoft.com/office/drawing/2014/main" id="{62F73BA2-F304-404D-AFB3-06B2D53D6B2A}"/>
              </a:ext>
            </a:extLst>
          </p:cNvPr>
          <p:cNvSpPr>
            <a:spLocks noGrp="1"/>
          </p:cNvSpPr>
          <p:nvPr/>
        </p:nvSpPr>
        <p:spPr>
          <a:xfrm>
            <a:off x="4400550" y="3105150"/>
            <a:ext cx="876300" cy="7239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1423"/>
            </a:solidFill>
            <a:prstDash val="solid"/>
          </a:ln>
        </p:spPr>
        <p:txBody>
          <a:bodyPr lIns="19050" tIns="19050" rIns="19050" bIns="19050" anchor="ctr">
            <a:normAutofit fontScale="78704"/>
          </a:bodyPr>
          <a:lstStyle/>
          <a:p>
            <a:pPr algn="ctr">
              <a:defRPr sz="135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通过？</a:t>
            </a:r>
          </a:p>
        </p:txBody>
      </p:sp>
      <p:sp>
        <p:nvSpPr>
          <p:cNvPr id="238" name="loop-done">
            <a:extLst>
              <a:ext uri="{FF2B5EF4-FFF2-40B4-BE49-F238E27FC236}">
                <a16:creationId xmlns:a16="http://schemas.microsoft.com/office/drawing/2014/main" id="{1F57E71C-2C64-4D06-8CE4-373AA2543830}"/>
              </a:ext>
            </a:extLst>
          </p:cNvPr>
          <p:cNvSpPr>
            <a:spLocks noGrp="1"/>
          </p:cNvSpPr>
          <p:nvPr/>
        </p:nvSpPr>
        <p:spPr>
          <a:xfrm>
            <a:off x="4838700" y="4179703"/>
            <a:ext cx="876300" cy="438150"/>
          </a:xfrm>
          <a:prstGeom prst="roundRect">
            <a:avLst>
              <a:gd name="adj" fmla="val 13043"/>
            </a:avLst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</a:t>
            </a:r>
            <a:endParaRPr sz="14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3" name="Straight Arrow Connector 272"/>
          <p:cNvCxnSpPr>
            <a:stCxn id="235" idx="3"/>
            <a:endCxn id="236" idx="1"/>
          </p:cNvCxnSpPr>
          <p:nvPr/>
        </p:nvCxnSpPr>
        <p:spPr>
          <a:xfrm>
            <a:off x="2095500" y="3467100"/>
            <a:ext cx="52387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74" name="Straight Arrow Connector 273"/>
          <p:cNvCxnSpPr>
            <a:stCxn id="236" idx="3"/>
            <a:endCxn id="237" idx="1"/>
          </p:cNvCxnSpPr>
          <p:nvPr/>
        </p:nvCxnSpPr>
        <p:spPr>
          <a:xfrm>
            <a:off x="3810000" y="3467100"/>
            <a:ext cx="5905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75" name="Straight Arrow Connector 274"/>
          <p:cNvCxnSpPr>
            <a:cxnSpLocks/>
            <a:stCxn id="237" idx="3"/>
            <a:endCxn id="238" idx="0"/>
          </p:cNvCxnSpPr>
          <p:nvPr/>
        </p:nvCxnSpPr>
        <p:spPr>
          <a:xfrm>
            <a:off x="5276850" y="3467100"/>
            <a:ext cx="0" cy="712603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76" name="Elbow Connector 275"/>
          <p:cNvCxnSpPr>
            <a:cxnSpLocks/>
            <a:stCxn id="237" idx="2"/>
            <a:endCxn id="235" idx="2"/>
          </p:cNvCxnSpPr>
          <p:nvPr/>
        </p:nvCxnSpPr>
        <p:spPr>
          <a:xfrm rot="5400000" flipH="1">
            <a:off x="3126581" y="2116932"/>
            <a:ext cx="85725" cy="3338512"/>
          </a:xfrm>
          <a:prstGeom prst="bentConnector3">
            <a:avLst>
              <a:gd name="adj1" fmla="val -266667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43" name="loop-yes">
            <a:extLst>
              <a:ext uri="{FF2B5EF4-FFF2-40B4-BE49-F238E27FC236}">
                <a16:creationId xmlns:a16="http://schemas.microsoft.com/office/drawing/2014/main" id="{255DA673-F0C3-423D-AEC6-1E1AB8308C43}"/>
              </a:ext>
            </a:extLst>
          </p:cNvPr>
          <p:cNvSpPr>
            <a:spLocks noGrp="1"/>
          </p:cNvSpPr>
          <p:nvPr/>
        </p:nvSpPr>
        <p:spPr>
          <a:xfrm>
            <a:off x="4933950" y="3676650"/>
            <a:ext cx="342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2778"/>
          </a:bodyPr>
          <a:lstStyle/>
          <a:p>
            <a:pPr algn="ctr">
              <a:defRPr sz="1125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626A78"/>
                </a:solidFill>
                <a:latin typeface="Arial"/>
                <a:ea typeface="Arial"/>
                <a:cs typeface="Arial"/>
              </a:rPr>
              <a:t>是</a:t>
            </a:r>
            <a:endParaRPr sz="1125" b="1" dirty="0">
              <a:solidFill>
                <a:srgbClr val="626A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loop-no">
            <a:extLst>
              <a:ext uri="{FF2B5EF4-FFF2-40B4-BE49-F238E27FC236}">
                <a16:creationId xmlns:a16="http://schemas.microsoft.com/office/drawing/2014/main" id="{65030EF4-7B8D-46B6-894D-382540EA8FFA}"/>
              </a:ext>
            </a:extLst>
          </p:cNvPr>
          <p:cNvSpPr>
            <a:spLocks noGrp="1"/>
          </p:cNvSpPr>
          <p:nvPr/>
        </p:nvSpPr>
        <p:spPr>
          <a:xfrm>
            <a:off x="2362200" y="40481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750"/>
          </a:bodyPr>
          <a:lstStyle/>
          <a:p>
            <a:pPr algn="ctr">
              <a:defRPr sz="12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否：反馈下一轮</a:t>
            </a:r>
          </a:p>
        </p:txBody>
      </p:sp>
      <p:sp>
        <p:nvSpPr>
          <p:cNvPr id="245" name="dag-incident">
            <a:extLst>
              <a:ext uri="{FF2B5EF4-FFF2-40B4-BE49-F238E27FC236}">
                <a16:creationId xmlns:a16="http://schemas.microsoft.com/office/drawing/2014/main" id="{7DB82A42-B812-4016-A876-DA2FC10B7420}"/>
              </a:ext>
            </a:extLst>
          </p:cNvPr>
          <p:cNvSpPr>
            <a:spLocks noGrp="1"/>
          </p:cNvSpPr>
          <p:nvPr/>
        </p:nvSpPr>
        <p:spPr>
          <a:xfrm>
            <a:off x="6524625" y="3209925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收到故障</a:t>
            </a:r>
          </a:p>
        </p:txBody>
      </p:sp>
      <p:sp>
        <p:nvSpPr>
          <p:cNvPr id="246" name="dag-reproduce">
            <a:extLst>
              <a:ext uri="{FF2B5EF4-FFF2-40B4-BE49-F238E27FC236}">
                <a16:creationId xmlns:a16="http://schemas.microsoft.com/office/drawing/2014/main" id="{98A320FF-63DF-4FF4-9D2A-47A3C59132A2}"/>
              </a:ext>
            </a:extLst>
          </p:cNvPr>
          <p:cNvSpPr>
            <a:spLocks noGrp="1"/>
          </p:cNvSpPr>
          <p:nvPr/>
        </p:nvSpPr>
        <p:spPr>
          <a:xfrm>
            <a:off x="7572375" y="3209925"/>
            <a:ext cx="895350" cy="495300"/>
          </a:xfrm>
          <a:prstGeom prst="roundRect">
            <a:avLst>
              <a:gd name="adj" fmla="val 11538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复现问题</a:t>
            </a:r>
          </a:p>
        </p:txBody>
      </p:sp>
      <p:sp>
        <p:nvSpPr>
          <p:cNvPr id="247" name="dag-fix">
            <a:extLst>
              <a:ext uri="{FF2B5EF4-FFF2-40B4-BE49-F238E27FC236}">
                <a16:creationId xmlns:a16="http://schemas.microsoft.com/office/drawing/2014/main" id="{71F88942-F721-4388-81C9-FC60EA935947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952500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定位并</a:t>
            </a:r>
          </a:p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8" name="dag-regression">
            <a:extLst>
              <a:ext uri="{FF2B5EF4-FFF2-40B4-BE49-F238E27FC236}">
                <a16:creationId xmlns:a16="http://schemas.microsoft.com/office/drawing/2014/main" id="{7CBA32D4-D128-4F8B-BE60-3C90B8B28802}"/>
              </a:ext>
            </a:extLst>
          </p:cNvPr>
          <p:cNvSpPr>
            <a:spLocks noGrp="1"/>
          </p:cNvSpPr>
          <p:nvPr/>
        </p:nvSpPr>
        <p:spPr>
          <a:xfrm>
            <a:off x="8763000" y="3810000"/>
            <a:ext cx="952500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补回归</a:t>
            </a:r>
          </a:p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49" name="dag-integration">
            <a:extLst>
              <a:ext uri="{FF2B5EF4-FFF2-40B4-BE49-F238E27FC236}">
                <a16:creationId xmlns:a16="http://schemas.microsoft.com/office/drawing/2014/main" id="{A9783E7A-A552-4A2E-B611-F0730641637C}"/>
              </a:ext>
            </a:extLst>
          </p:cNvPr>
          <p:cNvSpPr>
            <a:spLocks noGrp="1"/>
          </p:cNvSpPr>
          <p:nvPr/>
        </p:nvSpPr>
        <p:spPr>
          <a:xfrm>
            <a:off x="10001250" y="3181350"/>
            <a:ext cx="952500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集成</a:t>
            </a:r>
          </a:p>
          <a:p>
            <a:pPr algn="ctr">
              <a:defRPr sz="12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50" name="dag-deliver">
            <a:extLst>
              <a:ext uri="{FF2B5EF4-FFF2-40B4-BE49-F238E27FC236}">
                <a16:creationId xmlns:a16="http://schemas.microsoft.com/office/drawing/2014/main" id="{D43C52A6-1379-4500-B1FC-F662CED5C6CE}"/>
              </a:ext>
            </a:extLst>
          </p:cNvPr>
          <p:cNvSpPr>
            <a:spLocks noGrp="1"/>
          </p:cNvSpPr>
          <p:nvPr/>
        </p:nvSpPr>
        <p:spPr>
          <a:xfrm>
            <a:off x="11239500" y="3209925"/>
            <a:ext cx="685800" cy="495300"/>
          </a:xfrm>
          <a:prstGeom prst="roundRect">
            <a:avLst>
              <a:gd name="adj" fmla="val 11538"/>
            </a:avLst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cxnSp>
        <p:nvCxnSpPr>
          <p:cNvPr id="285" name="Straight Arrow Connector 284"/>
          <p:cNvCxnSpPr>
            <a:stCxn id="245" idx="3"/>
            <a:endCxn id="246" idx="1"/>
          </p:cNvCxnSpPr>
          <p:nvPr/>
        </p:nvCxnSpPr>
        <p:spPr>
          <a:xfrm>
            <a:off x="7362825" y="3457575"/>
            <a:ext cx="2095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86" name="Elbow Connector 285"/>
          <p:cNvCxnSpPr>
            <a:stCxn id="246" idx="3"/>
            <a:endCxn id="247" idx="1"/>
          </p:cNvCxnSpPr>
          <p:nvPr/>
        </p:nvCxnSpPr>
        <p:spPr>
          <a:xfrm flipV="1">
            <a:off x="8467725" y="3057525"/>
            <a:ext cx="295275" cy="4000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87" name="Elbow Connector 286"/>
          <p:cNvCxnSpPr>
            <a:stCxn id="246" idx="3"/>
            <a:endCxn id="248" idx="1"/>
          </p:cNvCxnSpPr>
          <p:nvPr/>
        </p:nvCxnSpPr>
        <p:spPr>
          <a:xfrm>
            <a:off x="8467725" y="3457575"/>
            <a:ext cx="295275" cy="6286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88" name="Elbow Connector 287"/>
          <p:cNvCxnSpPr>
            <a:stCxn id="247" idx="3"/>
            <a:endCxn id="249" idx="1"/>
          </p:cNvCxnSpPr>
          <p:nvPr/>
        </p:nvCxnSpPr>
        <p:spPr>
          <a:xfrm>
            <a:off x="9715500" y="3057525"/>
            <a:ext cx="285750" cy="4000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89" name="Elbow Connector 288"/>
          <p:cNvCxnSpPr>
            <a:stCxn id="248" idx="3"/>
            <a:endCxn id="249" idx="1"/>
          </p:cNvCxnSpPr>
          <p:nvPr/>
        </p:nvCxnSpPr>
        <p:spPr>
          <a:xfrm flipV="1">
            <a:off x="9715500" y="3457575"/>
            <a:ext cx="285750" cy="628650"/>
          </a:xfrm>
          <a:prstGeom prst="bentConnector3">
            <a:avLst>
              <a:gd name="adj1" fmla="val 50000"/>
            </a:avLst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90" name="Straight Arrow Connector 289"/>
          <p:cNvCxnSpPr>
            <a:stCxn id="249" idx="3"/>
            <a:endCxn id="250" idx="1"/>
          </p:cNvCxnSpPr>
          <p:nvPr/>
        </p:nvCxnSpPr>
        <p:spPr>
          <a:xfrm>
            <a:off x="10953750" y="3457575"/>
            <a:ext cx="28575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57" name="dag-note">
            <a:extLst>
              <a:ext uri="{FF2B5EF4-FFF2-40B4-BE49-F238E27FC236}">
                <a16:creationId xmlns:a16="http://schemas.microsoft.com/office/drawing/2014/main" id="{E73A05B7-FA95-4B34-84A9-0D94AE1C66A7}"/>
              </a:ext>
            </a:extLst>
          </p:cNvPr>
          <p:cNvSpPr>
            <a:spLocks noGrp="1"/>
          </p:cNvSpPr>
          <p:nvPr/>
        </p:nvSpPr>
        <p:spPr>
          <a:xfrm>
            <a:off x="6572250" y="451485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1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26A78"/>
                </a:solidFill>
                <a:latin typeface="Arial"/>
                <a:ea typeface="Arial"/>
                <a:cs typeface="Arial"/>
              </a:rPr>
              <a:t>节点可以是 agent、工具或验证器；节点内部仍可以运行自己的 Loop</a:t>
            </a:r>
          </a:p>
        </p:txBody>
      </p:sp>
      <p:sp>
        <p:nvSpPr>
          <p:cNvPr id="258" name="slide7-callout">
            <a:extLst>
              <a:ext uri="{FF2B5EF4-FFF2-40B4-BE49-F238E27FC236}">
                <a16:creationId xmlns:a16="http://schemas.microsoft.com/office/drawing/2014/main" id="{042B83D6-B370-4C45-A346-59F4A4AFF134}"/>
              </a:ext>
            </a:extLst>
          </p:cNvPr>
          <p:cNvSpPr>
            <a:spLocks noGrp="1"/>
          </p:cNvSpPr>
          <p:nvPr/>
        </p:nvSpPr>
        <p:spPr>
          <a:xfrm>
            <a:off x="704850" y="5191125"/>
            <a:ext cx="10782300" cy="476250"/>
          </a:xfrm>
          <a:prstGeom prst="roundRect">
            <a:avLst>
              <a:gd name="adj" fmla="val 12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Loop 把反馈带回下一轮；Graph 把节点间的依赖写清楚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79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80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81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1A8AB4-7145-4BB1-AA60-D23C8A96353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五层同时活着，但不是一座从小到大的金字塔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A4A406-F3A4-42DD-A63D-01C81836070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这是一张职责与依赖图，不是运行时面积图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26CD05-7437-4077-BE0A-91A2643FDA55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ingle-call-label">
            <a:extLst>
              <a:ext uri="{FF2B5EF4-FFF2-40B4-BE49-F238E27FC236}">
                <a16:creationId xmlns:a16="http://schemas.microsoft.com/office/drawing/2014/main" id="{7794A7AB-1866-46C9-AA93-483372882E61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2593"/>
          </a:bodyPr>
          <a:lstStyle/>
          <a:p>
            <a:pPr algn="l">
              <a:buNone/>
              <a:defRPr sz="13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一次模型调用：先说清任务，再挑选材料</a:t>
            </a:r>
          </a:p>
        </p:txBody>
      </p:sp>
      <p:sp>
        <p:nvSpPr>
          <p:cNvPr id="23" name="layer-prompt">
            <a:extLst>
              <a:ext uri="{FF2B5EF4-FFF2-40B4-BE49-F238E27FC236}">
                <a16:creationId xmlns:a16="http://schemas.microsoft.com/office/drawing/2014/main" id="{22269F1C-0652-43C1-A9AF-7EB3014749C8}"/>
              </a:ext>
            </a:extLst>
          </p:cNvPr>
          <p:cNvSpPr>
            <a:spLocks noGrp="1"/>
          </p:cNvSpPr>
          <p:nvPr/>
        </p:nvSpPr>
        <p:spPr>
          <a:xfrm>
            <a:off x="904875" y="2619375"/>
            <a:ext cx="2095500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Prompt</a:t>
            </a:r>
          </a:p>
          <a:p>
            <a:pPr algn="ctr">
              <a:buNone/>
              <a:defRPr sz="15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24" name="layer-context">
            <a:extLst>
              <a:ext uri="{FF2B5EF4-FFF2-40B4-BE49-F238E27FC236}">
                <a16:creationId xmlns:a16="http://schemas.microsoft.com/office/drawing/2014/main" id="{AD660BE0-AC9E-43D1-8236-8AA91BB65A9A}"/>
              </a:ext>
            </a:extLst>
          </p:cNvPr>
          <p:cNvSpPr>
            <a:spLocks noGrp="1"/>
          </p:cNvSpPr>
          <p:nvPr/>
        </p:nvSpPr>
        <p:spPr>
          <a:xfrm>
            <a:off x="3714750" y="2619375"/>
            <a:ext cx="2095500" cy="647700"/>
          </a:xfrm>
          <a:prstGeom prst="roundRect">
            <a:avLst>
              <a:gd name="adj" fmla="val 8824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Context</a:t>
            </a:r>
          </a:p>
          <a:p>
            <a:pPr algn="ctr">
              <a:buNone/>
              <a:defRPr sz="15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挑选材料</a:t>
            </a:r>
          </a:p>
        </p:txBody>
      </p:sp>
      <p:sp>
        <p:nvSpPr>
          <p:cNvPr id="25" name="layer-harness">
            <a:extLst>
              <a:ext uri="{FF2B5EF4-FFF2-40B4-BE49-F238E27FC236}">
                <a16:creationId xmlns:a16="http://schemas.microsoft.com/office/drawing/2014/main" id="{89DD92E2-0B7D-407E-BE90-90C36A3DF4CF}"/>
              </a:ext>
            </a:extLst>
          </p:cNvPr>
          <p:cNvSpPr>
            <a:spLocks noGrp="1"/>
          </p:cNvSpPr>
          <p:nvPr/>
        </p:nvSpPr>
        <p:spPr>
          <a:xfrm>
            <a:off x="7000875" y="2457450"/>
            <a:ext cx="4238625" cy="9715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Harness：形成可靠节点</a:t>
            </a:r>
          </a:p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授权 · 执行 · 验证 · 记录</a:t>
            </a:r>
          </a:p>
        </p:txBody>
      </p:sp>
      <p:sp>
        <p:nvSpPr>
          <p:cNvPr id="28" name="layer-loop">
            <a:extLst>
              <a:ext uri="{FF2B5EF4-FFF2-40B4-BE49-F238E27FC236}">
                <a16:creationId xmlns:a16="http://schemas.microsoft.com/office/drawing/2014/main" id="{CBA54A39-9F89-45A4-A513-9E88DC8DCBB3}"/>
              </a:ext>
            </a:extLst>
          </p:cNvPr>
          <p:cNvSpPr>
            <a:spLocks noGrp="1"/>
          </p:cNvSpPr>
          <p:nvPr/>
        </p:nvSpPr>
        <p:spPr>
          <a:xfrm>
            <a:off x="904875" y="3905250"/>
            <a:ext cx="476250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Loop：反复同一节点</a:t>
            </a:r>
          </a:p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检验失败，就把反馈带回下一轮</a:t>
            </a:r>
          </a:p>
        </p:txBody>
      </p:sp>
      <p:sp>
        <p:nvSpPr>
          <p:cNvPr id="29" name="layer-graph">
            <a:extLst>
              <a:ext uri="{FF2B5EF4-FFF2-40B4-BE49-F238E27FC236}">
                <a16:creationId xmlns:a16="http://schemas.microsoft.com/office/drawing/2014/main" id="{8D8C82E4-B267-4899-B637-A5828BB940FB}"/>
              </a:ext>
            </a:extLst>
          </p:cNvPr>
          <p:cNvSpPr>
            <a:spLocks noGrp="1"/>
          </p:cNvSpPr>
          <p:nvPr/>
        </p:nvSpPr>
        <p:spPr>
          <a:xfrm>
            <a:off x="6524625" y="3905250"/>
            <a:ext cx="476250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Graph：编排多个节点</a:t>
            </a:r>
          </a:p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分工、分叉、汇合；部分节点也可以是 Loop</a:t>
            </a:r>
          </a:p>
        </p:txBody>
      </p:sp>
      <p:cxnSp>
        <p:nvCxnSpPr>
          <p:cNvPr id="91" name="Elbow Connector 90"/>
          <p:cNvCxnSpPr>
            <a:stCxn id="25" idx="2"/>
            <a:endCxn id="28" idx="0"/>
          </p:cNvCxnSpPr>
          <p:nvPr/>
        </p:nvCxnSpPr>
        <p:spPr>
          <a:xfrm flipH="1">
            <a:off x="3286125" y="3429000"/>
            <a:ext cx="5834063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92" name="Elbow Connector 91"/>
          <p:cNvCxnSpPr>
            <a:stCxn id="25" idx="2"/>
            <a:endCxn id="29" idx="0"/>
          </p:cNvCxnSpPr>
          <p:nvPr/>
        </p:nvCxnSpPr>
        <p:spPr>
          <a:xfrm flipH="1">
            <a:off x="8905875" y="3429000"/>
            <a:ext cx="214313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32" name="layer-takeaway">
            <a:extLst>
              <a:ext uri="{FF2B5EF4-FFF2-40B4-BE49-F238E27FC236}">
                <a16:creationId xmlns:a16="http://schemas.microsoft.com/office/drawing/2014/main" id="{D451FDDF-3BA7-41DE-A2F6-5E405AE0AA45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0782300" cy="4572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今天重仓成熟的 Prompt / Context / Harness；Loop / Graph 低成本试点</a:t>
            </a:r>
          </a:p>
        </p:txBody>
      </p:sp>
      <p:cxnSp>
        <p:nvCxnSpPr>
          <p:cNvPr id="94" name="Straight Arrow Connector 93"/>
          <p:cNvCxnSpPr>
            <a:stCxn id="23" idx="3"/>
            <a:endCxn id="24" idx="1"/>
          </p:cNvCxnSpPr>
          <p:nvPr/>
        </p:nvCxnSpPr>
        <p:spPr>
          <a:xfrm>
            <a:off x="3000375" y="2943225"/>
            <a:ext cx="71437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95" name="Straight Arrow Connector 94"/>
          <p:cNvCxnSpPr>
            <a:stCxn id="24" idx="3"/>
            <a:endCxn id="25" idx="1"/>
          </p:cNvCxnSpPr>
          <p:nvPr/>
        </p:nvCxnSpPr>
        <p:spPr>
          <a:xfrm>
            <a:off x="5810250" y="2943225"/>
            <a:ext cx="119062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6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65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66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DF3F5F-E020-45F0-BD6B-674D10F4001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每一次真实动作，都要经过一个可靠性边界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73F9C5-D8C1-4F55-86A7-58B9423007F4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这是本 talk 的判断，不是假借报告的排序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10E86E-21D9-45F3-A6B1-E0BBFBB2C777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ADDD8E-8C00-4FB5-9A91-E2E7611E0C8C}"/>
              </a:ext>
            </a:extLst>
          </p:cNvPr>
          <p:cNvSpPr>
            <a:spLocks noGrp="1"/>
          </p:cNvSpPr>
          <p:nvPr/>
        </p:nvSpPr>
        <p:spPr>
          <a:xfrm>
            <a:off x="1381125" y="2714625"/>
            <a:ext cx="20478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模型提出动作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CFC8C3-36B2-4DDC-9FDC-88C832758ABE}"/>
              </a:ext>
            </a:extLst>
          </p:cNvPr>
          <p:cNvSpPr>
            <a:spLocks noGrp="1"/>
          </p:cNvSpPr>
          <p:nvPr/>
        </p:nvSpPr>
        <p:spPr>
          <a:xfrm>
            <a:off x="5067300" y="2714625"/>
            <a:ext cx="20478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Harness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授权 · 执行 · 验证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F464BF-FCA6-44B7-91CB-5389F1926FE7}"/>
              </a:ext>
            </a:extLst>
          </p:cNvPr>
          <p:cNvSpPr>
            <a:spLocks noGrp="1"/>
          </p:cNvSpPr>
          <p:nvPr/>
        </p:nvSpPr>
        <p:spPr>
          <a:xfrm>
            <a:off x="8763000" y="2714625"/>
            <a:ext cx="20478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结果进入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Loop / Graph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B970E0-1215-4656-8D5B-A4E013D5205E}"/>
              </a:ext>
            </a:extLst>
          </p:cNvPr>
          <p:cNvSpPr>
            <a:spLocks noGrp="1"/>
          </p:cNvSpPr>
          <p:nvPr/>
        </p:nvSpPr>
        <p:spPr>
          <a:xfrm>
            <a:off x="1381125" y="3857625"/>
            <a:ext cx="9429750" cy="533400"/>
          </a:xfrm>
          <a:prstGeom prst="roundRect">
            <a:avLst>
              <a:gd name="adj" fmla="val 14286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所有上层组织能力，最终都要落到一个能独立授权、检查、记录的执行边界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B7CACE-EE82-4711-87D1-B025CB89D575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C1F3C32-BE8F-479D-8F87-DD42D60A0872}"/>
              </a:ext>
            </a:extLst>
          </p:cNvPr>
          <p:cNvSpPr>
            <a:spLocks noGrp="1"/>
          </p:cNvSpPr>
          <p:nvPr/>
        </p:nvSpPr>
        <p:spPr>
          <a:xfrm>
            <a:off x="933450" y="492442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“可靠性不是模型的单一属性，而是 Model + Harness 系统的属性”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A00F15-EF6C-4B43-8D5F-26BC05F4F593}"/>
              </a:ext>
            </a:extLst>
          </p:cNvPr>
          <p:cNvSpPr>
            <a:spLocks noGrp="1"/>
          </p:cNvSpPr>
          <p:nvPr/>
        </p:nvSpPr>
        <p:spPr>
          <a:xfrm>
            <a:off x="933450" y="529590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Böckeler 的定义所指向的工程结论</a:t>
            </a:r>
          </a:p>
        </p:txBody>
      </p:sp>
      <p:cxnSp>
        <p:nvCxnSpPr>
          <p:cNvPr id="77" name="Straight Arrow Connector 76"/>
          <p:cNvCxnSpPr>
            <a:stCxn id="8" idx="3"/>
            <a:endCxn id="9" idx="1"/>
          </p:cNvCxnSpPr>
          <p:nvPr/>
        </p:nvCxnSpPr>
        <p:spPr>
          <a:xfrm>
            <a:off x="3429000" y="3009900"/>
            <a:ext cx="163830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78" name="Straight Arrow Connector 77"/>
          <p:cNvCxnSpPr>
            <a:stCxn id="9" idx="3"/>
            <a:endCxn id="10" idx="1"/>
          </p:cNvCxnSpPr>
          <p:nvPr/>
        </p:nvCxnSpPr>
        <p:spPr>
          <a:xfrm>
            <a:off x="7115175" y="3009900"/>
            <a:ext cx="1647825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5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6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00CFA7-38C2-4288-A122-4FA5F522A69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 = Model + Harness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315C7A-C5FB-44AB-98E8-C3FB49EB17F4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harness 就是模型之外的一切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F97D62-79C9-41B0-9842-59F43033318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B58052-D8A2-4D25-AA2D-81FF8BE3C9D1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6858000" cy="85725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能力：Model   +   可靠性：Harness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8FA771-79B2-4DC0-8EF9-C4EB24FA03D5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858724-E5F9-498E-A477-F18702A703DF}"/>
              </a:ext>
            </a:extLst>
          </p:cNvPr>
          <p:cNvSpPr>
            <a:spLocks noGrp="1"/>
          </p:cNvSpPr>
          <p:nvPr/>
        </p:nvSpPr>
        <p:spPr>
          <a:xfrm>
            <a:off x="268605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DA0FA-068F-4719-8E86-725D8071B201}"/>
              </a:ext>
            </a:extLst>
          </p:cNvPr>
          <p:cNvSpPr>
            <a:spLocks noGrp="1"/>
          </p:cNvSpPr>
          <p:nvPr/>
        </p:nvSpPr>
        <p:spPr>
          <a:xfrm>
            <a:off x="441960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8F4AB2-B9AE-46B5-BCB6-CBA73EB28B41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88D7B5-CAC9-43C1-8640-451362804A6F}"/>
              </a:ext>
            </a:extLst>
          </p:cNvPr>
          <p:cNvSpPr>
            <a:spLocks noGrp="1"/>
          </p:cNvSpPr>
          <p:nvPr/>
        </p:nvSpPr>
        <p:spPr>
          <a:xfrm>
            <a:off x="788670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0F142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0F1423"/>
                </a:solidFill>
              </a:rPr>
              <a:t>执行记录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27694D4-DC91-431A-84CA-FB3D489D560E}"/>
              </a:ext>
            </a:extLst>
          </p:cNvPr>
          <p:cNvSpPr>
            <a:spLocks noGrp="1"/>
          </p:cNvSpPr>
          <p:nvPr/>
        </p:nvSpPr>
        <p:spPr>
          <a:xfrm>
            <a:off x="9620250" y="342900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268DCC4-1DC1-4E42-B179-8D18E54F3F80}"/>
              </a:ext>
            </a:extLst>
          </p:cNvPr>
          <p:cNvSpPr>
            <a:spLocks noGrp="1"/>
          </p:cNvSpPr>
          <p:nvPr/>
        </p:nvSpPr>
        <p:spPr>
          <a:xfrm>
            <a:off x="1524000" y="4238625"/>
            <a:ext cx="91440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你买很贵的模型买的是“能力”，“可靠性”是周围那一圈给出来的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325894E-82FC-40EC-A329-8BAAA8503EAA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EFE0264-57D1-414D-9200-9F66D742C020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“雏形早就在——一个 prompt + 一个 Bash Tool + 一个 Edit Tool”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F5DFFB1-44A5-4BC3-8888-2AD6B3296E1B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2024 SWE-bench 最小脚手架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8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9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0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86FF0F-0669-43AF-9401-5256598EC68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有两套控制：事前引导，事后反馈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5E6071-1C87-4646-95DF-5BE85B2C03D7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能写成规则和测试的，就不要让模型猜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67DDF78-56EC-491B-94A6-52FD7B2B5968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91801D-7A72-4956-B944-4C9B0A8D4DFF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4857750" cy="142875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事前引导（Guides）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行动前说明：必须过 lint / 只能用这些工具 / 输出按这个格式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81526F-45F8-4989-AA17-D9A951029E4E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857750" cy="142875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事后反馈（Sensors）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行动后告诉它：测试失败 / 用户拒绝 / 退出码非零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75F73B-DBD8-4169-A501-6476243F2116}"/>
              </a:ext>
            </a:extLst>
          </p:cNvPr>
          <p:cNvSpPr>
            <a:spLocks noGrp="1"/>
          </p:cNvSpPr>
          <p:nvPr/>
        </p:nvSpPr>
        <p:spPr>
          <a:xfrm>
            <a:off x="809625" y="3905250"/>
            <a:ext cx="4857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确定性检查</a:t>
            </a:r>
          </a:p>
          <a:p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测试 / lint / 类型检查：结果可复现、可审计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D311603-F728-4512-9A8B-E1D07A74B218}"/>
              </a:ext>
            </a:extLst>
          </p:cNvPr>
          <p:cNvSpPr>
            <a:spLocks noGrp="1"/>
          </p:cNvSpPr>
          <p:nvPr/>
        </p:nvSpPr>
        <p:spPr>
          <a:xfrm>
            <a:off x="6524625" y="3905250"/>
            <a:ext cx="485775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语义判断</a:t>
            </a:r>
          </a:p>
          <a:p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 review / 人工判断：有价值，但也可能出错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3F7831-1A53-4B08-8D4B-47A08624BAEE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能确定检查的交给系统；需要理解语义的，再交给模型或人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8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58AF05-EE6F-41F4-BF48-73F6C3D9E01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三个动词，看懂 harness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ACEEFA-C6DF-438A-B201-9A2F5B8DF779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圈住、拦住、看清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6B4EFB-6E68-4CE3-95D2-E4D78A0D9405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D25187-3A3E-44EE-A191-F77742DBA2AC}"/>
              </a:ext>
            </a:extLst>
          </p:cNvPr>
          <p:cNvSpPr>
            <a:spLocks noGrp="1"/>
          </p:cNvSpPr>
          <p:nvPr/>
        </p:nvSpPr>
        <p:spPr>
          <a:xfrm>
            <a:off x="809625" y="233362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圈住</a:t>
            </a:r>
          </a:p>
          <a:p>
            <a:endParaRPr sz="1575" b="1">
              <a:solidFill>
                <a:srgbClr val="111827"/>
              </a:solidFill>
            </a:endParaRP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沙箱 + 权限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限制文件、网络和命令范围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先把影响圈住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8EDC39-FEBA-4E87-B941-8A422956E1FA}"/>
              </a:ext>
            </a:extLst>
          </p:cNvPr>
          <p:cNvSpPr>
            <a:spLocks noGrp="1"/>
          </p:cNvSpPr>
          <p:nvPr/>
        </p:nvSpPr>
        <p:spPr>
          <a:xfrm>
            <a:off x="4429125" y="233362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拦住</a:t>
            </a:r>
          </a:p>
          <a:p>
            <a:endParaRPr sz="1575" b="1">
              <a:solidFill>
                <a:srgbClr val="111827"/>
              </a:solidFill>
            </a:endParaRP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验证门禁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错误一出现就停止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不要让失败继续扩散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1068C5B-0617-472A-B8D9-4D505C27092C}"/>
              </a:ext>
            </a:extLst>
          </p:cNvPr>
          <p:cNvSpPr>
            <a:spLocks noGrp="1"/>
          </p:cNvSpPr>
          <p:nvPr/>
        </p:nvSpPr>
        <p:spPr>
          <a:xfrm>
            <a:off x="8048625" y="233362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3813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看清</a:t>
            </a:r>
          </a:p>
          <a:p>
            <a:endParaRPr sz="1575" b="1">
              <a:solidFill>
                <a:srgbClr val="111827"/>
              </a:solidFill>
            </a:endParaRP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可观测性 + 来源记录 + 持续检查（CI）</a:t>
            </a:r>
          </a:p>
          <a:p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执行记录（trace）记下每一步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DF948-9D0E-496B-BCCF-10722BC32A73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模型给能力，harness 给可靠性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1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2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249455-5706-40D3-AF3E-82EAB887755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上层系统能扩大产能，却不能替下层补可靠性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2F91A5-3305-408D-876D-C6D4948993F2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放大与编排之前，先让每个节点可授权、可验证、可追溯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18FF49-DD72-47C3-B309-9C253C635F1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3610BA-D279-440B-A046-5B1419F40AF3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Loop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跨运行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放大反馈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622211-9719-4DFB-8306-211A693DD67D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Graph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跨节点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显式路由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09B642-7F07-49BA-AA87-82DFCE865B97}"/>
              </a:ext>
            </a:extLst>
          </p:cNvPr>
          <p:cNvSpPr>
            <a:spLocks noGrp="1"/>
          </p:cNvSpPr>
          <p:nvPr/>
        </p:nvSpPr>
        <p:spPr>
          <a:xfrm>
            <a:off x="8477250" y="266700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Harness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每次执行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授权 · 检查 · 记录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81C5E9-D8CF-4787-B2FE-1EB74668BAD6}"/>
              </a:ext>
            </a:extLst>
          </p:cNvPr>
          <p:cNvSpPr>
            <a:spLocks noGrp="1"/>
          </p:cNvSpPr>
          <p:nvPr/>
        </p:nvSpPr>
        <p:spPr>
          <a:xfrm>
            <a:off x="1190625" y="4143375"/>
            <a:ext cx="981075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F2937"/>
                </a:solidFill>
              </a:defRPr>
            </a:pPr>
            <a:r>
              <a:rPr sz="1725" b="1">
                <a:solidFill>
                  <a:srgbClr val="1F2937"/>
                </a:solidFill>
              </a:rPr>
              <a:t>没有可靠节点，Loop 会更快放大失败，Graph 会更复杂传播失败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05161E-CC49-4F87-B339-052621495998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7FE365-305F-45D2-B9B4-EE77970FD6CB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“模型可以提议工作图，但确定性检查器决定放行还是拒绝。”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ECC1CD-A4ED-46C5-AC8C-03730527F499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GraphARC：A model proposes a graph of work; a deterministic checker admits it or refuses it.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35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36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37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60" name="slide-title">
            <a:extLst>
              <a:ext uri="{FF2B5EF4-FFF2-40B4-BE49-F238E27FC236}">
                <a16:creationId xmlns:a16="http://schemas.microsoft.com/office/drawing/2014/main" id="{A72FEB96-F8F6-460C-BC74-0C89CA9CFED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关键不是模型说了什么，而是工具执行前有没有再查一次</a:t>
            </a:r>
          </a:p>
        </p:txBody>
      </p:sp>
      <p:sp>
        <p:nvSpPr>
          <p:cNvPr id="61" name="slide-subtitle">
            <a:extLst>
              <a:ext uri="{FF2B5EF4-FFF2-40B4-BE49-F238E27FC236}">
                <a16:creationId xmlns:a16="http://schemas.microsoft.com/office/drawing/2014/main" id="{98A39AD1-24C0-4849-9237-B2644A235BE3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14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26A78"/>
                </a:solidFill>
                <a:latin typeface="Arial"/>
                <a:ea typeface="Arial"/>
                <a:cs typeface="Arial"/>
              </a:rPr>
              <a:t>2026 的安全教训：生成出来像合法调用，不等于系统已经授权</a:t>
            </a:r>
          </a:p>
        </p:txBody>
      </p:sp>
      <p:sp>
        <p:nvSpPr>
          <p:cNvPr id="62" name="section-rule">
            <a:extLst>
              <a:ext uri="{FF2B5EF4-FFF2-40B4-BE49-F238E27FC236}">
                <a16:creationId xmlns:a16="http://schemas.microsoft.com/office/drawing/2014/main" id="{077C2C04-5DD0-4AE1-8D78-64D91E905C72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risk-step-1">
            <a:extLst>
              <a:ext uri="{FF2B5EF4-FFF2-40B4-BE49-F238E27FC236}">
                <a16:creationId xmlns:a16="http://schemas.microsoft.com/office/drawing/2014/main" id="{6FDF9A51-EEC2-4C37-BAF6-A800AA6E0984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2857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B93A3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伪造出一条</a:t>
            </a:r>
          </a:p>
          <a:p>
            <a:pPr algn="ctr">
              <a:buNone/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“像真的”工具调用</a:t>
            </a:r>
          </a:p>
        </p:txBody>
      </p:sp>
      <p:sp>
        <p:nvSpPr>
          <p:cNvPr id="64" name="risk-number-1">
            <a:extLst>
              <a:ext uri="{FF2B5EF4-FFF2-40B4-BE49-F238E27FC236}">
                <a16:creationId xmlns:a16="http://schemas.microsoft.com/office/drawing/2014/main" id="{C1151810-C340-4B65-87D3-7C552E4F8D01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38150" cy="381000"/>
          </a:xfrm>
          <a:prstGeom prst="ellipse">
            <a:avLst/>
          </a:prstGeom>
          <a:solidFill>
            <a:srgbClr val="B93A3A"/>
          </a:solidFill>
          <a:ln w="9525">
            <a:solidFill>
              <a:srgbClr val="B93A3A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risk-step-2">
            <a:extLst>
              <a:ext uri="{FF2B5EF4-FFF2-40B4-BE49-F238E27FC236}">
                <a16:creationId xmlns:a16="http://schemas.microsoft.com/office/drawing/2014/main" id="{9ECF0E25-1C67-43E9-99BA-FE17817356D3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2857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B93A3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执行端没有</a:t>
            </a:r>
          </a:p>
          <a:p>
            <a:pPr algn="ctr">
              <a:buNone/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独立检查</a:t>
            </a:r>
          </a:p>
        </p:txBody>
      </p:sp>
      <p:sp>
        <p:nvSpPr>
          <p:cNvPr id="66" name="risk-number-2">
            <a:extLst>
              <a:ext uri="{FF2B5EF4-FFF2-40B4-BE49-F238E27FC236}">
                <a16:creationId xmlns:a16="http://schemas.microsoft.com/office/drawing/2014/main" id="{D170DFB2-B750-4566-99D3-E7F438F22046}"/>
              </a:ext>
            </a:extLst>
          </p:cNvPr>
          <p:cNvSpPr>
            <a:spLocks noGrp="1"/>
          </p:cNvSpPr>
          <p:nvPr/>
        </p:nvSpPr>
        <p:spPr>
          <a:xfrm>
            <a:off x="4400550" y="2343150"/>
            <a:ext cx="438150" cy="381000"/>
          </a:xfrm>
          <a:prstGeom prst="ellipse">
            <a:avLst/>
          </a:prstGeom>
          <a:solidFill>
            <a:srgbClr val="B93A3A"/>
          </a:solidFill>
          <a:ln w="9525">
            <a:solidFill>
              <a:srgbClr val="B93A3A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isk-step-3">
            <a:extLst>
              <a:ext uri="{FF2B5EF4-FFF2-40B4-BE49-F238E27FC236}">
                <a16:creationId xmlns:a16="http://schemas.microsoft.com/office/drawing/2014/main" id="{63D2B7EE-B21F-4CC1-971D-6C811ACE77AB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2857500" cy="1123950"/>
          </a:xfrm>
          <a:prstGeom prst="roundRect">
            <a:avLst>
              <a:gd name="adj" fmla="val 5085"/>
            </a:avLst>
          </a:prstGeom>
          <a:solidFill>
            <a:srgbClr val="F9EDEE"/>
          </a:solidFill>
          <a:ln w="19050">
            <a:solidFill>
              <a:srgbClr val="B93A3A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工具照样运行</a:t>
            </a:r>
          </a:p>
          <a:p>
            <a:pPr algn="ctr">
              <a:buNone/>
              <a:defRPr sz="157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真实动作发生</a:t>
            </a:r>
          </a:p>
        </p:txBody>
      </p:sp>
      <p:sp>
        <p:nvSpPr>
          <p:cNvPr id="68" name="risk-number-3">
            <a:extLst>
              <a:ext uri="{FF2B5EF4-FFF2-40B4-BE49-F238E27FC236}">
                <a16:creationId xmlns:a16="http://schemas.microsoft.com/office/drawing/2014/main" id="{C8A44B56-CA0F-4FB2-93AC-3614D54F765F}"/>
              </a:ext>
            </a:extLst>
          </p:cNvPr>
          <p:cNvSpPr>
            <a:spLocks noGrp="1"/>
          </p:cNvSpPr>
          <p:nvPr/>
        </p:nvSpPr>
        <p:spPr>
          <a:xfrm>
            <a:off x="7924800" y="2343150"/>
            <a:ext cx="438150" cy="381000"/>
          </a:xfrm>
          <a:prstGeom prst="ellipse">
            <a:avLst/>
          </a:prstGeom>
          <a:solidFill>
            <a:srgbClr val="B93A3A"/>
          </a:solidFill>
          <a:ln w="9525">
            <a:solidFill>
              <a:srgbClr val="B93A3A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147" name="Straight Arrow Connector 146"/>
          <p:cNvCxnSpPr>
            <a:stCxn id="63" idx="3"/>
            <a:endCxn id="65" idx="1"/>
          </p:cNvCxnSpPr>
          <p:nvPr/>
        </p:nvCxnSpPr>
        <p:spPr>
          <a:xfrm>
            <a:off x="3619500" y="3133725"/>
            <a:ext cx="666750" cy="0"/>
          </a:xfrm>
          <a:prstGeom prst="straightConnector1">
            <a:avLst/>
          </a:prstGeom>
          <a:ln w="23813">
            <a:solidFill>
              <a:srgbClr val="B93A3A"/>
            </a:solidFill>
            <a:prstDash val="solid"/>
            <a:tailEnd type="triangle" w="sm" len="sm"/>
          </a:ln>
        </p:spPr>
      </p:cxnSp>
      <p:cxnSp>
        <p:nvCxnSpPr>
          <p:cNvPr id="148" name="Straight Arrow Connector 147"/>
          <p:cNvCxnSpPr>
            <a:stCxn id="65" idx="3"/>
            <a:endCxn id="67" idx="1"/>
          </p:cNvCxnSpPr>
          <p:nvPr/>
        </p:nvCxnSpPr>
        <p:spPr>
          <a:xfrm>
            <a:off x="7143750" y="3133725"/>
            <a:ext cx="666750" cy="0"/>
          </a:xfrm>
          <a:prstGeom prst="straightConnector1">
            <a:avLst/>
          </a:prstGeom>
          <a:ln w="23813">
            <a:solidFill>
              <a:srgbClr val="B93A3A"/>
            </a:solidFill>
            <a:prstDash val="solid"/>
            <a:tailEnd type="triangle" w="sm" len="sm"/>
          </a:ln>
        </p:spPr>
      </p:cxnSp>
      <p:sp>
        <p:nvSpPr>
          <p:cNvPr id="71" name="execution-gate-label">
            <a:extLst>
              <a:ext uri="{FF2B5EF4-FFF2-40B4-BE49-F238E27FC236}">
                <a16:creationId xmlns:a16="http://schemas.microsoft.com/office/drawing/2014/main" id="{85F55C4D-2AB2-47EE-9226-4BCE600F1CD7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1381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正确做法</a:t>
            </a:r>
          </a:p>
        </p:txBody>
      </p:sp>
      <p:sp>
        <p:nvSpPr>
          <p:cNvPr id="72" name="execution-gate">
            <a:extLst>
              <a:ext uri="{FF2B5EF4-FFF2-40B4-BE49-F238E27FC236}">
                <a16:creationId xmlns:a16="http://schemas.microsoft.com/office/drawing/2014/main" id="{D0E5BD08-A13F-4F1C-BA28-A56E218FE012}"/>
              </a:ext>
            </a:extLst>
          </p:cNvPr>
          <p:cNvSpPr>
            <a:spLocks noGrp="1"/>
          </p:cNvSpPr>
          <p:nvPr/>
        </p:nvSpPr>
        <p:spPr>
          <a:xfrm>
            <a:off x="2143125" y="3981450"/>
            <a:ext cx="9001125" cy="438150"/>
          </a:xfrm>
          <a:prstGeom prst="roundRect">
            <a:avLst>
              <a:gd name="adj" fmla="val 13043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真正执行前再次检查：身份 · 权限 · 参数 · 目标</a:t>
            </a:r>
          </a:p>
        </p:txBody>
      </p:sp>
      <p:sp>
        <p:nvSpPr>
          <p:cNvPr id="73" name="quote-background">
            <a:extLst>
              <a:ext uri="{FF2B5EF4-FFF2-40B4-BE49-F238E27FC236}">
                <a16:creationId xmlns:a16="http://schemas.microsoft.com/office/drawing/2014/main" id="{363DCF82-F62E-4ACF-A096-6E7CEBA4A037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quote">
            <a:extLst>
              <a:ext uri="{FF2B5EF4-FFF2-40B4-BE49-F238E27FC236}">
                <a16:creationId xmlns:a16="http://schemas.microsoft.com/office/drawing/2014/main" id="{F369B8D2-A2E8-4396-AC6F-CB009CF66907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1014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8485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“authorize at execution, not at generation”</a:t>
            </a:r>
          </a:p>
        </p:txBody>
      </p:sp>
      <p:sp>
        <p:nvSpPr>
          <p:cNvPr id="75" name="quote-source">
            <a:extLst>
              <a:ext uri="{FF2B5EF4-FFF2-40B4-BE49-F238E27FC236}">
                <a16:creationId xmlns:a16="http://schemas.microsoft.com/office/drawing/2014/main" id="{55E0476E-B94B-4B63-8824-AC1101FF5CB0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1014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59524"/>
          </a:bodyPr>
          <a:lstStyle/>
          <a:p>
            <a:pPr algn="l"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在执行点授权，而不是在生成时假定已经授权</a:t>
            </a:r>
          </a:p>
        </p:txBody>
      </p:sp>
      <p:sp>
        <p:nvSpPr>
          <p:cNvPr id="76" name="security-close">
            <a:extLst>
              <a:ext uri="{FF2B5EF4-FFF2-40B4-BE49-F238E27FC236}">
                <a16:creationId xmlns:a16="http://schemas.microsoft.com/office/drawing/2014/main" id="{91456300-CFD3-4996-B719-4C302CAD0F69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078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不要把“模型听话”当作“系统已授权”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2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1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2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2E3534-000A-41C2-BFDD-913771C1082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问题不是自建与否，而是边界由谁定义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936B20-9373-4E58-89E8-40C4B880655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先看产品公开允许你接入和替换什么，再决定要不要自建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F49991-4E10-415A-9DF4-82C4A83FD710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283376-8C62-4B6F-BDF2-42758DD5FBC6}"/>
              </a:ext>
            </a:extLst>
          </p:cNvPr>
          <p:cNvSpPr>
            <a:spLocks noGrp="1"/>
          </p:cNvSpPr>
          <p:nvPr/>
        </p:nvSpPr>
        <p:spPr>
          <a:xfrm>
            <a:off x="1476375" y="2305050"/>
            <a:ext cx="9239250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我是否需要改变模型、工具、执行世界、门禁或项目知识组织？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2430FA5-4932-4B8E-A21D-6644C0655158}"/>
              </a:ext>
            </a:extLst>
          </p:cNvPr>
          <p:cNvSpPr>
            <a:spLocks noGrp="1"/>
          </p:cNvSpPr>
          <p:nvPr/>
        </p:nvSpPr>
        <p:spPr>
          <a:xfrm>
            <a:off x="1809750" y="3429000"/>
            <a:ext cx="8572500" cy="9525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E71C6D-3058-4C95-8B38-37059BB00E96}"/>
              </a:ext>
            </a:extLst>
          </p:cNvPr>
          <p:cNvSpPr>
            <a:spLocks noGrp="1"/>
          </p:cNvSpPr>
          <p:nvPr/>
        </p:nvSpPr>
        <p:spPr>
          <a:xfrm>
            <a:off x="2000250" y="3733800"/>
            <a:ext cx="2857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不需要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7B0D11-0FFA-4DA8-9203-5A2459F9BE65}"/>
              </a:ext>
            </a:extLst>
          </p:cNvPr>
          <p:cNvSpPr>
            <a:spLocks noGrp="1"/>
          </p:cNvSpPr>
          <p:nvPr/>
        </p:nvSpPr>
        <p:spPr>
          <a:xfrm>
            <a:off x="7334250" y="3733800"/>
            <a:ext cx="2857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需要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869A1A-9FE2-4230-A11F-BDE2524A28CC}"/>
              </a:ext>
            </a:extLst>
          </p:cNvPr>
          <p:cNvSpPr>
            <a:spLocks noGrp="1"/>
          </p:cNvSpPr>
          <p:nvPr/>
        </p:nvSpPr>
        <p:spPr>
          <a:xfrm>
            <a:off x="1809750" y="41910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借现成 Harness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把注意力留给业务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FE1348-EC33-46AB-8867-7B239678BE6F}"/>
              </a:ext>
            </a:extLst>
          </p:cNvPr>
          <p:cNvSpPr>
            <a:spLocks noGrp="1"/>
          </p:cNvSpPr>
          <p:nvPr/>
        </p:nvSpPr>
        <p:spPr>
          <a:xfrm>
            <a:off x="7524750" y="41910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拥有改变边界的能力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再谈灵活 Harness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F29330-048A-4C64-B757-A23780F0471E}"/>
              </a:ext>
            </a:extLst>
          </p:cNvPr>
          <p:cNvSpPr>
            <a:spLocks noGrp="1"/>
          </p:cNvSpPr>
          <p:nvPr/>
        </p:nvSpPr>
        <p:spPr>
          <a:xfrm>
            <a:off x="704850" y="538162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先看需求是否越过产品公开允许的接入口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9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20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21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44E2FD-1D95-432B-AE20-F9A545235C2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现成 Harness 的价值：开箱就有可靠性底座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A9C809-92C9-4166-88E3-CEDF6585D20F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原本要自己搭的能力，现在产品已经内置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D3A680-8D53-4259-B68D-1407D0B40AEC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A20A4E-A5CD-4577-8A13-6890D3092370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62500" cy="2286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产品把 Harness 内置了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沙箱 / 权限 / 可观测性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来源记录 / 持续检查（CI）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不再从 bash 编排开始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C74F72-D5A0-4C2D-93BC-A8561A9DF99F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2286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常见任务，现成够用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Claude Code 沙箱双重隔离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Copilot 云端沙箱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组件随产品交付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34F322-B193-4868-B7FE-1629D2192DE8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A4873B-D054-49D6-B96F-7FEE498EC131}"/>
              </a:ext>
            </a:extLst>
          </p:cNvPr>
          <p:cNvSpPr>
            <a:spLocks noGrp="1"/>
          </p:cNvSpPr>
          <p:nvPr/>
        </p:nvSpPr>
        <p:spPr>
          <a:xfrm>
            <a:off x="933450" y="492442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“从能用的最简单系统开始。”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40D5A47-746F-4607-9B04-5576484A1C95}"/>
              </a:ext>
            </a:extLst>
          </p:cNvPr>
          <p:cNvSpPr>
            <a:spLocks noGrp="1"/>
          </p:cNvSpPr>
          <p:nvPr/>
        </p:nvSpPr>
        <p:spPr>
          <a:xfrm>
            <a:off x="933450" y="529590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Anthropic · Start with the simplest viable system.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6B61E2-FC28-4981-BB34-C8DAC702288E}"/>
              </a:ext>
            </a:extLst>
          </p:cNvPr>
          <p:cNvSpPr>
            <a:spLocks noGrp="1"/>
          </p:cNvSpPr>
          <p:nvPr/>
        </p:nvSpPr>
        <p:spPr>
          <a:xfrm>
            <a:off x="704850" y="561975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绝大多数人，应从现成开始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48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49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50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A9CB5B-0DDD-4CA0-817A-43295221F63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当需求超出产品公开允许的接入口，才需要更灵活的 Harness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02A81A-B243-4755-9866-5CD24B3075A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不是笼统地说“现成改不了”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8310DA-ACF2-4AB9-B43C-4B378DBEDB4F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20A077-C6FA-488C-9BB8-57581B0425C8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C2FC547-8F31-4540-8E91-160211692C8F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“如果产品没有开放对应接入口，只能等待、绕行，或改用可组合的 Harness。”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A6173A-248C-4FBA-8E1A-E687370ED59B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P14 的执行时授权，就是不能靠加一句 prompt 解决的例子</a:t>
            </a:r>
          </a:p>
        </p:txBody>
      </p:sp>
      <p:sp>
        <p:nvSpPr>
          <p:cNvPr id="27" name="need-1">
            <a:extLst>
              <a:ext uri="{FF2B5EF4-FFF2-40B4-BE49-F238E27FC236}">
                <a16:creationId xmlns:a16="http://schemas.microsoft.com/office/drawing/2014/main" id="{89FC6DBC-2D89-45C3-8617-92775CB0F8D4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28" name="need-number-1">
            <a:extLst>
              <a:ext uri="{FF2B5EF4-FFF2-40B4-BE49-F238E27FC236}">
                <a16:creationId xmlns:a16="http://schemas.microsoft.com/office/drawing/2014/main" id="{EDEA05D4-D376-4EAB-828F-249E2E434F52}"/>
              </a:ext>
            </a:extLst>
          </p:cNvPr>
          <p:cNvSpPr>
            <a:spLocks noGrp="1"/>
          </p:cNvSpPr>
          <p:nvPr/>
        </p:nvSpPr>
        <p:spPr>
          <a:xfrm>
            <a:off x="990600" y="239077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need-heading-1">
            <a:extLst>
              <a:ext uri="{FF2B5EF4-FFF2-40B4-BE49-F238E27FC236}">
                <a16:creationId xmlns:a16="http://schemas.microsoft.com/office/drawing/2014/main" id="{F4BFF754-3EFF-464B-821F-11A8A864067F}"/>
              </a:ext>
            </a:extLst>
          </p:cNvPr>
          <p:cNvSpPr>
            <a:spLocks noGrp="1"/>
          </p:cNvSpPr>
          <p:nvPr/>
        </p:nvSpPr>
        <p:spPr>
          <a:xfrm>
            <a:off x="1543050" y="233362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新模型 / 新工具</a:t>
            </a:r>
          </a:p>
        </p:txBody>
      </p:sp>
      <p:sp>
        <p:nvSpPr>
          <p:cNvPr id="30" name="need-body-1">
            <a:extLst>
              <a:ext uri="{FF2B5EF4-FFF2-40B4-BE49-F238E27FC236}">
                <a16:creationId xmlns:a16="http://schemas.microsoft.com/office/drawing/2014/main" id="{F380BDDF-2DFD-4E61-99E7-1B3F31DA8FC8}"/>
              </a:ext>
            </a:extLst>
          </p:cNvPr>
          <p:cNvSpPr>
            <a:spLocks noGrp="1"/>
          </p:cNvSpPr>
          <p:nvPr/>
        </p:nvSpPr>
        <p:spPr>
          <a:xfrm>
            <a:off x="1543050" y="267652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2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产品不支持的模型，或公司内部工具</a:t>
            </a:r>
          </a:p>
        </p:txBody>
      </p:sp>
      <p:sp>
        <p:nvSpPr>
          <p:cNvPr id="31" name="need-2">
            <a:extLst>
              <a:ext uri="{FF2B5EF4-FFF2-40B4-BE49-F238E27FC236}">
                <a16:creationId xmlns:a16="http://schemas.microsoft.com/office/drawing/2014/main" id="{15D2A963-B369-47FF-90F7-E226CF97A44A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32" name="need-number-2">
            <a:extLst>
              <a:ext uri="{FF2B5EF4-FFF2-40B4-BE49-F238E27FC236}">
                <a16:creationId xmlns:a16="http://schemas.microsoft.com/office/drawing/2014/main" id="{77860BEE-0CE0-41BE-B30B-D2EE0B6CEF67}"/>
              </a:ext>
            </a:extLst>
          </p:cNvPr>
          <p:cNvSpPr>
            <a:spLocks noGrp="1"/>
          </p:cNvSpPr>
          <p:nvPr/>
        </p:nvSpPr>
        <p:spPr>
          <a:xfrm>
            <a:off x="6324600" y="239077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need-heading-2">
            <a:extLst>
              <a:ext uri="{FF2B5EF4-FFF2-40B4-BE49-F238E27FC236}">
                <a16:creationId xmlns:a16="http://schemas.microsoft.com/office/drawing/2014/main" id="{DF5C5F07-BEC1-4C51-AFAB-BF2E43358287}"/>
              </a:ext>
            </a:extLst>
          </p:cNvPr>
          <p:cNvSpPr>
            <a:spLocks noGrp="1"/>
          </p:cNvSpPr>
          <p:nvPr/>
        </p:nvSpPr>
        <p:spPr>
          <a:xfrm>
            <a:off x="6877050" y="233362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新的执行后端</a:t>
            </a:r>
          </a:p>
        </p:txBody>
      </p:sp>
      <p:sp>
        <p:nvSpPr>
          <p:cNvPr id="34" name="need-body-2">
            <a:extLst>
              <a:ext uri="{FF2B5EF4-FFF2-40B4-BE49-F238E27FC236}">
                <a16:creationId xmlns:a16="http://schemas.microsoft.com/office/drawing/2014/main" id="{2539F1D8-1368-475D-A7FD-16253FFB9968}"/>
              </a:ext>
            </a:extLst>
          </p:cNvPr>
          <p:cNvSpPr>
            <a:spLocks noGrp="1"/>
          </p:cNvSpPr>
          <p:nvPr/>
        </p:nvSpPr>
        <p:spPr>
          <a:xfrm>
            <a:off x="6877050" y="267652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2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从本机换到远程沙箱、集群或专用环境</a:t>
            </a:r>
          </a:p>
        </p:txBody>
      </p:sp>
      <p:sp>
        <p:nvSpPr>
          <p:cNvPr id="35" name="need-3">
            <a:extLst>
              <a:ext uri="{FF2B5EF4-FFF2-40B4-BE49-F238E27FC236}">
                <a16:creationId xmlns:a16="http://schemas.microsoft.com/office/drawing/2014/main" id="{97DACF7E-E6B0-4368-B836-8BBBE45719EA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36" name="need-number-3">
            <a:extLst>
              <a:ext uri="{FF2B5EF4-FFF2-40B4-BE49-F238E27FC236}">
                <a16:creationId xmlns:a16="http://schemas.microsoft.com/office/drawing/2014/main" id="{094E60DB-8D0F-46C9-A39E-5E76D20A7AFE}"/>
              </a:ext>
            </a:extLst>
          </p:cNvPr>
          <p:cNvSpPr>
            <a:spLocks noGrp="1"/>
          </p:cNvSpPr>
          <p:nvPr/>
        </p:nvSpPr>
        <p:spPr>
          <a:xfrm>
            <a:off x="990600" y="362902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need-heading-3">
            <a:extLst>
              <a:ext uri="{FF2B5EF4-FFF2-40B4-BE49-F238E27FC236}">
                <a16:creationId xmlns:a16="http://schemas.microsoft.com/office/drawing/2014/main" id="{8FD41C1F-D6A8-447F-B973-902AD6F63724}"/>
              </a:ext>
            </a:extLst>
          </p:cNvPr>
          <p:cNvSpPr>
            <a:spLocks noGrp="1"/>
          </p:cNvSpPr>
          <p:nvPr/>
        </p:nvSpPr>
        <p:spPr>
          <a:xfrm>
            <a:off x="1543050" y="357187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项目知识与门禁</a:t>
            </a:r>
          </a:p>
        </p:txBody>
      </p:sp>
      <p:sp>
        <p:nvSpPr>
          <p:cNvPr id="38" name="need-body-3">
            <a:extLst>
              <a:ext uri="{FF2B5EF4-FFF2-40B4-BE49-F238E27FC236}">
                <a16:creationId xmlns:a16="http://schemas.microsoft.com/office/drawing/2014/main" id="{19BC0155-7919-457F-BF62-16F876EBC73E}"/>
              </a:ext>
            </a:extLst>
          </p:cNvPr>
          <p:cNvSpPr>
            <a:spLocks noGrp="1"/>
          </p:cNvSpPr>
          <p:nvPr/>
        </p:nvSpPr>
        <p:spPr>
          <a:xfrm>
            <a:off x="1543050" y="391477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2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把项目规则变成会自动阻止错误的检查</a:t>
            </a:r>
          </a:p>
        </p:txBody>
      </p:sp>
      <p:sp>
        <p:nvSpPr>
          <p:cNvPr id="39" name="need-4">
            <a:extLst>
              <a:ext uri="{FF2B5EF4-FFF2-40B4-BE49-F238E27FC236}">
                <a16:creationId xmlns:a16="http://schemas.microsoft.com/office/drawing/2014/main" id="{A70D9D8C-951C-4C71-8223-8AF35F59B435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49530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0" name="need-number-4">
            <a:extLst>
              <a:ext uri="{FF2B5EF4-FFF2-40B4-BE49-F238E27FC236}">
                <a16:creationId xmlns:a16="http://schemas.microsoft.com/office/drawing/2014/main" id="{6CD96A03-C989-44BB-8459-F136314769EB}"/>
              </a:ext>
            </a:extLst>
          </p:cNvPr>
          <p:cNvSpPr>
            <a:spLocks noGrp="1"/>
          </p:cNvSpPr>
          <p:nvPr/>
        </p:nvSpPr>
        <p:spPr>
          <a:xfrm>
            <a:off x="6324600" y="3629025"/>
            <a:ext cx="400050" cy="40005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" name="need-heading-4">
            <a:extLst>
              <a:ext uri="{FF2B5EF4-FFF2-40B4-BE49-F238E27FC236}">
                <a16:creationId xmlns:a16="http://schemas.microsoft.com/office/drawing/2014/main" id="{1A46D5FA-00B7-4397-97AC-71A53B26F433}"/>
              </a:ext>
            </a:extLst>
          </p:cNvPr>
          <p:cNvSpPr>
            <a:spLocks noGrp="1"/>
          </p:cNvSpPr>
          <p:nvPr/>
        </p:nvSpPr>
        <p:spPr>
          <a:xfrm>
            <a:off x="6877050" y="3571875"/>
            <a:ext cx="404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执行链里的控制点</a:t>
            </a:r>
          </a:p>
        </p:txBody>
      </p:sp>
      <p:sp>
        <p:nvSpPr>
          <p:cNvPr id="42" name="need-body-4">
            <a:extLst>
              <a:ext uri="{FF2B5EF4-FFF2-40B4-BE49-F238E27FC236}">
                <a16:creationId xmlns:a16="http://schemas.microsoft.com/office/drawing/2014/main" id="{C01E49F0-CB81-4861-91FD-8D25BF9C1709}"/>
              </a:ext>
            </a:extLst>
          </p:cNvPr>
          <p:cNvSpPr>
            <a:spLocks noGrp="1"/>
          </p:cNvSpPr>
          <p:nvPr/>
        </p:nvSpPr>
        <p:spPr>
          <a:xfrm>
            <a:off x="6877050" y="3914775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2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例如工具真正执行前，再做一次独立授权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8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EB4E19-CCCF-4ECF-ADBE-4FEE9618A32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不是别用现成，是别只能现成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6E19C0-FC4F-462F-9C7B-D126292C7741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灵活 = 装自己的 + 借现成的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8BD26E-D634-4BE8-9AD8-D62AE7B6E4D5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8D5E44-595A-4E32-BFB4-8433FADCBE61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572000" cy="219075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装自己的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挂模型 / 挂工具 / 换后端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挂 skill（技能包）/ knowledge map（知识地图）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自定义可执行门禁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0BDBCA-2E82-427B-9617-179F5E66E1C2}"/>
              </a:ext>
            </a:extLst>
          </p:cNvPr>
          <p:cNvSpPr>
            <a:spLocks noGrp="1"/>
          </p:cNvSpPr>
          <p:nvPr/>
        </p:nvSpPr>
        <p:spPr>
          <a:xfrm>
            <a:off x="6762750" y="2238375"/>
            <a:ext cx="4572000" cy="219075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借现成的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成熟 adapter（适配器）/ skill / 模型</a:t>
            </a: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直接复用</a:t>
            </a:r>
          </a:p>
          <a:p>
            <a:endParaRPr sz="1500" b="0">
              <a:solidFill>
                <a:srgbClr val="1F2937"/>
              </a:solidFill>
            </a:endParaRPr>
          </a:p>
          <a:p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不逼你二选一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1FD5C45-F997-468C-941A-4CA7C7A0D7D9}"/>
              </a:ext>
            </a:extLst>
          </p:cNvPr>
          <p:cNvSpPr>
            <a:spLocks noGrp="1"/>
          </p:cNvSpPr>
          <p:nvPr/>
        </p:nvSpPr>
        <p:spPr>
          <a:xfrm>
            <a:off x="5429250" y="3067050"/>
            <a:ext cx="13335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2A82E34-0170-40C5-9066-748C755071D6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灵活 harness = 装自己的 + 借现成的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155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156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157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66" name="slide-title">
            <a:extLst>
              <a:ext uri="{FF2B5EF4-FFF2-40B4-BE49-F238E27FC236}">
                <a16:creationId xmlns:a16="http://schemas.microsoft.com/office/drawing/2014/main" id="{AC1187CB-8715-40B3-AED3-AE46773C781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把“可替换的能力”和“已经发生的事实”分开管理</a:t>
            </a:r>
          </a:p>
        </p:txBody>
      </p:sp>
      <p:sp>
        <p:nvSpPr>
          <p:cNvPr id="67" name="slide-subtitle">
            <a:extLst>
              <a:ext uri="{FF2B5EF4-FFF2-40B4-BE49-F238E27FC236}">
                <a16:creationId xmlns:a16="http://schemas.microsoft.com/office/drawing/2014/main" id="{E34E57DF-34BA-4128-8EE0-88D40EF18F08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14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26A78"/>
                </a:solidFill>
                <a:latin typeface="Arial"/>
                <a:ea typeface="Arial"/>
                <a:cs typeface="Arial"/>
              </a:rPr>
              <a:t>默认 Loop 只是一个插件；它不是整台机器</a:t>
            </a:r>
          </a:p>
        </p:txBody>
      </p:sp>
      <p:sp>
        <p:nvSpPr>
          <p:cNvPr id="68" name="section-rule">
            <a:extLst>
              <a:ext uri="{FF2B5EF4-FFF2-40B4-BE49-F238E27FC236}">
                <a16:creationId xmlns:a16="http://schemas.microsoft.com/office/drawing/2014/main" id="{9B24902F-B67E-4AFB-B4ED-7518A2E77399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active-label">
            <a:extLst>
              <a:ext uri="{FF2B5EF4-FFF2-40B4-BE49-F238E27FC236}">
                <a16:creationId xmlns:a16="http://schemas.microsoft.com/office/drawing/2014/main" id="{14E39DD4-AB8F-40A6-ADB0-CDA7C69443C2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078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2593"/>
          </a:bodyPr>
          <a:lstStyle/>
          <a:p>
            <a:pPr algn="l">
              <a:buNone/>
              <a:defRPr sz="13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当前装着什么：可以替换</a:t>
            </a:r>
          </a:p>
        </p:txBody>
      </p:sp>
      <p:sp>
        <p:nvSpPr>
          <p:cNvPr id="70" name="dsh-plugin-1">
            <a:extLst>
              <a:ext uri="{FF2B5EF4-FFF2-40B4-BE49-F238E27FC236}">
                <a16:creationId xmlns:a16="http://schemas.microsoft.com/office/drawing/2014/main" id="{16FC36F2-5315-4DAC-B5AD-298CFF3A17E6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模型 adapter</a:t>
            </a:r>
          </a:p>
        </p:txBody>
      </p:sp>
      <p:sp>
        <p:nvSpPr>
          <p:cNvPr id="71" name="dsh-plugin-2">
            <a:extLst>
              <a:ext uri="{FF2B5EF4-FFF2-40B4-BE49-F238E27FC236}">
                <a16:creationId xmlns:a16="http://schemas.microsoft.com/office/drawing/2014/main" id="{E98323BA-19CE-40B8-AE10-19E47B74A47A}"/>
              </a:ext>
            </a:extLst>
          </p:cNvPr>
          <p:cNvSpPr>
            <a:spLocks noGrp="1"/>
          </p:cNvSpPr>
          <p:nvPr/>
        </p:nvSpPr>
        <p:spPr>
          <a:xfrm>
            <a:off x="3495675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工具 / 门禁</a:t>
            </a:r>
          </a:p>
        </p:txBody>
      </p:sp>
      <p:sp>
        <p:nvSpPr>
          <p:cNvPr id="72" name="dsh-plugin-3">
            <a:extLst>
              <a:ext uri="{FF2B5EF4-FFF2-40B4-BE49-F238E27FC236}">
                <a16:creationId xmlns:a16="http://schemas.microsoft.com/office/drawing/2014/main" id="{17B1C388-9D63-4D6D-BBE3-3C7FB7B92E8B}"/>
              </a:ext>
            </a:extLst>
          </p:cNvPr>
          <p:cNvSpPr>
            <a:spLocks noGrp="1"/>
          </p:cNvSpPr>
          <p:nvPr/>
        </p:nvSpPr>
        <p:spPr>
          <a:xfrm>
            <a:off x="6210300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能力后端</a:t>
            </a:r>
          </a:p>
        </p:txBody>
      </p:sp>
      <p:sp>
        <p:nvSpPr>
          <p:cNvPr id="73" name="dsh-plugin-4">
            <a:extLst>
              <a:ext uri="{FF2B5EF4-FFF2-40B4-BE49-F238E27FC236}">
                <a16:creationId xmlns:a16="http://schemas.microsoft.com/office/drawing/2014/main" id="{95DAEC01-B598-4925-A4AE-FBC66ECDEEDA}"/>
              </a:ext>
            </a:extLst>
          </p:cNvPr>
          <p:cNvSpPr>
            <a:spLocks noGrp="1"/>
          </p:cNvSpPr>
          <p:nvPr/>
        </p:nvSpPr>
        <p:spPr>
          <a:xfrm>
            <a:off x="8924925" y="2457450"/>
            <a:ext cx="2333625" cy="552450"/>
          </a:xfrm>
          <a:prstGeom prst="roundRect">
            <a:avLst>
              <a:gd name="adj" fmla="val 10345"/>
            </a:avLst>
          </a:prstGeom>
          <a:solidFill>
            <a:srgbClr val="F1F3F5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默认 Loop</a:t>
            </a:r>
          </a:p>
        </p:txBody>
      </p:sp>
      <p:sp>
        <p:nvSpPr>
          <p:cNvPr id="74" name="dsh-runtime">
            <a:extLst>
              <a:ext uri="{FF2B5EF4-FFF2-40B4-BE49-F238E27FC236}">
                <a16:creationId xmlns:a16="http://schemas.microsoft.com/office/drawing/2014/main" id="{843F84F0-26B0-43FD-8447-B14D15E6ADBB}"/>
              </a:ext>
            </a:extLst>
          </p:cNvPr>
          <p:cNvSpPr>
            <a:spLocks noGrp="1"/>
          </p:cNvSpPr>
          <p:nvPr/>
        </p:nvSpPr>
        <p:spPr>
          <a:xfrm>
            <a:off x="1714500" y="3333750"/>
            <a:ext cx="8763000" cy="590550"/>
          </a:xfrm>
          <a:prstGeom prst="roundRect">
            <a:avLst>
              <a:gd name="adj" fmla="val 967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运行时：插件组合 + 统一事件</a:t>
            </a:r>
          </a:p>
        </p:txBody>
      </p:sp>
      <p:cxnSp>
        <p:nvCxnSpPr>
          <p:cNvPr id="167" name="Elbow Connector 166"/>
          <p:cNvCxnSpPr>
            <a:stCxn id="70" idx="2"/>
            <a:endCxn id="74" idx="0"/>
          </p:cNvCxnSpPr>
          <p:nvPr/>
        </p:nvCxnSpPr>
        <p:spPr>
          <a:xfrm>
            <a:off x="1947863" y="3009900"/>
            <a:ext cx="4148138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168" name="Elbow Connector 167"/>
          <p:cNvCxnSpPr>
            <a:stCxn id="71" idx="2"/>
            <a:endCxn id="74" idx="0"/>
          </p:cNvCxnSpPr>
          <p:nvPr/>
        </p:nvCxnSpPr>
        <p:spPr>
          <a:xfrm>
            <a:off x="4662488" y="3009900"/>
            <a:ext cx="1433513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169" name="Elbow Connector 168"/>
          <p:cNvCxnSpPr>
            <a:stCxn id="72" idx="2"/>
            <a:endCxn id="74" idx="0"/>
          </p:cNvCxnSpPr>
          <p:nvPr/>
        </p:nvCxnSpPr>
        <p:spPr>
          <a:xfrm flipH="1">
            <a:off x="6096000" y="3009900"/>
            <a:ext cx="1281113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170" name="Elbow Connector 169"/>
          <p:cNvCxnSpPr>
            <a:stCxn id="73" idx="2"/>
            <a:endCxn id="74" idx="0"/>
          </p:cNvCxnSpPr>
          <p:nvPr/>
        </p:nvCxnSpPr>
        <p:spPr>
          <a:xfrm flipH="1">
            <a:off x="6096000" y="3009900"/>
            <a:ext cx="3995738" cy="323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79" name="session-log">
            <a:extLst>
              <a:ext uri="{FF2B5EF4-FFF2-40B4-BE49-F238E27FC236}">
                <a16:creationId xmlns:a16="http://schemas.microsoft.com/office/drawing/2014/main" id="{102CE0CD-E2BD-4796-B566-A676A78C829F}"/>
              </a:ext>
            </a:extLst>
          </p:cNvPr>
          <p:cNvSpPr>
            <a:spLocks noGrp="1"/>
          </p:cNvSpPr>
          <p:nvPr/>
        </p:nvSpPr>
        <p:spPr>
          <a:xfrm>
            <a:off x="2476500" y="4267200"/>
            <a:ext cx="72390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Session log：每一步发生过什么，都按顺序留下</a:t>
            </a:r>
          </a:p>
        </p:txBody>
      </p:sp>
      <p:cxnSp>
        <p:nvCxnSpPr>
          <p:cNvPr id="172" name="Straight Arrow Connector 171"/>
          <p:cNvCxnSpPr>
            <a:stCxn id="74" idx="2"/>
            <a:endCxn id="79" idx="0"/>
          </p:cNvCxnSpPr>
          <p:nvPr/>
        </p:nvCxnSpPr>
        <p:spPr>
          <a:xfrm>
            <a:off x="6096000" y="3924300"/>
            <a:ext cx="0" cy="34290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81" name="log-label">
            <a:extLst>
              <a:ext uri="{FF2B5EF4-FFF2-40B4-BE49-F238E27FC236}">
                <a16:creationId xmlns:a16="http://schemas.microsoft.com/office/drawing/2014/main" id="{A336EA11-672E-4336-A7BF-B9F17DBF0BC0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3333"/>
          </a:bodyPr>
          <a:lstStyle/>
          <a:p>
            <a:pPr algn="ctr">
              <a:buNone/>
              <a:defRPr sz="12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已经发生什么：只追加，不因换插件而重写</a:t>
            </a:r>
          </a:p>
        </p:txBody>
      </p:sp>
      <p:sp>
        <p:nvSpPr>
          <p:cNvPr id="82" name="quote-background">
            <a:extLst>
              <a:ext uri="{FF2B5EF4-FFF2-40B4-BE49-F238E27FC236}">
                <a16:creationId xmlns:a16="http://schemas.microsoft.com/office/drawing/2014/main" id="{528257E1-D239-483E-A6F7-7F6C80B59E1D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quote">
            <a:extLst>
              <a:ext uri="{FF2B5EF4-FFF2-40B4-BE49-F238E27FC236}">
                <a16:creationId xmlns:a16="http://schemas.microsoft.com/office/drawing/2014/main" id="{E618B42D-B738-4920-8699-AF354EAEF9F8}"/>
              </a:ext>
            </a:extLst>
          </p:cNvPr>
          <p:cNvSpPr>
            <a:spLocks noGrp="1"/>
          </p:cNvSpPr>
          <p:nvPr/>
        </p:nvSpPr>
        <p:spPr>
          <a:xfrm>
            <a:off x="933450" y="5238750"/>
            <a:ext cx="1014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8485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“换能力，是换一个插件；已经发生的历史，不重写。”</a:t>
            </a:r>
          </a:p>
        </p:txBody>
      </p:sp>
      <p:sp>
        <p:nvSpPr>
          <p:cNvPr id="84" name="quote-source">
            <a:extLst>
              <a:ext uri="{FF2B5EF4-FFF2-40B4-BE49-F238E27FC236}">
                <a16:creationId xmlns:a16="http://schemas.microsoft.com/office/drawing/2014/main" id="{8AD4E67F-723F-4B6C-AB99-91E95E7701B9}"/>
              </a:ext>
            </a:extLst>
          </p:cNvPr>
          <p:cNvSpPr>
            <a:spLocks noGrp="1"/>
          </p:cNvSpPr>
          <p:nvPr/>
        </p:nvSpPr>
        <p:spPr>
          <a:xfrm>
            <a:off x="933450" y="5600700"/>
            <a:ext cx="1014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59524"/>
          </a:bodyPr>
          <a:lstStyle/>
          <a:p>
            <a:pPr algn="l"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DSH：活插件图与持久 Session log 分工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61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6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6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39" name="slide-title">
            <a:extLst>
              <a:ext uri="{FF2B5EF4-FFF2-40B4-BE49-F238E27FC236}">
                <a16:creationId xmlns:a16="http://schemas.microsoft.com/office/drawing/2014/main" id="{5F74F2BB-831F-400F-AFB8-053924649D0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的灵活，不是随便改代码，而是每种变化都有固定接入口</a:t>
            </a:r>
          </a:p>
        </p:txBody>
      </p:sp>
      <p:sp>
        <p:nvSpPr>
          <p:cNvPr id="40" name="slide-subtitle">
            <a:extLst>
              <a:ext uri="{FF2B5EF4-FFF2-40B4-BE49-F238E27FC236}">
                <a16:creationId xmlns:a16="http://schemas.microsoft.com/office/drawing/2014/main" id="{156B6CEC-E271-45F3-AD5D-902B16BF868B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14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26A78"/>
                </a:solidFill>
                <a:latin typeface="Arial"/>
                <a:ea typeface="Arial"/>
                <a:cs typeface="Arial"/>
              </a:rPr>
              <a:t>四个接入口，把“装自己的”和“借现成的”都变成可控组合</a:t>
            </a:r>
          </a:p>
        </p:txBody>
      </p:sp>
      <p:sp>
        <p:nvSpPr>
          <p:cNvPr id="41" name="section-rule">
            <a:extLst>
              <a:ext uri="{FF2B5EF4-FFF2-40B4-BE49-F238E27FC236}">
                <a16:creationId xmlns:a16="http://schemas.microsoft.com/office/drawing/2014/main" id="{2AB38078-8304-4034-A9F5-F199B3114B04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extension-1">
            <a:extLst>
              <a:ext uri="{FF2B5EF4-FFF2-40B4-BE49-F238E27FC236}">
                <a16:creationId xmlns:a16="http://schemas.microsoft.com/office/drawing/2014/main" id="{1D8F1106-7DDA-4018-A32A-8805FD6D9354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3" name="extension-heading-1">
            <a:extLst>
              <a:ext uri="{FF2B5EF4-FFF2-40B4-BE49-F238E27FC236}">
                <a16:creationId xmlns:a16="http://schemas.microsoft.com/office/drawing/2014/main" id="{23E8B89B-53E5-435F-9003-473E2B0AB367}"/>
              </a:ext>
            </a:extLst>
          </p:cNvPr>
          <p:cNvSpPr>
            <a:spLocks noGrp="1"/>
          </p:cNvSpPr>
          <p:nvPr/>
        </p:nvSpPr>
        <p:spPr>
          <a:xfrm>
            <a:off x="885825" y="2286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1667"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模型 → adapter</a:t>
            </a:r>
          </a:p>
        </p:txBody>
      </p:sp>
      <p:sp>
        <p:nvSpPr>
          <p:cNvPr id="44" name="extension-body-1">
            <a:extLst>
              <a:ext uri="{FF2B5EF4-FFF2-40B4-BE49-F238E27FC236}">
                <a16:creationId xmlns:a16="http://schemas.microsoft.com/office/drawing/2014/main" id="{B29AF623-6CB7-45F1-B01C-DD10FCCBCD17}"/>
              </a:ext>
            </a:extLst>
          </p:cNvPr>
          <p:cNvSpPr>
            <a:spLocks noGrp="1"/>
          </p:cNvSpPr>
          <p:nvPr/>
        </p:nvSpPr>
        <p:spPr>
          <a:xfrm>
            <a:off x="885825" y="2590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137"/>
          </a:bodyPr>
          <a:lstStyle/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把不同模型协议</a:t>
            </a:r>
          </a:p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转换成统一接口</a:t>
            </a:r>
          </a:p>
        </p:txBody>
      </p:sp>
      <p:sp>
        <p:nvSpPr>
          <p:cNvPr id="45" name="extension-2">
            <a:extLst>
              <a:ext uri="{FF2B5EF4-FFF2-40B4-BE49-F238E27FC236}">
                <a16:creationId xmlns:a16="http://schemas.microsoft.com/office/drawing/2014/main" id="{1ABF8853-5B4C-4788-87DB-13C89604C16F}"/>
              </a:ext>
            </a:extLst>
          </p:cNvPr>
          <p:cNvSpPr>
            <a:spLocks noGrp="1"/>
          </p:cNvSpPr>
          <p:nvPr/>
        </p:nvSpPr>
        <p:spPr>
          <a:xfrm>
            <a:off x="6143625" y="2190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6" name="extension-heading-2">
            <a:extLst>
              <a:ext uri="{FF2B5EF4-FFF2-40B4-BE49-F238E27FC236}">
                <a16:creationId xmlns:a16="http://schemas.microsoft.com/office/drawing/2014/main" id="{E519C0F9-DD9B-4265-93FF-6E82CF29DC1D}"/>
              </a:ext>
            </a:extLst>
          </p:cNvPr>
          <p:cNvSpPr>
            <a:spLocks noGrp="1"/>
          </p:cNvSpPr>
          <p:nvPr/>
        </p:nvSpPr>
        <p:spPr>
          <a:xfrm>
            <a:off x="6315075" y="2286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1667"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工具 → tools registry</a:t>
            </a:r>
          </a:p>
        </p:txBody>
      </p:sp>
      <p:sp>
        <p:nvSpPr>
          <p:cNvPr id="47" name="extension-body-2">
            <a:extLst>
              <a:ext uri="{FF2B5EF4-FFF2-40B4-BE49-F238E27FC236}">
                <a16:creationId xmlns:a16="http://schemas.microsoft.com/office/drawing/2014/main" id="{7DD9B057-2D38-497E-B6AC-B6B06F951955}"/>
              </a:ext>
            </a:extLst>
          </p:cNvPr>
          <p:cNvSpPr>
            <a:spLocks noGrp="1"/>
          </p:cNvSpPr>
          <p:nvPr/>
        </p:nvSpPr>
        <p:spPr>
          <a:xfrm>
            <a:off x="6315075" y="2590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137"/>
          </a:bodyPr>
          <a:lstStyle/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登记后自动进入</a:t>
            </a:r>
          </a:p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模型可见的工具清单</a:t>
            </a:r>
          </a:p>
        </p:txBody>
      </p:sp>
      <p:sp>
        <p:nvSpPr>
          <p:cNvPr id="48" name="extension-3">
            <a:extLst>
              <a:ext uri="{FF2B5EF4-FFF2-40B4-BE49-F238E27FC236}">
                <a16:creationId xmlns:a16="http://schemas.microsoft.com/office/drawing/2014/main" id="{171C104B-F5C6-4932-82DE-416138B34547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49" name="extension-heading-3">
            <a:extLst>
              <a:ext uri="{FF2B5EF4-FFF2-40B4-BE49-F238E27FC236}">
                <a16:creationId xmlns:a16="http://schemas.microsoft.com/office/drawing/2014/main" id="{56CFAD58-4A89-4EFB-AA09-2093BEDCE875}"/>
              </a:ext>
            </a:extLst>
          </p:cNvPr>
          <p:cNvSpPr>
            <a:spLocks noGrp="1"/>
          </p:cNvSpPr>
          <p:nvPr/>
        </p:nvSpPr>
        <p:spPr>
          <a:xfrm>
            <a:off x="885825" y="3429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1667"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后端 → capability seam</a:t>
            </a:r>
          </a:p>
        </p:txBody>
      </p:sp>
      <p:sp>
        <p:nvSpPr>
          <p:cNvPr id="50" name="extension-body-3">
            <a:extLst>
              <a:ext uri="{FF2B5EF4-FFF2-40B4-BE49-F238E27FC236}">
                <a16:creationId xmlns:a16="http://schemas.microsoft.com/office/drawing/2014/main" id="{6DA052A6-F726-477B-B831-5896DF6FA6C6}"/>
              </a:ext>
            </a:extLst>
          </p:cNvPr>
          <p:cNvSpPr>
            <a:spLocks noGrp="1"/>
          </p:cNvSpPr>
          <p:nvPr/>
        </p:nvSpPr>
        <p:spPr>
          <a:xfrm>
            <a:off x="885825" y="3733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137"/>
          </a:bodyPr>
          <a:lstStyle/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调用方式不变</a:t>
            </a:r>
          </a:p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只换背后的实现</a:t>
            </a:r>
          </a:p>
        </p:txBody>
      </p:sp>
      <p:sp>
        <p:nvSpPr>
          <p:cNvPr id="51" name="extension-4">
            <a:extLst>
              <a:ext uri="{FF2B5EF4-FFF2-40B4-BE49-F238E27FC236}">
                <a16:creationId xmlns:a16="http://schemas.microsoft.com/office/drawing/2014/main" id="{BE4F8065-BC3D-4C8F-843B-C08EDD5387A9}"/>
              </a:ext>
            </a:extLst>
          </p:cNvPr>
          <p:cNvSpPr>
            <a:spLocks noGrp="1"/>
          </p:cNvSpPr>
          <p:nvPr/>
        </p:nvSpPr>
        <p:spPr>
          <a:xfrm>
            <a:off x="6143625" y="3333750"/>
            <a:ext cx="51435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2" name="extension-heading-4">
            <a:extLst>
              <a:ext uri="{FF2B5EF4-FFF2-40B4-BE49-F238E27FC236}">
                <a16:creationId xmlns:a16="http://schemas.microsoft.com/office/drawing/2014/main" id="{27E3E698-88E1-4048-AFB2-2B4120834450}"/>
              </a:ext>
            </a:extLst>
          </p:cNvPr>
          <p:cNvSpPr>
            <a:spLocks noGrp="1"/>
          </p:cNvSpPr>
          <p:nvPr/>
        </p:nvSpPr>
        <p:spPr>
          <a:xfrm>
            <a:off x="6315075" y="342900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1667"/>
          </a:bodyPr>
          <a:lstStyle/>
          <a:p>
            <a:pPr algn="l">
              <a:buNone/>
              <a:defRPr sz="15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本次组合 → profile / plugin</a:t>
            </a:r>
          </a:p>
        </p:txBody>
      </p:sp>
      <p:sp>
        <p:nvSpPr>
          <p:cNvPr id="53" name="extension-body-4">
            <a:extLst>
              <a:ext uri="{FF2B5EF4-FFF2-40B4-BE49-F238E27FC236}">
                <a16:creationId xmlns:a16="http://schemas.microsoft.com/office/drawing/2014/main" id="{1850AA84-52D3-4EB7-914D-BDF0CCAAB8D0}"/>
              </a:ext>
            </a:extLst>
          </p:cNvPr>
          <p:cNvSpPr>
            <a:spLocks noGrp="1"/>
          </p:cNvSpPr>
          <p:nvPr/>
        </p:nvSpPr>
        <p:spPr>
          <a:xfrm>
            <a:off x="6315075" y="3733800"/>
            <a:ext cx="480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3137"/>
          </a:bodyPr>
          <a:lstStyle/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决定这次启动</a:t>
            </a:r>
          </a:p>
          <a:p>
            <a:pPr algn="l">
              <a:buNone/>
              <a:defRPr sz="127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26A78"/>
                </a:solidFill>
                <a:latin typeface="Arial"/>
                <a:ea typeface="Arial"/>
                <a:cs typeface="Arial"/>
              </a:rPr>
              <a:t>实际装入什么</a:t>
            </a:r>
          </a:p>
        </p:txBody>
      </p:sp>
      <p:sp>
        <p:nvSpPr>
          <p:cNvPr id="54" name="own-vs-borrow">
            <a:extLst>
              <a:ext uri="{FF2B5EF4-FFF2-40B4-BE49-F238E27FC236}">
                <a16:creationId xmlns:a16="http://schemas.microsoft.com/office/drawing/2014/main" id="{6070D37D-07A9-4D8A-A669-78151B9CB818}"/>
              </a:ext>
            </a:extLst>
          </p:cNvPr>
          <p:cNvSpPr>
            <a:spLocks noGrp="1"/>
          </p:cNvSpPr>
          <p:nvPr/>
        </p:nvSpPr>
        <p:spPr>
          <a:xfrm>
            <a:off x="1524000" y="4524375"/>
            <a:ext cx="9144000" cy="419100"/>
          </a:xfrm>
          <a:prstGeom prst="roundRect">
            <a:avLst>
              <a:gd name="adj" fmla="val 13636"/>
            </a:avLst>
          </a:prstGeom>
          <a:solidFill>
            <a:srgbClr val="F1F3F5"/>
          </a:solidFill>
          <a:ln w="9525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装自己的：实现新的 adapter / provider       借现成的：复用兼容实现</a:t>
            </a:r>
          </a:p>
        </p:txBody>
      </p:sp>
      <p:sp>
        <p:nvSpPr>
          <p:cNvPr id="55" name="slide20-callout">
            <a:extLst>
              <a:ext uri="{FF2B5EF4-FFF2-40B4-BE49-F238E27FC236}">
                <a16:creationId xmlns:a16="http://schemas.microsoft.com/office/drawing/2014/main" id="{5FEDAD16-19B4-4E7A-B0F9-540564C62F4F}"/>
              </a:ext>
            </a:extLst>
          </p:cNvPr>
          <p:cNvSpPr>
            <a:spLocks noGrp="1"/>
          </p:cNvSpPr>
          <p:nvPr/>
        </p:nvSpPr>
        <p:spPr>
          <a:xfrm>
            <a:off x="704850" y="5286375"/>
            <a:ext cx="10782300" cy="4572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加模型、加工具，都不必改默认 Loop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6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68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6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84A818-FBCD-49FC-AACD-F5F79EE5591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规则告诉人怎么做，门禁负责把错误挡住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321B43-121A-40EB-B6FB-E019D34DCBD5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规则负责说明，门禁负责阻止错误发生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076CAB-7FB0-4589-8AE9-651B39D95063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611547-DB1F-439E-A41C-441873A724C0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10782300" cy="781050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0A318D-C522-45D3-BC15-2946FC5D1B91}"/>
              </a:ext>
            </a:extLst>
          </p:cNvPr>
          <p:cNvSpPr>
            <a:spLocks noGrp="1"/>
          </p:cNvSpPr>
          <p:nvPr/>
        </p:nvSpPr>
        <p:spPr>
          <a:xfrm>
            <a:off x="933450" y="2352675"/>
            <a:ext cx="10144125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“Agent 更可靠地遵守系统门禁，而不是文字约定。”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825DE6-67C0-426E-A601-C48D617D3797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101441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DSH Harness philosophy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FA2AA6-F310-4EA7-82D5-D22053588D5F}"/>
              </a:ext>
            </a:extLst>
          </p:cNvPr>
          <p:cNvSpPr>
            <a:spLocks noGrp="1"/>
          </p:cNvSpPr>
          <p:nvPr/>
        </p:nvSpPr>
        <p:spPr>
          <a:xfrm>
            <a:off x="1571625" y="3667125"/>
            <a:ext cx="23812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把规则写成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可检查的承诺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DB9FCCE-D973-42B3-AC3A-5583AA290B0A}"/>
              </a:ext>
            </a:extLst>
          </p:cNvPr>
          <p:cNvSpPr>
            <a:spLocks noGrp="1"/>
          </p:cNvSpPr>
          <p:nvPr/>
        </p:nvSpPr>
        <p:spPr>
          <a:xfrm>
            <a:off x="4905375" y="3667125"/>
            <a:ext cx="23812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检查失败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就阻止执行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477249-8D3A-4A94-8DBB-371A1530658A}"/>
              </a:ext>
            </a:extLst>
          </p:cNvPr>
          <p:cNvSpPr>
            <a:spLocks noGrp="1"/>
          </p:cNvSpPr>
          <p:nvPr/>
        </p:nvSpPr>
        <p:spPr>
          <a:xfrm>
            <a:off x="8239125" y="3667125"/>
            <a:ext cx="23812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接入持续检查（CI）</a:t>
            </a:r>
          </a:p>
          <a:p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和真实执行路径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24FE35-1EF9-4451-A3CD-D3C886449D44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8763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GraphARC 的 plan → check → execute：先检查，再允许真正执行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BDD96AF-E6C1-499E-B2E8-C4A2DECEE82E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07823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不是要求 Agent 自律，而是让系统拒绝错误</a:t>
            </a:r>
          </a:p>
        </p:txBody>
      </p:sp>
      <p:cxnSp>
        <p:nvCxnSpPr>
          <p:cNvPr id="81" name="Straight Arrow Connector 80"/>
          <p:cNvCxnSpPr>
            <a:stCxn id="11" idx="3"/>
            <a:endCxn id="12" idx="1"/>
          </p:cNvCxnSpPr>
          <p:nvPr/>
        </p:nvCxnSpPr>
        <p:spPr>
          <a:xfrm>
            <a:off x="3952875" y="3976688"/>
            <a:ext cx="95250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82" name="Straight Arrow Connector 81"/>
          <p:cNvCxnSpPr>
            <a:stCxn id="12" idx="3"/>
            <a:endCxn id="13" idx="1"/>
          </p:cNvCxnSpPr>
          <p:nvPr/>
        </p:nvCxnSpPr>
        <p:spPr>
          <a:xfrm>
            <a:off x="7286625" y="3976688"/>
            <a:ext cx="952500" cy="0"/>
          </a:xfrm>
          <a:prstGeom prst="straightConnector1">
            <a:avLst/>
          </a:prstGeom>
          <a:ln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323850"/>
            <a:ext cx="1929575" cy="341376"/>
          </a:xfrm>
          <a:prstGeom prst="rect">
            <a:avLst/>
          </a:prstGeom>
        </p:spPr>
      </p:pic>
      <p:pic>
        <p:nvPicPr>
          <p:cNvPr id="72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257175"/>
            <a:ext cx="791210" cy="527622"/>
          </a:xfrm>
          <a:prstGeom prst="rect">
            <a:avLst/>
          </a:prstGeom>
        </p:spPr>
      </p:pic>
      <p:pic>
        <p:nvPicPr>
          <p:cNvPr id="73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33350"/>
            <a:ext cx="1171702" cy="683641"/>
          </a:xfrm>
          <a:prstGeom prst="rect">
            <a:avLst/>
          </a:prstGeom>
        </p:spPr>
      </p:pic>
      <p:pic>
        <p:nvPicPr>
          <p:cNvPr id="74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33350"/>
            <a:ext cx="838327" cy="1186371"/>
          </a:xfrm>
          <a:prstGeom prst="rect">
            <a:avLst/>
          </a:prstGeom>
        </p:spPr>
      </p:pic>
      <p:sp>
        <p:nvSpPr>
          <p:cNvPr id="48" name="slide-title">
            <a:extLst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21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OPC 要掌握到哪一步？先会用 Harness，再学会改边界</a:t>
            </a:r>
          </a:p>
        </p:txBody>
      </p:sp>
      <p:sp>
        <p:nvSpPr>
          <p:cNvPr id="49" name="slide-subtitle">
            <a:extLst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87719"/>
          </a:bodyPr>
          <a:lstStyle/>
          <a:p>
            <a:pPr algn="l">
              <a:buNone/>
              <a:defRPr sz="14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26A78"/>
                </a:solidFill>
                <a:latin typeface="Arial"/>
                <a:ea typeface="Arial"/>
                <a:cs typeface="Arial"/>
              </a:rPr>
              <a:t>目标不是从零造框架，而是知道什么时候借、什么时候换</a:t>
            </a:r>
          </a:p>
        </p:txBody>
      </p:sp>
      <p:sp>
        <p:nvSpPr>
          <p:cNvPr id="50" name="section-rule">
            <a:extLst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647700" cy="28575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dsh-definition">
            <a:extLst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287000" cy="590550"/>
          </a:xfrm>
          <a:prstGeom prst="roundRect">
            <a:avLst>
              <a:gd name="adj" fmla="val 967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DSH（DeepSeek Harness）= 可以替换模型、工具、执行后端和门禁的可组合 Harness</a:t>
            </a:r>
          </a:p>
        </p:txBody>
      </p:sp>
      <p:sp>
        <p:nvSpPr>
          <p:cNvPr id="52" name="takeaway-1">
            <a:extLst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3" name="takeaway-number-1">
            <a:extLst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noGrp="1"/>
          </p:cNvSpPr>
          <p:nvPr/>
        </p:nvSpPr>
        <p:spPr>
          <a:xfrm>
            <a:off x="866775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noGrp="1"/>
          </p:cNvSpPr>
          <p:nvPr/>
        </p:nvSpPr>
        <p:spPr>
          <a:xfrm>
            <a:off x="1400175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75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先借现成</a:t>
            </a:r>
          </a:p>
        </p:txBody>
      </p:sp>
      <p:sp>
        <p:nvSpPr>
          <p:cNvPr id="55" name="takeaway-body-1">
            <a:extLst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noGrp="1"/>
          </p:cNvSpPr>
          <p:nvPr/>
        </p:nvSpPr>
        <p:spPr>
          <a:xfrm>
            <a:off x="1400175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3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26A78"/>
                </a:solidFill>
                <a:latin typeface="Arial"/>
                <a:ea typeface="Arial"/>
                <a:cs typeface="Arial"/>
              </a:rPr>
              <a:t>日常任务先用</a:t>
            </a:r>
          </a:p>
          <a:p>
            <a:pPr algn="l">
              <a:buNone/>
              <a:defRPr sz="13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26A78"/>
                </a:solidFill>
                <a:latin typeface="Arial"/>
                <a:ea typeface="Arial"/>
                <a:cs typeface="Arial"/>
              </a:rPr>
              <a:t>成熟 Harness</a:t>
            </a:r>
          </a:p>
        </p:txBody>
      </p:sp>
      <p:sp>
        <p:nvSpPr>
          <p:cNvPr id="56" name="takeaway-2">
            <a:extLst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noGrp="1"/>
          </p:cNvSpPr>
          <p:nvPr/>
        </p:nvSpPr>
        <p:spPr>
          <a:xfrm>
            <a:off x="4381500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57" name="takeaway-number-2">
            <a:extLst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noGrp="1"/>
          </p:cNvSpPr>
          <p:nvPr/>
        </p:nvSpPr>
        <p:spPr>
          <a:xfrm>
            <a:off x="4533900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noGrp="1"/>
          </p:cNvSpPr>
          <p:nvPr/>
        </p:nvSpPr>
        <p:spPr>
          <a:xfrm>
            <a:off x="5067300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75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看懂边界</a:t>
            </a:r>
          </a:p>
        </p:txBody>
      </p:sp>
      <p:sp>
        <p:nvSpPr>
          <p:cNvPr id="59" name="takeaway-body-2">
            <a:extLst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noGrp="1"/>
          </p:cNvSpPr>
          <p:nvPr/>
        </p:nvSpPr>
        <p:spPr>
          <a:xfrm>
            <a:off x="5067300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3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谁能做、谁检查</a:t>
            </a:r>
          </a:p>
          <a:p>
            <a:pPr algn="l">
              <a:buNone/>
              <a:defRPr sz="13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26A78"/>
                </a:solidFill>
                <a:latin typeface="Arial"/>
                <a:ea typeface="Arial"/>
                <a:cs typeface="Arial"/>
              </a:rPr>
              <a:t>哪里留记录</a:t>
            </a:r>
          </a:p>
        </p:txBody>
      </p:sp>
      <p:sp>
        <p:nvSpPr>
          <p:cNvPr id="60" name="takeaway-3">
            <a:extLst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34290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B8BEC8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endParaRPr/>
          </a:p>
        </p:txBody>
      </p:sp>
      <p:sp>
        <p:nvSpPr>
          <p:cNvPr id="61" name="takeaway-number-3">
            <a:extLst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noGrp="1"/>
          </p:cNvSpPr>
          <p:nvPr/>
        </p:nvSpPr>
        <p:spPr>
          <a:xfrm>
            <a:off x="8201025" y="3286125"/>
            <a:ext cx="419100" cy="419100"/>
          </a:xfrm>
          <a:prstGeom prst="ellipse">
            <a:avLst/>
          </a:prstGeom>
          <a:solidFill>
            <a:srgbClr val="0F1423"/>
          </a:solidFill>
          <a:ln w="9525">
            <a:solidFill>
              <a:srgbClr val="0F142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noGrp="1"/>
          </p:cNvSpPr>
          <p:nvPr/>
        </p:nvSpPr>
        <p:spPr>
          <a:xfrm>
            <a:off x="8734425" y="32385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575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必要时装自己的</a:t>
            </a:r>
          </a:p>
        </p:txBody>
      </p:sp>
      <p:sp>
        <p:nvSpPr>
          <p:cNvPr id="63" name="takeaway-body-3">
            <a:extLst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noGrp="1"/>
          </p:cNvSpPr>
          <p:nvPr/>
        </p:nvSpPr>
        <p:spPr>
          <a:xfrm>
            <a:off x="8734425" y="367665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buNone/>
              <a:defRPr sz="13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26A78"/>
                </a:solidFill>
                <a:latin typeface="Arial"/>
                <a:ea typeface="Arial"/>
                <a:cs typeface="Arial"/>
              </a:rPr>
              <a:t>差异化进入执行链时</a:t>
            </a:r>
          </a:p>
          <a:p>
            <a:pPr algn="l">
              <a:buNone/>
              <a:defRPr sz="13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26A78"/>
                </a:solidFill>
                <a:latin typeface="Arial"/>
                <a:ea typeface="Arial"/>
                <a:cs typeface="Arial"/>
              </a:rPr>
              <a:t>替换对应插件</a:t>
            </a:r>
          </a:p>
        </p:txBody>
      </p:sp>
      <p:sp>
        <p:nvSpPr>
          <p:cNvPr id="64" name="quote-background">
            <a:extLst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10782300" cy="781050"/>
          </a:xfrm>
          <a:prstGeom prst="roundRect">
            <a:avLst>
              <a:gd name="adj" fmla="val 7317"/>
            </a:avLst>
          </a:prstGeom>
          <a:solidFill>
            <a:srgbClr val="0F1423"/>
          </a:solidFill>
          <a:ln w="0">
            <a:solidFill>
              <a:srgbClr val="0F142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quote">
            <a:extLst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1014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98485"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“装自己的，借现成的”</a:t>
            </a:r>
          </a:p>
        </p:txBody>
      </p:sp>
      <p:sp>
        <p:nvSpPr>
          <p:cNvPr id="66" name="quote-source">
            <a:extLst>
              <a:ext uri="{FF2B5EF4-FFF2-40B4-BE49-F238E27FC236}">
                <a16:creationId xmlns:a16="http://schemas.microsoft.com/office/drawing/2014/main" id="{9D161A0B-18A7-4F80-B028-3F446CF302C3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1014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 fontScale="59524"/>
          </a:bodyPr>
          <a:lstStyle/>
          <a:p>
            <a:pPr algn="l"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一人公司的 Harness 原则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40" y="3279140"/>
            <a:ext cx="9144000" cy="960120"/>
          </a:xfrm>
        </p:spPr>
        <p:txBody>
          <a:bodyPr>
            <a:normAutofit fontScale="90000"/>
          </a:bodyPr>
          <a:lstStyle/>
          <a:p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谢谢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装自己的，借现成的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321310"/>
            <a:ext cx="2756535" cy="487680"/>
          </a:xfrm>
          <a:prstGeom prst="rect">
            <a:avLst/>
          </a:prstGeom>
        </p:spPr>
      </p:pic>
      <p:pic>
        <p:nvPicPr>
          <p:cNvPr id="13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5910" y="187960"/>
            <a:ext cx="1130300" cy="753745"/>
          </a:xfrm>
          <a:prstGeom prst="rect">
            <a:avLst/>
          </a:prstGeom>
        </p:spPr>
      </p:pic>
      <p:pic>
        <p:nvPicPr>
          <p:cNvPr id="14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560" y="76835"/>
            <a:ext cx="1673860" cy="976630"/>
          </a:xfrm>
          <a:prstGeom prst="rect">
            <a:avLst/>
          </a:prstGeom>
        </p:spPr>
      </p:pic>
      <p:pic>
        <p:nvPicPr>
          <p:cNvPr id="15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940" y="0"/>
            <a:ext cx="1197610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Microsoft Macintosh PowerPoint</Application>
  <DocSecurity>0</DocSecurity>
  <PresentationFormat>Widescreen</PresentationFormat>
  <Paragraphs>402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Arial Black</vt:lpstr>
      <vt:lpstr>WPS​​</vt:lpstr>
      <vt:lpstr>OPC 航海指南 一个人，AI Coding 要掌握到多深？  Ethan Jiang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谢谢 装自己的，借现成的  Ethan Jiang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yizhen jiang</cp:lastModifiedBy>
  <cp:revision>1</cp:revision>
  <dcterms:created xsi:type="dcterms:W3CDTF">2026-08-26T21:26:56Z</dcterms:created>
  <dcterms:modified xsi:type="dcterms:W3CDTF">2026-08-27T02:10:46Z</dcterms:modified>
</cp:coreProperties>
</file>