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Opening: introduce the question carried through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Three anchors establish Harness, Loop, and Graph before the role 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Replace agenda with the three questions the talk resolves.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One engine, five outcomes; do not imply replacement.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Prompt/Context slide; show Lost in the Middle curve without introducing claims beyond supplied copy.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Introduce Harness without prematurely inserting the security 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Use distinct temporal-loop and spatial-graph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Relationship diagram, not a pyramid; Harness is the reliable execution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Pivot from the relationship map to the reliability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Recover the minimal harness from P5.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Core harness mechanism: retain full Guides/Sensors and deterministic/probabilistic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Memory frame: three verbs in this precise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Explain dependency without reverting to a geometric hierarchy.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Tell the execution-authorization causal chain, not a CVE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Make the decision criterion concrete.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Fairly state the value of ready-made harnesses.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Show escalation from configuration need to runtime boundary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Thesis for flexible harness.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DSH is a composable Harness, not a replacement for Loop or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DSH mechanism slide; DSH does not use MCP in this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Rule -&gt; failing command -&gt; CI; preserve the quote callout.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Answer the opening question without implying Loop/Graph are automatically owned.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All claims and quotations are supplied in talk-ai-coding-evolution/04_drafts/ppt-text-v1.md.</a:t>
            </a:r>
          </a:p>
          <a:p>
            <a:endParaRPr/>
          </a:p>
          <a:p>
            <a:r>
              <a:t>Close on the reusable choice principle.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AE11E3-EFEF-4EEA-AA89-18A57D8D948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buNone/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t>单击此处添加标题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F45372E-CC10-4D98-9D95-90F3E121254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781074B-108D-4C7F-9E3B-3D43BA2A795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D662EE3-119E-444B-8134-7D848C87A23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8ADC448-3193-4AF7-855A-E1F74AE450E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lt"/>
                <a:cs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单击此处添加副标题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380BA0-8406-49B3-9B37-900883CA3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>
            <a:normAutofit/>
          </a:bodyPr>
          <a:lstStyle>
            <a:lvl1pPr>
              <a:buNone/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F6F0F48-2682-496C-A91E-8928A92DBF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883ACE5-E1ED-4889-A8F7-CB90819B5DB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64AFB6-97E9-4D9B-AFE3-53EECFB3668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08125FB-23F7-4FBE-B80F-29FCB35ED1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F2DB45-72E3-4D78-AB1A-2F5FE6DEF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51117"/>
            <a:ext cx="7321550" cy="811357"/>
          </a:xfrm>
        </p:spPr>
        <p:txBody>
          <a:bodyPr anchor="b">
            <a:normAutofit/>
          </a:bodyPr>
          <a:lstStyle>
            <a:lvl1pPr>
              <a:buNone/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F86F43A-E5AD-4CE0-9F1E-9CFE3C9F3D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C6BF131-3545-4083-B1FB-54FA58D2A7B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38ED3A7-C4AA-4CD7-9BFE-4AFFC2C809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8E591F5-8D6C-404A-9389-5A39B22B307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9A8F55-B68A-483A-A53E-540C8818B3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buNone/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8D2A801-E694-4FD7-8E63-D698BB9765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258DE2C-8D98-42FC-A500-7B2E31508435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5F15505-D19D-43F6-9A27-C998016E2E7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B7D99E7-E8CA-4210-97C8-0C2668054FE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366801E-F48B-4B7B-B57D-EFEC492F43D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24C8D2-906A-44E5-94E9-FC88BBF57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E8DB727-2083-4D48-B0DA-48037014CB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1B5D8E6-CA19-4745-A6A7-8A82CBC0F3A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498F709-ED1B-4E0E-8E20-10F17B6EA615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D5326E8-0675-4AFF-8B2C-FDF0B6FF5567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36E60D0-2B7E-4A5C-92EA-EEB167C46D2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F28AEA3-6DC2-44DF-B9FA-1BBFB21EFBF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6D67F99-B855-4824-B004-A06206B6B58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CA199B-58F5-4BDA-8028-60E6D95E41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buNone/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B9440F6-C9F7-4464-B7E3-B581F576369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6448F65-3888-4EE7-A08A-925768F1919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DF899AC-020B-46CD-AB6B-94B04616BF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066AB12-1CE8-4DA0-A617-37071C3B63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56422C5-6BBF-4F98-9C93-3313CDB9ACD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B909A89-EB44-461A-BD20-BF7EFEE3695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FEE799-ECDE-41F7-ACC2-A028E98354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>
            <a:normAutofit/>
          </a:bodyPr>
          <a:lstStyle>
            <a:lvl1pPr>
              <a:buNone/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t>单击此处编辑标题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DA67F8A-B568-4E81-9C42-D7B77B6773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8CBE4A5-37F9-4B46-8FDF-C8E7B9A6F48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EF1D540-B4F7-4549-937A-B756E1F72EC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A03B651-75B4-48C9-B5A6-E469B4F3E9D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6F890E-88E4-4880-9B9C-2A1F104357F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32F8484-7F20-4C6C-B6DF-0AD102880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buNone/>
              <a:defRPr sz="36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D0FE67F-3E6A-4258-9DFC-CBB476B70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5F01BB-9F73-4DB1-BB7F-5433E75C03A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5998CDA-FD51-482A-AFC0-A439663F9EA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9A15723-FE64-402B-B376-BA673F9FB99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156EC72-DCFB-4AFD-AB36-AC613FA5813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93EF8AF-A9E5-4CED-9332-EFF831DF4AD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3B065D7-EB36-4528-A358-4812AF9E5A3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C66EC56A-B5FD-4CC7-AF64-F85A6FED3B8A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A19B4D4-75CE-4A17-AED6-20D968EC9F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B2E0814-64EC-45B2-81E7-F0B0371D9C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D2CEEE8-4DEC-4F89-865E-5AE4C6F437A1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6BD3693-0FFB-4137-8FCD-2FA59D951F63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22BAACC-6271-4091-AD55-B49135007FDE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" y="263842"/>
            <a:ext cx="12191365" cy="6858000"/>
          </a:xfrm>
          <a:prstGeom prst="rect">
            <a:avLst/>
          </a:prstGeom>
        </p:spPr>
      </p:pic>
      <p:sp>
        <p:nvSpPr>
          <p:cNvPr id="4" name="标题 3">
            <a:extLst>
              <a:ext uri="{FF2B5EF4-FFF2-40B4-BE49-F238E27FC236}">
                <a16:creationId xmlns:a16="http://schemas.microsoft.com/office/drawing/2014/main" id="{FD37E421-4BCF-4EC7-B5A4-7F06A4971C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96060" y="3212782"/>
            <a:ext cx="9144000" cy="960120"/>
          </a:xfrm>
        </p:spPr>
        <p:txBody>
          <a:bodyPr>
            <a:normAutofit fontScale="90000"/>
          </a:bodyPr>
          <a:lstStyle/>
          <a:p>
            <a:pPr algn="ctr">
              <a:defRPr sz="3225" b="1">
                <a:solidFill>
                  <a:srgbClr val="111827"/>
                </a:solidFill>
              </a:defRPr>
            </a:pPr>
            <a:r>
              <a:rPr sz="3225" b="1" dirty="0">
                <a:solidFill>
                  <a:srgbClr val="111827"/>
                </a:solidFill>
                <a:latin typeface="+mj-ea"/>
                <a:ea typeface="+mj-ea"/>
                <a:cs typeface="+mj-ea"/>
              </a:rPr>
              <a:t>OPC </a:t>
            </a:r>
            <a:r>
              <a:rPr sz="3225" b="1" dirty="0" err="1">
                <a:solidFill>
                  <a:srgbClr val="111827"/>
                </a:solidFill>
                <a:latin typeface="+mj-ea"/>
                <a:ea typeface="+mj-ea"/>
                <a:cs typeface="+mj-ea"/>
              </a:rPr>
              <a:t>航海指南</a:t>
            </a:r>
            <a:endParaRPr sz="5335" dirty="0">
              <a:solidFill>
                <a:srgbClr val="C00000"/>
              </a:solidFill>
              <a:latin typeface="+mj-ea"/>
              <a:ea typeface="+mj-ea"/>
              <a:cs typeface="+mj-ea"/>
            </a:endParaRPr>
          </a:p>
          <a:p>
            <a:pPr algn="ctr">
              <a:defRPr sz="3225" b="1">
                <a:solidFill>
                  <a:srgbClr val="111827"/>
                </a:solidFill>
              </a:defRPr>
            </a:pPr>
            <a:r>
              <a:rPr sz="3225" b="1" dirty="0" err="1">
                <a:solidFill>
                  <a:srgbClr val="111827"/>
                </a:solidFill>
                <a:latin typeface="+mj-ea"/>
                <a:ea typeface="+mj-ea"/>
                <a:cs typeface="+mj-ea"/>
              </a:rPr>
              <a:t>一个人，AI</a:t>
            </a:r>
            <a:r>
              <a:rPr sz="3225" b="1" dirty="0">
                <a:solidFill>
                  <a:srgbClr val="111827"/>
                </a:solidFill>
                <a:latin typeface="+mj-ea"/>
                <a:ea typeface="+mj-ea"/>
                <a:cs typeface="+mj-ea"/>
              </a:rPr>
              <a:t> Coding </a:t>
            </a:r>
            <a:r>
              <a:rPr sz="3225" b="1" dirty="0" err="1">
                <a:solidFill>
                  <a:srgbClr val="111827"/>
                </a:solidFill>
                <a:latin typeface="+mj-ea"/>
                <a:ea typeface="+mj-ea"/>
                <a:cs typeface="+mj-ea"/>
              </a:rPr>
              <a:t>要掌握到多深</a:t>
            </a:r>
            <a:r>
              <a:rPr sz="3225" b="1" dirty="0">
                <a:solidFill>
                  <a:srgbClr val="111827"/>
                </a:solidFill>
                <a:latin typeface="+mj-ea"/>
                <a:ea typeface="+mj-ea"/>
                <a:cs typeface="+mj-ea"/>
              </a:rPr>
              <a:t>？</a:t>
            </a:r>
            <a:endParaRPr sz="5335" dirty="0">
              <a:solidFill>
                <a:srgbClr val="C00000"/>
              </a:solidFill>
              <a:latin typeface="+mj-ea"/>
              <a:ea typeface="+mj-ea"/>
              <a:cs typeface="+mj-ea"/>
            </a:endParaRPr>
          </a:p>
          <a:p>
            <a:endParaRPr sz="5335" dirty="0">
              <a:solidFill>
                <a:srgbClr val="C00000"/>
              </a:solidFill>
              <a:latin typeface="+mj-ea"/>
              <a:ea typeface="+mj-ea"/>
              <a:cs typeface="+mj-ea"/>
            </a:endParaRPr>
          </a:p>
          <a:p>
            <a:pPr algn="ctr">
              <a:defRPr sz="3225" b="1">
                <a:solidFill>
                  <a:srgbClr val="111827"/>
                </a:solidFill>
              </a:defRPr>
            </a:pPr>
            <a:r>
              <a:rPr sz="2200" b="1" dirty="0">
                <a:solidFill>
                  <a:srgbClr val="111827"/>
                </a:solidFill>
                <a:latin typeface="+mj-ea"/>
                <a:ea typeface="+mj-ea"/>
                <a:cs typeface="+mj-ea"/>
              </a:rPr>
              <a:t>Ethan Jiang</a:t>
            </a:r>
            <a:endParaRPr sz="2200" dirty="0">
              <a:solidFill>
                <a:srgbClr val="C00000"/>
              </a:solidFill>
              <a:latin typeface="+mj-ea"/>
              <a:ea typeface="+mj-ea"/>
              <a:cs typeface="+mj-ea"/>
            </a:endParaRPr>
          </a:p>
        </p:txBody>
      </p:sp>
      <p:pic>
        <p:nvPicPr>
          <p:cNvPr id="12" name="图片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2590" y="321310"/>
            <a:ext cx="2756535" cy="487680"/>
          </a:xfrm>
          <a:prstGeom prst="rect">
            <a:avLst/>
          </a:prstGeom>
        </p:spPr>
      </p:pic>
      <p:pic>
        <p:nvPicPr>
          <p:cNvPr id="13" name="图片 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5910" y="187960"/>
            <a:ext cx="1130300" cy="753745"/>
          </a:xfrm>
          <a:prstGeom prst="rect">
            <a:avLst/>
          </a:prstGeom>
        </p:spPr>
      </p:pic>
      <p:pic>
        <p:nvPicPr>
          <p:cNvPr id="14" name="图片 1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35560" y="76835"/>
            <a:ext cx="1673860" cy="976630"/>
          </a:xfrm>
          <a:prstGeom prst="rect">
            <a:avLst/>
          </a:prstGeom>
        </p:spPr>
      </p:pic>
      <p:pic>
        <p:nvPicPr>
          <p:cNvPr id="15" name="图片 1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51940" y="0"/>
            <a:ext cx="1197610" cy="1694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092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27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28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29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11A407E-D2C9-4203-B4D2-E12A286DA30F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五个角色，已经分别有人替你命名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BB8FB4C-6C74-41EC-BF16-4722B86426FF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人从写一句话，转向设计系统怎么工作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489083B-5006-4CC6-A882-DB046ECED1F8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61492ABF-6BB6-4F22-AD30-85E0FF5ACBD6}"/>
              </a:ext>
            </a:extLst>
          </p:cNvPr>
          <p:cNvSpPr>
            <a:spLocks noGrp="1"/>
          </p:cNvSpPr>
          <p:nvPr/>
        </p:nvSpPr>
        <p:spPr>
          <a:xfrm>
            <a:off x="2143125" y="2838450"/>
            <a:ext cx="628650" cy="9525"/>
          </a:xfrm>
          <a:prstGeom prst="line">
            <a:avLst/>
          </a:prstGeom>
          <a:noFill/>
          <a:ln w="14288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BD81693-2E76-42F9-A885-DCA348B54E1E}"/>
              </a:ext>
            </a:extLst>
          </p:cNvPr>
          <p:cNvSpPr>
            <a:spLocks noGrp="1"/>
          </p:cNvSpPr>
          <p:nvPr/>
        </p:nvSpPr>
        <p:spPr>
          <a:xfrm>
            <a:off x="714375" y="2457450"/>
            <a:ext cx="142875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说话者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7510426-2387-4FE6-840F-49A7897F6473}"/>
              </a:ext>
            </a:extLst>
          </p:cNvPr>
          <p:cNvSpPr>
            <a:spLocks noGrp="1"/>
          </p:cNvSpPr>
          <p:nvPr/>
        </p:nvSpPr>
        <p:spPr>
          <a:xfrm>
            <a:off x="771525" y="3095625"/>
            <a:ext cx="131445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975" b="0">
                <a:solidFill>
                  <a:srgbClr val="667085"/>
                </a:solidFill>
              </a:defRPr>
            </a:pPr>
            <a:r>
              <a:rPr sz="975" b="0">
                <a:solidFill>
                  <a:srgbClr val="667085"/>
                </a:solidFill>
              </a:rPr>
              <a:t>写 prompt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51653769-22E0-496E-A149-6AE3ED0A311F}"/>
              </a:ext>
            </a:extLst>
          </p:cNvPr>
          <p:cNvSpPr>
            <a:spLocks noGrp="1"/>
          </p:cNvSpPr>
          <p:nvPr/>
        </p:nvSpPr>
        <p:spPr>
          <a:xfrm>
            <a:off x="4210050" y="2838450"/>
            <a:ext cx="628650" cy="9525"/>
          </a:xfrm>
          <a:prstGeom prst="line">
            <a:avLst/>
          </a:prstGeom>
          <a:noFill/>
          <a:ln w="14288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82874CA6-1353-4DA2-BFDF-73E5DB4B3730}"/>
              </a:ext>
            </a:extLst>
          </p:cNvPr>
          <p:cNvSpPr>
            <a:spLocks noGrp="1"/>
          </p:cNvSpPr>
          <p:nvPr/>
        </p:nvSpPr>
        <p:spPr>
          <a:xfrm>
            <a:off x="2781300" y="2457450"/>
            <a:ext cx="142875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策展者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1256396-50AB-475E-A069-5C8BBC9DE567}"/>
              </a:ext>
            </a:extLst>
          </p:cNvPr>
          <p:cNvSpPr>
            <a:spLocks noGrp="1"/>
          </p:cNvSpPr>
          <p:nvPr/>
        </p:nvSpPr>
        <p:spPr>
          <a:xfrm>
            <a:off x="2838450" y="3095625"/>
            <a:ext cx="131445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975" b="0">
                <a:solidFill>
                  <a:srgbClr val="667085"/>
                </a:solidFill>
              </a:defRPr>
            </a:pPr>
            <a:r>
              <a:rPr sz="975" b="0">
                <a:solidFill>
                  <a:srgbClr val="667085"/>
                </a:solidFill>
              </a:rPr>
              <a:t>挑 context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AE650C15-8399-4B83-892D-2642D5047F67}"/>
              </a:ext>
            </a:extLst>
          </p:cNvPr>
          <p:cNvSpPr>
            <a:spLocks noGrp="1"/>
          </p:cNvSpPr>
          <p:nvPr/>
        </p:nvSpPr>
        <p:spPr>
          <a:xfrm>
            <a:off x="6276975" y="2838450"/>
            <a:ext cx="628650" cy="9525"/>
          </a:xfrm>
          <a:prstGeom prst="line">
            <a:avLst/>
          </a:prstGeom>
          <a:noFill/>
          <a:ln w="14288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FE8E040-7CB2-4D54-864C-B5B888ED612F}"/>
              </a:ext>
            </a:extLst>
          </p:cNvPr>
          <p:cNvSpPr>
            <a:spLocks noGrp="1"/>
          </p:cNvSpPr>
          <p:nvPr/>
        </p:nvSpPr>
        <p:spPr>
          <a:xfrm>
            <a:off x="4848225" y="2457450"/>
            <a:ext cx="142875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环境工程师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A278214-E7A2-4F96-B186-650F6F3EE2E9}"/>
              </a:ext>
            </a:extLst>
          </p:cNvPr>
          <p:cNvSpPr>
            <a:spLocks noGrp="1"/>
          </p:cNvSpPr>
          <p:nvPr/>
        </p:nvSpPr>
        <p:spPr>
          <a:xfrm>
            <a:off x="4905375" y="3095625"/>
            <a:ext cx="131445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975" b="0">
                <a:solidFill>
                  <a:srgbClr val="667085"/>
                </a:solidFill>
              </a:defRPr>
            </a:pPr>
            <a:r>
              <a:rPr sz="975" b="0">
                <a:solidFill>
                  <a:srgbClr val="667085"/>
                </a:solidFill>
              </a:rPr>
              <a:t>搭环境</a:t>
            </a:r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66474467-ADDD-4315-8505-17E7475C052F}"/>
              </a:ext>
            </a:extLst>
          </p:cNvPr>
          <p:cNvSpPr>
            <a:spLocks noGrp="1"/>
          </p:cNvSpPr>
          <p:nvPr/>
        </p:nvSpPr>
        <p:spPr>
          <a:xfrm>
            <a:off x="8343900" y="2838450"/>
            <a:ext cx="628650" cy="9525"/>
          </a:xfrm>
          <a:prstGeom prst="line">
            <a:avLst/>
          </a:prstGeom>
          <a:noFill/>
          <a:ln w="14288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AB04E20-5400-460D-A6D9-47731EB5A029}"/>
              </a:ext>
            </a:extLst>
          </p:cNvPr>
          <p:cNvSpPr>
            <a:spLocks noGrp="1"/>
          </p:cNvSpPr>
          <p:nvPr/>
        </p:nvSpPr>
        <p:spPr>
          <a:xfrm>
            <a:off x="6915150" y="2457450"/>
            <a:ext cx="142875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控制流作者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E9999E6-10ED-4189-87F7-29546F1FACF9}"/>
              </a:ext>
            </a:extLst>
          </p:cNvPr>
          <p:cNvSpPr>
            <a:spLocks noGrp="1"/>
          </p:cNvSpPr>
          <p:nvPr/>
        </p:nvSpPr>
        <p:spPr>
          <a:xfrm>
            <a:off x="6972300" y="3095625"/>
            <a:ext cx="131445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975" b="0">
                <a:solidFill>
                  <a:srgbClr val="667085"/>
                </a:solidFill>
              </a:defRPr>
            </a:pPr>
            <a:r>
              <a:rPr sz="975" b="0">
                <a:solidFill>
                  <a:srgbClr val="667085"/>
                </a:solidFill>
              </a:rPr>
              <a:t>写 loop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CDB55F7A-248A-40CA-8CE5-455A202A076A}"/>
              </a:ext>
            </a:extLst>
          </p:cNvPr>
          <p:cNvSpPr>
            <a:spLocks noGrp="1"/>
          </p:cNvSpPr>
          <p:nvPr/>
        </p:nvSpPr>
        <p:spPr>
          <a:xfrm>
            <a:off x="8982075" y="2457450"/>
            <a:ext cx="142875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编排者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002F2A2-D07C-4443-A0B9-E6829C3F3E59}"/>
              </a:ext>
            </a:extLst>
          </p:cNvPr>
          <p:cNvSpPr>
            <a:spLocks noGrp="1"/>
          </p:cNvSpPr>
          <p:nvPr/>
        </p:nvSpPr>
        <p:spPr>
          <a:xfrm>
            <a:off x="9039225" y="3095625"/>
            <a:ext cx="131445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975" b="0">
                <a:solidFill>
                  <a:srgbClr val="667085"/>
                </a:solidFill>
              </a:defRPr>
            </a:pPr>
            <a:r>
              <a:rPr sz="975" b="0">
                <a:solidFill>
                  <a:srgbClr val="667085"/>
                </a:solidFill>
              </a:rPr>
              <a:t>排 graph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5E4F42B-8422-49EE-B313-5F72FEC4204B}"/>
              </a:ext>
            </a:extLst>
          </p:cNvPr>
          <p:cNvSpPr>
            <a:spLocks noGrp="1"/>
          </p:cNvSpPr>
          <p:nvPr/>
        </p:nvSpPr>
        <p:spPr>
          <a:xfrm>
            <a:off x="704850" y="3638550"/>
            <a:ext cx="10782300" cy="781050"/>
          </a:xfrm>
          <a:prstGeom prst="roundRect">
            <a:avLst>
              <a:gd name="adj" fmla="val 9756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2FC0C807-D070-4978-BBCB-DC67768D1D5B}"/>
              </a:ext>
            </a:extLst>
          </p:cNvPr>
          <p:cNvSpPr>
            <a:spLocks noGrp="1"/>
          </p:cNvSpPr>
          <p:nvPr/>
        </p:nvSpPr>
        <p:spPr>
          <a:xfrm>
            <a:off x="933450" y="3752850"/>
            <a:ext cx="10144125" cy="323850"/>
          </a:xfrm>
          <a:prstGeom prst="roundRect">
            <a:avLst>
              <a:gd name="adj" fmla="val 23529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“Agent = Model + Harness · My job is to write loops · Build agents as state graphs”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5101EE78-94C4-4025-8E20-6C1104202EC3}"/>
              </a:ext>
            </a:extLst>
          </p:cNvPr>
          <p:cNvSpPr>
            <a:spLocks noGrp="1"/>
          </p:cNvSpPr>
          <p:nvPr/>
        </p:nvSpPr>
        <p:spPr>
          <a:xfrm>
            <a:off x="933450" y="4124325"/>
            <a:ext cx="10144125" cy="171450"/>
          </a:xfrm>
          <a:prstGeom prst="roundRect">
            <a:avLst>
              <a:gd name="adj" fmla="val 44444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975" b="0">
                <a:solidFill>
                  <a:srgbClr val="D0D5DD"/>
                </a:solidFill>
              </a:defRPr>
            </a:pPr>
            <a:r>
              <a:rPr sz="975" b="0">
                <a:solidFill>
                  <a:srgbClr val="D0D5DD"/>
                </a:solidFill>
              </a:rPr>
              <a:t>Böckeler  ·  Boris Cherny  ·  Peter Steinberger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0DD3C5AC-30F1-4A79-AA53-AC3716C93142}"/>
              </a:ext>
            </a:extLst>
          </p:cNvPr>
          <p:cNvSpPr>
            <a:spLocks noGrp="1"/>
          </p:cNvSpPr>
          <p:nvPr/>
        </p:nvSpPr>
        <p:spPr>
          <a:xfrm>
            <a:off x="704850" y="4762500"/>
            <a:ext cx="10782300" cy="419100"/>
          </a:xfrm>
          <a:prstGeom prst="roundRect">
            <a:avLst>
              <a:gd name="adj" fmla="val 18182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责任叠加上移，不是岗位替代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19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20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21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04F9D81-5232-4606-8300-65ADA5594AD2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今天只回答三个问题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169C003-9073-4973-BE77-C65D4337635D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五层和 DSH 都只服务这三问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5DE8197-2EBD-4CED-8BC9-2D620FBAB699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50BF025-E5E7-415D-A6C5-D8C2EFBEDA29}"/>
              </a:ext>
            </a:extLst>
          </p:cNvPr>
          <p:cNvSpPr>
            <a:spLocks noGrp="1"/>
          </p:cNvSpPr>
          <p:nvPr/>
        </p:nvSpPr>
        <p:spPr>
          <a:xfrm>
            <a:off x="876300" y="2238375"/>
            <a:ext cx="647700" cy="381000"/>
          </a:xfrm>
          <a:prstGeom prst="roundRect">
            <a:avLst>
              <a:gd name="adj" fmla="val 20000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01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C378FC25-E79A-4587-A32F-46F969B3E92C}"/>
              </a:ext>
            </a:extLst>
          </p:cNvPr>
          <p:cNvSpPr>
            <a:spLocks noGrp="1"/>
          </p:cNvSpPr>
          <p:nvPr/>
        </p:nvSpPr>
        <p:spPr>
          <a:xfrm>
            <a:off x="1714500" y="2428875"/>
            <a:ext cx="666750" cy="9525"/>
          </a:xfrm>
          <a:prstGeom prst="line">
            <a:avLst/>
          </a:prstGeom>
          <a:noFill/>
          <a:ln w="1905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16EC273-D0EA-45E5-979E-1DA9822BBD7C}"/>
              </a:ext>
            </a:extLst>
          </p:cNvPr>
          <p:cNvSpPr>
            <a:spLocks noGrp="1"/>
          </p:cNvSpPr>
          <p:nvPr/>
        </p:nvSpPr>
        <p:spPr>
          <a:xfrm>
            <a:off x="2647950" y="2219325"/>
            <a:ext cx="7810500" cy="495300"/>
          </a:xfrm>
          <a:prstGeom prst="roundRect">
            <a:avLst>
              <a:gd name="adj" fmla="val 15385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1F2937"/>
                </a:solidFill>
              </a:defRPr>
            </a:pPr>
            <a:r>
              <a:rPr sz="1875" b="1">
                <a:solidFill>
                  <a:srgbClr val="1F2937"/>
                </a:solidFill>
              </a:rPr>
              <a:t>为什么工程注意力会从一句 prompt 上移到系统设计？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B4609F3-6E0B-4429-BBAA-C48647846767}"/>
              </a:ext>
            </a:extLst>
          </p:cNvPr>
          <p:cNvSpPr>
            <a:spLocks noGrp="1"/>
          </p:cNvSpPr>
          <p:nvPr/>
        </p:nvSpPr>
        <p:spPr>
          <a:xfrm>
            <a:off x="876300" y="3238500"/>
            <a:ext cx="647700" cy="381000"/>
          </a:xfrm>
          <a:prstGeom prst="roundRect">
            <a:avLst>
              <a:gd name="adj" fmla="val 20000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02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0B766B5D-D049-469D-A35D-A52389E29E08}"/>
              </a:ext>
            </a:extLst>
          </p:cNvPr>
          <p:cNvSpPr>
            <a:spLocks noGrp="1"/>
          </p:cNvSpPr>
          <p:nvPr/>
        </p:nvSpPr>
        <p:spPr>
          <a:xfrm>
            <a:off x="1714500" y="3429000"/>
            <a:ext cx="666750" cy="9525"/>
          </a:xfrm>
          <a:prstGeom prst="line">
            <a:avLst/>
          </a:prstGeom>
          <a:noFill/>
          <a:ln w="1905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FFB3FA8-DD1E-446A-A821-C321AADD5F6B}"/>
              </a:ext>
            </a:extLst>
          </p:cNvPr>
          <p:cNvSpPr>
            <a:spLocks noGrp="1"/>
          </p:cNvSpPr>
          <p:nvPr/>
        </p:nvSpPr>
        <p:spPr>
          <a:xfrm>
            <a:off x="2647950" y="3219450"/>
            <a:ext cx="7810500" cy="495300"/>
          </a:xfrm>
          <a:prstGeom prst="roundRect">
            <a:avLst>
              <a:gd name="adj" fmla="val 15385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1F2937"/>
                </a:solidFill>
              </a:defRPr>
            </a:pPr>
            <a:r>
              <a:rPr sz="1875" b="1">
                <a:solidFill>
                  <a:srgbClr val="1F2937"/>
                </a:solidFill>
              </a:rPr>
              <a:t>为什么可靠性交付最终要落在 Harness？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2CC39AA-27BC-49F0-88E2-65615130D784}"/>
              </a:ext>
            </a:extLst>
          </p:cNvPr>
          <p:cNvSpPr>
            <a:spLocks noGrp="1"/>
          </p:cNvSpPr>
          <p:nvPr/>
        </p:nvSpPr>
        <p:spPr>
          <a:xfrm>
            <a:off x="876300" y="4238625"/>
            <a:ext cx="647700" cy="381000"/>
          </a:xfrm>
          <a:prstGeom prst="roundRect">
            <a:avLst>
              <a:gd name="adj" fmla="val 20000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03</a:t>
            </a:r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7CE820D4-A3FA-4DEC-A74C-F5D9D5E3B16E}"/>
              </a:ext>
            </a:extLst>
          </p:cNvPr>
          <p:cNvSpPr>
            <a:spLocks noGrp="1"/>
          </p:cNvSpPr>
          <p:nvPr/>
        </p:nvSpPr>
        <p:spPr>
          <a:xfrm>
            <a:off x="1714500" y="4429125"/>
            <a:ext cx="666750" cy="9525"/>
          </a:xfrm>
          <a:prstGeom prst="line">
            <a:avLst/>
          </a:prstGeom>
          <a:noFill/>
          <a:ln w="1905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3223016-6B36-4D94-8696-808D8CEE4178}"/>
              </a:ext>
            </a:extLst>
          </p:cNvPr>
          <p:cNvSpPr>
            <a:spLocks noGrp="1"/>
          </p:cNvSpPr>
          <p:nvPr/>
        </p:nvSpPr>
        <p:spPr>
          <a:xfrm>
            <a:off x="2647950" y="4219575"/>
            <a:ext cx="7810500" cy="495300"/>
          </a:xfrm>
          <a:prstGeom prst="roundRect">
            <a:avLst>
              <a:gd name="adj" fmla="val 15385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1F2937"/>
                </a:solidFill>
              </a:defRPr>
            </a:pPr>
            <a:r>
              <a:rPr sz="1875" b="1">
                <a:solidFill>
                  <a:srgbClr val="1F2937"/>
                </a:solidFill>
              </a:rPr>
              <a:t>OPC 怎样从现成开始，又不被现成的边界锁住？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92807CD9-BC07-4AE4-8944-B83A96663457}"/>
              </a:ext>
            </a:extLst>
          </p:cNvPr>
          <p:cNvSpPr>
            <a:spLocks noGrp="1"/>
          </p:cNvSpPr>
          <p:nvPr/>
        </p:nvSpPr>
        <p:spPr>
          <a:xfrm>
            <a:off x="704850" y="5334000"/>
            <a:ext cx="10782300" cy="419100"/>
          </a:xfrm>
          <a:prstGeom prst="roundRect">
            <a:avLst>
              <a:gd name="adj" fmla="val 18182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先看：是什么把人一步步往上推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21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22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23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F3EF70F-6A2F-4775-901D-DFCB9C64EE43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同一台发动机，把人的动作一格格往上推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2A83F3A-7BD3-44B3-90DB-6DCECC7615FB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五层不是五种潮流，而是同一因果链的五次换挡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4E5BB30-6870-4753-A2B2-9B89DE6D04E4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311D89E-7B3F-4DF9-8C68-228D9C5C34B7}"/>
              </a:ext>
            </a:extLst>
          </p:cNvPr>
          <p:cNvSpPr>
            <a:spLocks noGrp="1"/>
          </p:cNvSpPr>
          <p:nvPr/>
        </p:nvSpPr>
        <p:spPr>
          <a:xfrm>
            <a:off x="781050" y="2286000"/>
            <a:ext cx="2428875" cy="1619250"/>
          </a:xfrm>
          <a:prstGeom prst="roundRect">
            <a:avLst>
              <a:gd name="adj" fmla="val 4706"/>
            </a:avLst>
          </a:prstGeom>
          <a:solidFill>
            <a:srgbClr val="F5F7FA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50%</a:t>
            </a:r>
          </a:p>
          <a:p>
            <a:pPr algn="ctr"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可靠性任务长度</a:t>
            </a:r>
          </a:p>
          <a:p>
            <a:pPr algn="ctr"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约每 7 个月翻倍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CB7FAAA-8DC9-49F8-8022-7DC7EDAADA8B}"/>
              </a:ext>
            </a:extLst>
          </p:cNvPr>
          <p:cNvSpPr>
            <a:spLocks noGrp="1"/>
          </p:cNvSpPr>
          <p:nvPr/>
        </p:nvSpPr>
        <p:spPr>
          <a:xfrm>
            <a:off x="876300" y="4000500"/>
            <a:ext cx="2238375" cy="209550"/>
          </a:xfrm>
          <a:prstGeom prst="roundRect">
            <a:avLst>
              <a:gd name="adj" fmla="val 36364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050" b="0">
                <a:solidFill>
                  <a:srgbClr val="667085"/>
                </a:solidFill>
              </a:defRPr>
            </a:pPr>
            <a:r>
              <a:rPr sz="1050" b="0">
                <a:solidFill>
                  <a:srgbClr val="667085"/>
                </a:solidFill>
              </a:rPr>
              <a:t>METR · 独立评估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83875FF-C192-43DD-B050-09BEDA50DD0B}"/>
              </a:ext>
            </a:extLst>
          </p:cNvPr>
          <p:cNvSpPr>
            <a:spLocks noGrp="1"/>
          </p:cNvSpPr>
          <p:nvPr/>
        </p:nvSpPr>
        <p:spPr>
          <a:xfrm>
            <a:off x="3905250" y="2667000"/>
            <a:ext cx="1762125" cy="714375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模型能力</a:t>
            </a:r>
          </a:p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更强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665AA73E-A659-4DB0-8BEA-D1DD4685C82E}"/>
              </a:ext>
            </a:extLst>
          </p:cNvPr>
          <p:cNvSpPr>
            <a:spLocks noGrp="1"/>
          </p:cNvSpPr>
          <p:nvPr/>
        </p:nvSpPr>
        <p:spPr>
          <a:xfrm>
            <a:off x="5667375" y="3019425"/>
            <a:ext cx="476250" cy="9525"/>
          </a:xfrm>
          <a:prstGeom prst="line">
            <a:avLst/>
          </a:prstGeom>
          <a:noFill/>
          <a:ln w="14288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FC2EB7A-F936-4DBF-B4FC-B1305352A992}"/>
              </a:ext>
            </a:extLst>
          </p:cNvPr>
          <p:cNvSpPr>
            <a:spLocks noGrp="1"/>
          </p:cNvSpPr>
          <p:nvPr/>
        </p:nvSpPr>
        <p:spPr>
          <a:xfrm>
            <a:off x="6143625" y="2667000"/>
            <a:ext cx="1762125" cy="714375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单次交互</a:t>
            </a:r>
          </a:p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边际收益更低</a:t>
            </a:r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85CC33A0-D985-4DCA-96AB-4F314D1A88D8}"/>
              </a:ext>
            </a:extLst>
          </p:cNvPr>
          <p:cNvSpPr>
            <a:spLocks noGrp="1"/>
          </p:cNvSpPr>
          <p:nvPr/>
        </p:nvSpPr>
        <p:spPr>
          <a:xfrm>
            <a:off x="7905750" y="3019425"/>
            <a:ext cx="476250" cy="9525"/>
          </a:xfrm>
          <a:prstGeom prst="line">
            <a:avLst/>
          </a:prstGeom>
          <a:noFill/>
          <a:ln w="14288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8E069AF-6D0A-4854-842C-94B008545E6A}"/>
              </a:ext>
            </a:extLst>
          </p:cNvPr>
          <p:cNvSpPr>
            <a:spLocks noGrp="1"/>
          </p:cNvSpPr>
          <p:nvPr/>
        </p:nvSpPr>
        <p:spPr>
          <a:xfrm>
            <a:off x="8382000" y="2667000"/>
            <a:ext cx="1762125" cy="714375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工程杠杆</a:t>
            </a:r>
          </a:p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向上移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069BAC9-A158-4E12-BE96-33236DD578F6}"/>
              </a:ext>
            </a:extLst>
          </p:cNvPr>
          <p:cNvSpPr>
            <a:spLocks noGrp="1"/>
          </p:cNvSpPr>
          <p:nvPr/>
        </p:nvSpPr>
        <p:spPr>
          <a:xfrm>
            <a:off x="3905250" y="3714750"/>
            <a:ext cx="6667500" cy="428625"/>
          </a:xfrm>
          <a:prstGeom prst="roundRect">
            <a:avLst>
              <a:gd name="adj" fmla="val 17778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写对一句话  →  设计一次运行  →  设计系统如何工作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7F26EC6-5B2B-4115-A76B-9DB843E21EE9}"/>
              </a:ext>
            </a:extLst>
          </p:cNvPr>
          <p:cNvSpPr>
            <a:spLocks noGrp="1"/>
          </p:cNvSpPr>
          <p:nvPr/>
        </p:nvSpPr>
        <p:spPr>
          <a:xfrm>
            <a:off x="704850" y="4524375"/>
            <a:ext cx="10782300" cy="781050"/>
          </a:xfrm>
          <a:prstGeom prst="roundRect">
            <a:avLst>
              <a:gd name="adj" fmla="val 9756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4B4F4C65-F849-4A4D-A1CC-8FB5B3AC0650}"/>
              </a:ext>
            </a:extLst>
          </p:cNvPr>
          <p:cNvSpPr>
            <a:spLocks noGrp="1"/>
          </p:cNvSpPr>
          <p:nvPr/>
        </p:nvSpPr>
        <p:spPr>
          <a:xfrm>
            <a:off x="933450" y="4638675"/>
            <a:ext cx="10144125" cy="323850"/>
          </a:xfrm>
          <a:prstGeom prst="roundRect">
            <a:avLst>
              <a:gd name="adj" fmla="val 23529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“prompt 的精确措辞，越来越不重要”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2BE7D3E2-0A14-4FA5-8C6C-76246E2AD23B}"/>
              </a:ext>
            </a:extLst>
          </p:cNvPr>
          <p:cNvSpPr>
            <a:spLocks noGrp="1"/>
          </p:cNvSpPr>
          <p:nvPr/>
        </p:nvSpPr>
        <p:spPr>
          <a:xfrm>
            <a:off x="933450" y="5010150"/>
            <a:ext cx="10144125" cy="171450"/>
          </a:xfrm>
          <a:prstGeom prst="roundRect">
            <a:avLst>
              <a:gd name="adj" fmla="val 44444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975" b="0">
                <a:solidFill>
                  <a:srgbClr val="D0D5DD"/>
                </a:solidFill>
              </a:defRPr>
            </a:pPr>
            <a:r>
              <a:rPr sz="975" b="0">
                <a:solidFill>
                  <a:srgbClr val="D0D5DD"/>
                </a:solidFill>
              </a:rPr>
              <a:t>Anthropic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F09C2AC-5E70-4970-8C00-0DE53EC67DBB}"/>
              </a:ext>
            </a:extLst>
          </p:cNvPr>
          <p:cNvSpPr>
            <a:spLocks noGrp="1"/>
          </p:cNvSpPr>
          <p:nvPr/>
        </p:nvSpPr>
        <p:spPr>
          <a:xfrm>
            <a:off x="704850" y="5476875"/>
            <a:ext cx="10782300" cy="419100"/>
          </a:xfrm>
          <a:prstGeom prst="roundRect">
            <a:avLst>
              <a:gd name="adj" fmla="val 18182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叠加，不是替代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18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19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20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15EC674-98A9-4B04-BDED-A42D7DA1E008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从“说什么”到“看什么”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3184A62-B99F-45C2-B5A2-14D0C221534A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前两层 Prompt 与 Context：光会说不够，还得看对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F79838D-BC20-4A43-B584-7DD3DFD3992B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4C2F4C9-07FE-48CD-8AD1-640BEA736429}"/>
              </a:ext>
            </a:extLst>
          </p:cNvPr>
          <p:cNvSpPr>
            <a:spLocks noGrp="1"/>
          </p:cNvSpPr>
          <p:nvPr/>
        </p:nvSpPr>
        <p:spPr>
          <a:xfrm>
            <a:off x="714375" y="2143125"/>
            <a:ext cx="4857750" cy="247650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l">
              <a:defRPr sz="1425" b="0">
                <a:solidFill>
                  <a:srgbClr val="1F2937"/>
                </a:solidFill>
              </a:defRPr>
            </a:pPr>
            <a:r>
              <a:rPr sz="1425" b="0">
                <a:solidFill>
                  <a:srgbClr val="1F2937"/>
                </a:solidFill>
              </a:rPr>
              <a:t>Prompt</a:t>
            </a:r>
          </a:p>
          <a:p>
            <a:endParaRPr sz="1425" b="0">
              <a:solidFill>
                <a:srgbClr val="1F2937"/>
              </a:solidFill>
            </a:endParaRPr>
          </a:p>
          <a:p>
            <a:pPr algn="l">
              <a:defRPr sz="1425" b="0">
                <a:solidFill>
                  <a:srgbClr val="1F2937"/>
                </a:solidFill>
              </a:defRPr>
            </a:pPr>
            <a:r>
              <a:rPr sz="1425" b="0">
                <a:solidFill>
                  <a:srgbClr val="1F2937"/>
                </a:solidFill>
              </a:rPr>
              <a:t>行为控制面，不是系统本身</a:t>
            </a:r>
          </a:p>
          <a:p>
            <a:endParaRPr sz="1425" b="0">
              <a:solidFill>
                <a:srgbClr val="1F2937"/>
              </a:solidFill>
            </a:endParaRPr>
          </a:p>
          <a:p>
            <a:pPr algn="l">
              <a:defRPr sz="1425" b="0">
                <a:solidFill>
                  <a:srgbClr val="1F2937"/>
                </a:solidFill>
              </a:defRPr>
            </a:pPr>
            <a:r>
              <a:rPr sz="1425" b="0">
                <a:solidFill>
                  <a:srgbClr val="1F2937"/>
                </a:solidFill>
              </a:rPr>
              <a:t>把系统问题塞进更长 prompt</a:t>
            </a:r>
          </a:p>
          <a:p>
            <a:pPr algn="l">
              <a:defRPr sz="1425" b="0">
                <a:solidFill>
                  <a:srgbClr val="1F2937"/>
                </a:solidFill>
              </a:defRPr>
            </a:pPr>
            <a:r>
              <a:rPr sz="1425" b="0">
                <a:solidFill>
                  <a:srgbClr val="1F2937"/>
                </a:solidFill>
              </a:rPr>
              <a:t>= 把缺失的控制面伪装成提示复杂度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3AD2A75-C3E1-403C-B7CA-BD993BF5B55B}"/>
              </a:ext>
            </a:extLst>
          </p:cNvPr>
          <p:cNvSpPr>
            <a:spLocks noGrp="1"/>
          </p:cNvSpPr>
          <p:nvPr/>
        </p:nvSpPr>
        <p:spPr>
          <a:xfrm>
            <a:off x="6619875" y="2143125"/>
            <a:ext cx="4857750" cy="247650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l">
              <a:defRPr sz="1425" b="0">
                <a:solidFill>
                  <a:srgbClr val="1F2937"/>
                </a:solidFill>
              </a:defRPr>
            </a:pPr>
            <a:r>
              <a:rPr sz="1425" b="0">
                <a:solidFill>
                  <a:srgbClr val="1F2937"/>
                </a:solidFill>
              </a:rPr>
              <a:t>Context engineering</a:t>
            </a:r>
          </a:p>
          <a:p>
            <a:endParaRPr sz="1425" b="0">
              <a:solidFill>
                <a:srgbClr val="1F2937"/>
              </a:solidFill>
            </a:endParaRPr>
          </a:p>
          <a:p>
            <a:pPr algn="l">
              <a:defRPr sz="1425" b="0">
                <a:solidFill>
                  <a:srgbClr val="1F2937"/>
                </a:solidFill>
              </a:defRPr>
            </a:pPr>
            <a:r>
              <a:rPr sz="1425" b="0">
                <a:solidFill>
                  <a:srgbClr val="1F2937"/>
                </a:solidFill>
              </a:rPr>
              <a:t>决定模型此刻该看到什么</a:t>
            </a:r>
          </a:p>
          <a:p>
            <a:endParaRPr sz="1425" b="0">
              <a:solidFill>
                <a:srgbClr val="1F2937"/>
              </a:solidFill>
            </a:endParaRPr>
          </a:p>
          <a:p>
            <a:pPr algn="l">
              <a:defRPr sz="1425" b="0">
                <a:solidFill>
                  <a:srgbClr val="1F2937"/>
                </a:solidFill>
              </a:defRPr>
            </a:pPr>
            <a:r>
              <a:rPr sz="1425" b="0">
                <a:solidFill>
                  <a:srgbClr val="1F2937"/>
                </a:solidFill>
              </a:rPr>
              <a:t>context rot：塞得越多，记得越差</a:t>
            </a:r>
          </a:p>
          <a:p>
            <a:pPr algn="l">
              <a:defRPr sz="1425" b="0">
                <a:solidFill>
                  <a:srgbClr val="1F2937"/>
                </a:solidFill>
              </a:defRPr>
            </a:pPr>
            <a:r>
              <a:rPr sz="1425" b="0">
                <a:solidFill>
                  <a:srgbClr val="1F2937"/>
                </a:solidFill>
              </a:rPr>
              <a:t>更多 context ≠ 更好回忆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FE4156B-B97E-452C-B03C-4C933C42260C}"/>
              </a:ext>
            </a:extLst>
          </p:cNvPr>
          <p:cNvSpPr>
            <a:spLocks noGrp="1"/>
          </p:cNvSpPr>
          <p:nvPr/>
        </p:nvSpPr>
        <p:spPr>
          <a:xfrm>
            <a:off x="704850" y="4905375"/>
            <a:ext cx="10782300" cy="781050"/>
          </a:xfrm>
          <a:prstGeom prst="roundRect">
            <a:avLst>
              <a:gd name="adj" fmla="val 9756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6824014-65BE-4B6B-9890-EA5CC8CB6A95}"/>
              </a:ext>
            </a:extLst>
          </p:cNvPr>
          <p:cNvSpPr>
            <a:spLocks noGrp="1"/>
          </p:cNvSpPr>
          <p:nvPr/>
        </p:nvSpPr>
        <p:spPr>
          <a:xfrm>
            <a:off x="933450" y="5019675"/>
            <a:ext cx="10144125" cy="323850"/>
          </a:xfrm>
          <a:prstGeom prst="roundRect">
            <a:avLst>
              <a:gd name="adj" fmla="val 23529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“The agent has a prompt, a Bash Tool, and an Edit Tool.”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BC2CDA1-95FE-4AD9-8F88-296BE6056DD0}"/>
              </a:ext>
            </a:extLst>
          </p:cNvPr>
          <p:cNvSpPr>
            <a:spLocks noGrp="1"/>
          </p:cNvSpPr>
          <p:nvPr/>
        </p:nvSpPr>
        <p:spPr>
          <a:xfrm>
            <a:off x="933450" y="5391150"/>
            <a:ext cx="10144125" cy="171450"/>
          </a:xfrm>
          <a:prstGeom prst="roundRect">
            <a:avLst>
              <a:gd name="adj" fmla="val 44444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975" b="0">
                <a:solidFill>
                  <a:srgbClr val="D0D5DD"/>
                </a:solidFill>
              </a:defRPr>
            </a:pPr>
            <a:r>
              <a:rPr sz="975" b="0">
                <a:solidFill>
                  <a:srgbClr val="D0D5DD"/>
                </a:solidFill>
              </a:rPr>
              <a:t>最小脚手架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18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19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20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52A5A23-641A-49E3-8354-8CEAA4A48287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能行动之后，问题变成：它在哪个受控环境里行动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9020DAA-B098-44AD-904F-CB1193102F87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第三层 Harness：一次动作发生时的运行与治理边界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46F6231-D683-4262-966E-29280E15CFBA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647CF74-EF65-49BA-AFEF-2F0E7E73B69F}"/>
              </a:ext>
            </a:extLst>
          </p:cNvPr>
          <p:cNvSpPr>
            <a:spLocks noGrp="1"/>
          </p:cNvSpPr>
          <p:nvPr/>
        </p:nvSpPr>
        <p:spPr>
          <a:xfrm>
            <a:off x="1524000" y="2171700"/>
            <a:ext cx="9144000" cy="838200"/>
          </a:xfrm>
          <a:prstGeom prst="roundRect">
            <a:avLst>
              <a:gd name="adj" fmla="val 9091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 anchor="ctr"/>
          <a:lstStyle/>
          <a:p>
            <a:pPr algn="ctr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Agent = Model + Harness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8978D20-623F-4E2D-84C6-2D0C7A94A42D}"/>
              </a:ext>
            </a:extLst>
          </p:cNvPr>
          <p:cNvSpPr>
            <a:spLocks noGrp="1"/>
          </p:cNvSpPr>
          <p:nvPr/>
        </p:nvSpPr>
        <p:spPr>
          <a:xfrm>
            <a:off x="1047750" y="3333750"/>
            <a:ext cx="876300" cy="266700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9525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050" b="1">
                <a:solidFill>
                  <a:srgbClr val="111827"/>
                </a:solidFill>
              </a:defRPr>
            </a:pPr>
            <a:r>
              <a:rPr sz="1050" b="1">
                <a:solidFill>
                  <a:srgbClr val="111827"/>
                </a:solidFill>
              </a:rPr>
              <a:t>权限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5148654-B48B-4CB3-B7F0-F015772FBD3F}"/>
              </a:ext>
            </a:extLst>
          </p:cNvPr>
          <p:cNvSpPr>
            <a:spLocks noGrp="1"/>
          </p:cNvSpPr>
          <p:nvPr/>
        </p:nvSpPr>
        <p:spPr>
          <a:xfrm>
            <a:off x="2762250" y="3333750"/>
            <a:ext cx="876300" cy="266700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9525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050" b="1">
                <a:solidFill>
                  <a:srgbClr val="111827"/>
                </a:solidFill>
              </a:defRPr>
            </a:pPr>
            <a:r>
              <a:rPr sz="1050" b="1">
                <a:solidFill>
                  <a:srgbClr val="111827"/>
                </a:solidFill>
              </a:rPr>
              <a:t>沙箱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B8909F3-4C75-41E0-86BA-93F6D2CE165E}"/>
              </a:ext>
            </a:extLst>
          </p:cNvPr>
          <p:cNvSpPr>
            <a:spLocks noGrp="1"/>
          </p:cNvSpPr>
          <p:nvPr/>
        </p:nvSpPr>
        <p:spPr>
          <a:xfrm>
            <a:off x="4476750" y="3333750"/>
            <a:ext cx="876300" cy="266700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9525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050" b="1">
                <a:solidFill>
                  <a:srgbClr val="111827"/>
                </a:solidFill>
              </a:defRPr>
            </a:pPr>
            <a:r>
              <a:rPr sz="1050" b="1">
                <a:solidFill>
                  <a:srgbClr val="111827"/>
                </a:solidFill>
              </a:rPr>
              <a:t>工具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C5BF741-B9E2-4CEF-AD6B-D6B128D1EFA8}"/>
              </a:ext>
            </a:extLst>
          </p:cNvPr>
          <p:cNvSpPr>
            <a:spLocks noGrp="1"/>
          </p:cNvSpPr>
          <p:nvPr/>
        </p:nvSpPr>
        <p:spPr>
          <a:xfrm>
            <a:off x="6191250" y="3333750"/>
            <a:ext cx="876300" cy="266700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9525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050" b="1">
                <a:solidFill>
                  <a:srgbClr val="111827"/>
                </a:solidFill>
              </a:defRPr>
            </a:pPr>
            <a:r>
              <a:rPr sz="1050" b="1">
                <a:solidFill>
                  <a:srgbClr val="111827"/>
                </a:solidFill>
              </a:rPr>
              <a:t>验证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D5B70C7-149B-4810-9730-137BD1FDD51E}"/>
              </a:ext>
            </a:extLst>
          </p:cNvPr>
          <p:cNvSpPr>
            <a:spLocks noGrp="1"/>
          </p:cNvSpPr>
          <p:nvPr/>
        </p:nvSpPr>
        <p:spPr>
          <a:xfrm>
            <a:off x="7905750" y="3333750"/>
            <a:ext cx="1123950" cy="266700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9525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050" b="1">
                <a:solidFill>
                  <a:srgbClr val="111827"/>
                </a:solidFill>
              </a:defRPr>
            </a:pPr>
            <a:r>
              <a:rPr sz="1050" b="1">
                <a:solidFill>
                  <a:srgbClr val="111827"/>
                </a:solidFill>
              </a:rPr>
              <a:t>trace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DC10DCC-A51D-4BF0-8645-D2EC8181A539}"/>
              </a:ext>
            </a:extLst>
          </p:cNvPr>
          <p:cNvSpPr>
            <a:spLocks noGrp="1"/>
          </p:cNvSpPr>
          <p:nvPr/>
        </p:nvSpPr>
        <p:spPr>
          <a:xfrm>
            <a:off x="9620250" y="3333750"/>
            <a:ext cx="876300" cy="266700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9525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050" b="1">
                <a:solidFill>
                  <a:srgbClr val="111827"/>
                </a:solidFill>
              </a:defRPr>
            </a:pPr>
            <a:r>
              <a:rPr sz="1050" b="1">
                <a:solidFill>
                  <a:srgbClr val="111827"/>
                </a:solidFill>
              </a:rPr>
              <a:t>CI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1D74D192-638A-4D1E-AD0E-C40102613128}"/>
              </a:ext>
            </a:extLst>
          </p:cNvPr>
          <p:cNvSpPr>
            <a:spLocks noGrp="1"/>
          </p:cNvSpPr>
          <p:nvPr/>
        </p:nvSpPr>
        <p:spPr>
          <a:xfrm>
            <a:off x="1143000" y="3857625"/>
            <a:ext cx="9906000" cy="476250"/>
          </a:xfrm>
          <a:prstGeom prst="roundRect">
            <a:avLst>
              <a:gd name="adj" fmla="val 16000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575" b="1">
                <a:solidFill>
                  <a:srgbClr val="1F2937"/>
                </a:solidFill>
              </a:defRPr>
            </a:pPr>
            <a:r>
              <a:rPr sz="1575" b="1">
                <a:solidFill>
                  <a:srgbClr val="1F2937"/>
                </a:solidFill>
              </a:rPr>
              <a:t>什么能做、谁来检查、怎样留下记录：模型之外的一切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1D394D1-C03C-4A2C-943A-A2B1681A212D}"/>
              </a:ext>
            </a:extLst>
          </p:cNvPr>
          <p:cNvSpPr>
            <a:spLocks noGrp="1"/>
          </p:cNvSpPr>
          <p:nvPr/>
        </p:nvSpPr>
        <p:spPr>
          <a:xfrm>
            <a:off x="1714500" y="4524375"/>
            <a:ext cx="8763000" cy="428625"/>
          </a:xfrm>
          <a:prstGeom prst="roundRect">
            <a:avLst>
              <a:gd name="adj" fmla="val 17778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500" b="0">
                <a:solidFill>
                  <a:srgbClr val="667085"/>
                </a:solidFill>
              </a:defRPr>
            </a:pPr>
            <a:r>
              <a:rPr sz="1500" b="0">
                <a:solidFill>
                  <a:srgbClr val="667085"/>
                </a:solidFill>
              </a:rPr>
              <a:t>一次运行可靠后，才有资格讨论何时重试、谁与谁协作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28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29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30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1404C18-0D5F-4EE3-B833-114E01099CBA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Loop 管时间上的反馈；Graph 管空间上的协作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1706040-FED8-4683-A825-22588B579A22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两者都在发展，且解决的不是同一种问题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A788C10-F01D-4750-A65D-0CA72A5403C1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6E9BB90-4A41-4E8B-8111-B4EA9BDB2C07}"/>
              </a:ext>
            </a:extLst>
          </p:cNvPr>
          <p:cNvSpPr>
            <a:spLocks noGrp="1"/>
          </p:cNvSpPr>
          <p:nvPr/>
        </p:nvSpPr>
        <p:spPr>
          <a:xfrm>
            <a:off x="714375" y="2143125"/>
            <a:ext cx="4953000" cy="285750"/>
          </a:xfrm>
          <a:prstGeom prst="roundRect">
            <a:avLst>
              <a:gd name="adj" fmla="val 2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LOOP：上次结果改变下一次动作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82236AE-8C6D-4EE9-8D21-0DEF8691A433}"/>
              </a:ext>
            </a:extLst>
          </p:cNvPr>
          <p:cNvSpPr>
            <a:spLocks noGrp="1"/>
          </p:cNvSpPr>
          <p:nvPr/>
        </p:nvSpPr>
        <p:spPr>
          <a:xfrm>
            <a:off x="6524625" y="2143125"/>
            <a:ext cx="4953000" cy="285750"/>
          </a:xfrm>
          <a:prstGeom prst="roundRect">
            <a:avLst>
              <a:gd name="adj" fmla="val 2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GRAPH：显式节点、边与状态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020A659-7779-4205-BD31-AB813E4AEA5D}"/>
              </a:ext>
            </a:extLst>
          </p:cNvPr>
          <p:cNvSpPr>
            <a:spLocks noGrp="1"/>
          </p:cNvSpPr>
          <p:nvPr/>
        </p:nvSpPr>
        <p:spPr>
          <a:xfrm>
            <a:off x="1524000" y="3333750"/>
            <a:ext cx="857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行动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0BB030C-B9A3-479A-8017-A932CA114F62}"/>
              </a:ext>
            </a:extLst>
          </p:cNvPr>
          <p:cNvSpPr>
            <a:spLocks noGrp="1"/>
          </p:cNvSpPr>
          <p:nvPr/>
        </p:nvSpPr>
        <p:spPr>
          <a:xfrm>
            <a:off x="2793702" y="3848100"/>
            <a:ext cx="857250" cy="428625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验证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8FFD4F03-CF8E-4F8D-BDA9-0E8C7FFE777E}"/>
              </a:ext>
            </a:extLst>
          </p:cNvPr>
          <p:cNvSpPr>
            <a:spLocks noGrp="1"/>
          </p:cNvSpPr>
          <p:nvPr/>
        </p:nvSpPr>
        <p:spPr>
          <a:xfrm>
            <a:off x="2304157" y="2928937"/>
            <a:ext cx="857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 dirty="0" err="1">
                <a:solidFill>
                  <a:srgbClr val="111827"/>
                </a:solidFill>
              </a:rPr>
              <a:t>再行动</a:t>
            </a:r>
            <a:endParaRPr sz="1350" b="1" dirty="0">
              <a:solidFill>
                <a:srgbClr val="111827"/>
              </a:solidFill>
            </a:endParaRPr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1566BA78-CC8F-49F0-BC64-065A7D497CFE}"/>
              </a:ext>
            </a:extLst>
          </p:cNvPr>
          <p:cNvSpPr>
            <a:spLocks noGrp="1"/>
          </p:cNvSpPr>
          <p:nvPr/>
        </p:nvSpPr>
        <p:spPr>
          <a:xfrm>
            <a:off x="2095500" y="3767802"/>
            <a:ext cx="698202" cy="330606"/>
          </a:xfrm>
          <a:prstGeom prst="line">
            <a:avLst/>
          </a:prstGeom>
          <a:noFill/>
          <a:ln w="14288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699A2214-9855-4DCA-AD72-835102AD3218}"/>
              </a:ext>
            </a:extLst>
          </p:cNvPr>
          <p:cNvSpPr>
            <a:spLocks noGrp="1"/>
          </p:cNvSpPr>
          <p:nvPr/>
        </p:nvSpPr>
        <p:spPr>
          <a:xfrm flipH="1" flipV="1">
            <a:off x="2762246" y="3362987"/>
            <a:ext cx="555329" cy="485111"/>
          </a:xfrm>
          <a:prstGeom prst="line">
            <a:avLst/>
          </a:prstGeom>
          <a:noFill/>
          <a:ln w="14288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33B2129-BE0E-4F8A-96F2-827F24809BA0}"/>
              </a:ext>
            </a:extLst>
          </p:cNvPr>
          <p:cNvSpPr>
            <a:spLocks noGrp="1"/>
          </p:cNvSpPr>
          <p:nvPr/>
        </p:nvSpPr>
        <p:spPr>
          <a:xfrm>
            <a:off x="7572375" y="3333750"/>
            <a:ext cx="1000125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plan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5CB7A57-AFE3-421A-8C92-4E737ECA045F}"/>
              </a:ext>
            </a:extLst>
          </p:cNvPr>
          <p:cNvSpPr>
            <a:spLocks noGrp="1"/>
          </p:cNvSpPr>
          <p:nvPr/>
        </p:nvSpPr>
        <p:spPr>
          <a:xfrm>
            <a:off x="9048750" y="2905125"/>
            <a:ext cx="1000125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review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B51DAB48-F5FE-4F0A-A17B-E91DE5CBCC0A}"/>
              </a:ext>
            </a:extLst>
          </p:cNvPr>
          <p:cNvSpPr>
            <a:spLocks noGrp="1"/>
          </p:cNvSpPr>
          <p:nvPr/>
        </p:nvSpPr>
        <p:spPr>
          <a:xfrm>
            <a:off x="9048750" y="3762375"/>
            <a:ext cx="1000125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build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7C2BA749-D676-40E2-A6DF-16191117B8E7}"/>
              </a:ext>
            </a:extLst>
          </p:cNvPr>
          <p:cNvSpPr>
            <a:spLocks noGrp="1"/>
          </p:cNvSpPr>
          <p:nvPr/>
        </p:nvSpPr>
        <p:spPr>
          <a:xfrm>
            <a:off x="10525125" y="3333750"/>
            <a:ext cx="7810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merge</a:t>
            </a:r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8A907DD4-6175-48AF-89BC-A78C8A4406FF}"/>
              </a:ext>
            </a:extLst>
          </p:cNvPr>
          <p:cNvSpPr>
            <a:spLocks noGrp="1"/>
          </p:cNvSpPr>
          <p:nvPr/>
        </p:nvSpPr>
        <p:spPr>
          <a:xfrm>
            <a:off x="8572500" y="3543300"/>
            <a:ext cx="476250" cy="428625"/>
          </a:xfrm>
          <a:prstGeom prst="line">
            <a:avLst/>
          </a:prstGeom>
          <a:noFill/>
          <a:ln w="14288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92833FB1-616C-4939-8974-37D87DF7D910}"/>
              </a:ext>
            </a:extLst>
          </p:cNvPr>
          <p:cNvSpPr>
            <a:spLocks noGrp="1"/>
          </p:cNvSpPr>
          <p:nvPr/>
        </p:nvSpPr>
        <p:spPr>
          <a:xfrm>
            <a:off x="8572500" y="3543300"/>
            <a:ext cx="476250" cy="428625"/>
          </a:xfrm>
          <a:prstGeom prst="line">
            <a:avLst/>
          </a:prstGeom>
          <a:noFill/>
          <a:ln w="14288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BB91178C-FAE6-4C88-A574-A9561A29D3F1}"/>
              </a:ext>
            </a:extLst>
          </p:cNvPr>
          <p:cNvSpPr>
            <a:spLocks noGrp="1"/>
          </p:cNvSpPr>
          <p:nvPr/>
        </p:nvSpPr>
        <p:spPr>
          <a:xfrm>
            <a:off x="10048875" y="3114675"/>
            <a:ext cx="476250" cy="428625"/>
          </a:xfrm>
          <a:prstGeom prst="line">
            <a:avLst/>
          </a:prstGeom>
          <a:noFill/>
          <a:ln w="14288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0D6F9C24-96AD-438D-AA02-7EB580D8A201}"/>
              </a:ext>
            </a:extLst>
          </p:cNvPr>
          <p:cNvSpPr>
            <a:spLocks noGrp="1"/>
          </p:cNvSpPr>
          <p:nvPr/>
        </p:nvSpPr>
        <p:spPr>
          <a:xfrm>
            <a:off x="9525000" y="3330650"/>
            <a:ext cx="0" cy="428625"/>
          </a:xfrm>
          <a:prstGeom prst="line">
            <a:avLst/>
          </a:prstGeom>
          <a:noFill/>
          <a:ln w="14288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051A2081-326D-414E-BF8B-56CE44ED9A7E}"/>
              </a:ext>
            </a:extLst>
          </p:cNvPr>
          <p:cNvSpPr>
            <a:spLocks noGrp="1"/>
          </p:cNvSpPr>
          <p:nvPr/>
        </p:nvSpPr>
        <p:spPr>
          <a:xfrm>
            <a:off x="1047750" y="4552950"/>
            <a:ext cx="4191000" cy="476250"/>
          </a:xfrm>
          <a:prstGeom prst="roundRect">
            <a:avLst>
              <a:gd name="adj" fmla="val 16000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触发 · 验证 · 停止 · 记忆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48C83458-0A18-4A94-A329-F50383D8ECF0}"/>
              </a:ext>
            </a:extLst>
          </p:cNvPr>
          <p:cNvSpPr>
            <a:spLocks noGrp="1"/>
          </p:cNvSpPr>
          <p:nvPr/>
        </p:nvSpPr>
        <p:spPr>
          <a:xfrm>
            <a:off x="6810375" y="4552950"/>
            <a:ext cx="4381500" cy="476250"/>
          </a:xfrm>
          <a:prstGeom prst="roundRect">
            <a:avLst>
              <a:gd name="adj" fmla="val 16000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分工 · 路由 · 并行 · 合并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CD5C7EE9-E267-4647-80CD-A12C2AD12B2F}"/>
              </a:ext>
            </a:extLst>
          </p:cNvPr>
          <p:cNvSpPr>
            <a:spLocks noGrp="1"/>
          </p:cNvSpPr>
          <p:nvPr/>
        </p:nvSpPr>
        <p:spPr>
          <a:xfrm>
            <a:off x="704850" y="5286375"/>
            <a:ext cx="10782300" cy="419100"/>
          </a:xfrm>
          <a:prstGeom prst="roundRect">
            <a:avLst>
              <a:gd name="adj" fmla="val 18182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Graph 可以编排部分 Loop，也可以编排工具、验证器或一次性节点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19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20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21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71A8AB4-7145-4BB1-AA60-D23C8A963530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五层同时活着，但不是一座从小到大的金字塔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3A4A406-F3A4-42DD-A63D-01C818360706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这是一张职责与依赖图，不是运行时面积图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C26CD05-7437-4077-BE0A-91A2643FDA55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B08A4D1-4FA8-4771-8EF7-C7E67A4B24E7}"/>
              </a:ext>
            </a:extLst>
          </p:cNvPr>
          <p:cNvSpPr>
            <a:spLocks noGrp="1"/>
          </p:cNvSpPr>
          <p:nvPr/>
        </p:nvSpPr>
        <p:spPr>
          <a:xfrm>
            <a:off x="1333500" y="2333625"/>
            <a:ext cx="9525000" cy="2381250"/>
          </a:xfrm>
          <a:prstGeom prst="roundRect">
            <a:avLst>
              <a:gd name="adj" fmla="val 3200"/>
            </a:avLst>
          </a:prstGeom>
          <a:solidFill>
            <a:srgbClr val="F5F7FA"/>
          </a:solidFill>
          <a:ln w="14288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9C96C76-C215-4D27-97F6-2E492F8E20AD}"/>
              </a:ext>
            </a:extLst>
          </p:cNvPr>
          <p:cNvSpPr>
            <a:spLocks noGrp="1"/>
          </p:cNvSpPr>
          <p:nvPr/>
        </p:nvSpPr>
        <p:spPr>
          <a:xfrm>
            <a:off x="1666875" y="2514600"/>
            <a:ext cx="2095500" cy="238125"/>
          </a:xfrm>
          <a:prstGeom prst="roundRect">
            <a:avLst>
              <a:gd name="adj" fmla="val 32000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275" b="1">
                <a:solidFill>
                  <a:srgbClr val="667085"/>
                </a:solidFill>
              </a:defRPr>
            </a:pPr>
            <a:r>
              <a:rPr sz="1275" b="1">
                <a:solidFill>
                  <a:srgbClr val="667085"/>
                </a:solidFill>
              </a:rPr>
              <a:t>一次模型调用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5C64285-B058-4787-9344-ABBBCA63159F}"/>
              </a:ext>
            </a:extLst>
          </p:cNvPr>
          <p:cNvSpPr>
            <a:spLocks noGrp="1"/>
          </p:cNvSpPr>
          <p:nvPr/>
        </p:nvSpPr>
        <p:spPr>
          <a:xfrm>
            <a:off x="1952625" y="2905125"/>
            <a:ext cx="17145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Prompt</a:t>
            </a:r>
          </a:p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任务表达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54C4294-A293-4DC2-9157-100EBD846434}"/>
              </a:ext>
            </a:extLst>
          </p:cNvPr>
          <p:cNvSpPr>
            <a:spLocks noGrp="1"/>
          </p:cNvSpPr>
          <p:nvPr/>
        </p:nvSpPr>
        <p:spPr>
          <a:xfrm>
            <a:off x="4143375" y="2905125"/>
            <a:ext cx="17145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Context</a:t>
            </a:r>
          </a:p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模型所见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327F358-6AD6-4E85-919F-18A50403E3BF}"/>
              </a:ext>
            </a:extLst>
          </p:cNvPr>
          <p:cNvSpPr>
            <a:spLocks noGrp="1"/>
          </p:cNvSpPr>
          <p:nvPr/>
        </p:nvSpPr>
        <p:spPr>
          <a:xfrm>
            <a:off x="6429375" y="2905125"/>
            <a:ext cx="238125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Harness</a:t>
            </a:r>
          </a:p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授权 · 验证 · 记录</a:t>
            </a:r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EE8B452B-C741-410C-B27D-24C3DB264B68}"/>
              </a:ext>
            </a:extLst>
          </p:cNvPr>
          <p:cNvSpPr>
            <a:spLocks noGrp="1"/>
          </p:cNvSpPr>
          <p:nvPr/>
        </p:nvSpPr>
        <p:spPr>
          <a:xfrm>
            <a:off x="3667125" y="3181350"/>
            <a:ext cx="476250" cy="9525"/>
          </a:xfrm>
          <a:prstGeom prst="line">
            <a:avLst/>
          </a:prstGeom>
          <a:noFill/>
          <a:ln w="14288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4675129E-753E-4C10-8064-89D870391789}"/>
              </a:ext>
            </a:extLst>
          </p:cNvPr>
          <p:cNvSpPr>
            <a:spLocks noGrp="1"/>
          </p:cNvSpPr>
          <p:nvPr/>
        </p:nvSpPr>
        <p:spPr>
          <a:xfrm>
            <a:off x="5857875" y="3181350"/>
            <a:ext cx="571500" cy="9525"/>
          </a:xfrm>
          <a:prstGeom prst="line">
            <a:avLst/>
          </a:prstGeom>
          <a:noFill/>
          <a:ln w="14288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217E965-0159-405C-AED8-16A3D4D3AEAD}"/>
              </a:ext>
            </a:extLst>
          </p:cNvPr>
          <p:cNvSpPr>
            <a:spLocks noGrp="1"/>
          </p:cNvSpPr>
          <p:nvPr/>
        </p:nvSpPr>
        <p:spPr>
          <a:xfrm>
            <a:off x="1733550" y="4000500"/>
            <a:ext cx="3333750" cy="323850"/>
          </a:xfrm>
          <a:prstGeom prst="roundRect">
            <a:avLst>
              <a:gd name="adj" fmla="val 23529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Loop：跨运行，把反馈连起来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0CA0DF6-5DCC-4BC2-93E1-94B1DD86870D}"/>
              </a:ext>
            </a:extLst>
          </p:cNvPr>
          <p:cNvSpPr>
            <a:spLocks noGrp="1"/>
          </p:cNvSpPr>
          <p:nvPr/>
        </p:nvSpPr>
        <p:spPr>
          <a:xfrm>
            <a:off x="6048375" y="4000500"/>
            <a:ext cx="4095750" cy="323850"/>
          </a:xfrm>
          <a:prstGeom prst="roundRect">
            <a:avLst>
              <a:gd name="adj" fmla="val 23529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Graph：跨节点，把协作显式化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AD801F50-B7A8-47AF-B915-095B176998D1}"/>
              </a:ext>
            </a:extLst>
          </p:cNvPr>
          <p:cNvSpPr>
            <a:spLocks noGrp="1"/>
          </p:cNvSpPr>
          <p:nvPr/>
        </p:nvSpPr>
        <p:spPr>
          <a:xfrm>
            <a:off x="704850" y="5238750"/>
            <a:ext cx="10782300" cy="419100"/>
          </a:xfrm>
          <a:prstGeom prst="roundRect">
            <a:avLst>
              <a:gd name="adj" fmla="val 18182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今天重仓成熟的前三层；Loop / Graph 低成本试点、持续观察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18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19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20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EDF3F5F-E020-45F0-BD6B-674D10F4001E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每一次真实动作，都要经过一个可靠性边界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273F9C5-D8C1-4F55-86A7-58B9423007F4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这是本 talk 的判断，不是假借报告的排序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210E86E-21D9-45F3-A6B1-E0BBFBB2C777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9ADDD8E-8C00-4FB5-9A91-E2E7611E0C8C}"/>
              </a:ext>
            </a:extLst>
          </p:cNvPr>
          <p:cNvSpPr>
            <a:spLocks noGrp="1"/>
          </p:cNvSpPr>
          <p:nvPr/>
        </p:nvSpPr>
        <p:spPr>
          <a:xfrm>
            <a:off x="1381125" y="2714625"/>
            <a:ext cx="2047875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模型提出动作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8CFC8C3-36B2-4DDC-9FDC-88C832758ABE}"/>
              </a:ext>
            </a:extLst>
          </p:cNvPr>
          <p:cNvSpPr>
            <a:spLocks noGrp="1"/>
          </p:cNvSpPr>
          <p:nvPr/>
        </p:nvSpPr>
        <p:spPr>
          <a:xfrm>
            <a:off x="5067300" y="2714625"/>
            <a:ext cx="2047875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Harness</a:t>
            </a:r>
          </a:p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授权 · 执行 · 验证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DF464BF-FCA6-44B7-91CB-5389F1926FE7}"/>
              </a:ext>
            </a:extLst>
          </p:cNvPr>
          <p:cNvSpPr>
            <a:spLocks noGrp="1"/>
          </p:cNvSpPr>
          <p:nvPr/>
        </p:nvSpPr>
        <p:spPr>
          <a:xfrm>
            <a:off x="8763000" y="2714625"/>
            <a:ext cx="2047875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结果进入</a:t>
            </a:r>
          </a:p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Loop / Graph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8444DF99-0BED-4ED1-B2E0-7AA280331DCD}"/>
              </a:ext>
            </a:extLst>
          </p:cNvPr>
          <p:cNvSpPr>
            <a:spLocks noGrp="1"/>
          </p:cNvSpPr>
          <p:nvPr/>
        </p:nvSpPr>
        <p:spPr>
          <a:xfrm>
            <a:off x="3429000" y="3009900"/>
            <a:ext cx="1638300" cy="9525"/>
          </a:xfrm>
          <a:prstGeom prst="line">
            <a:avLst/>
          </a:prstGeom>
          <a:noFill/>
          <a:ln w="1905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516923A9-4DC7-4E61-BA59-271771A71747}"/>
              </a:ext>
            </a:extLst>
          </p:cNvPr>
          <p:cNvSpPr>
            <a:spLocks noGrp="1"/>
          </p:cNvSpPr>
          <p:nvPr/>
        </p:nvSpPr>
        <p:spPr>
          <a:xfrm>
            <a:off x="7115175" y="3009900"/>
            <a:ext cx="1647825" cy="9525"/>
          </a:xfrm>
          <a:prstGeom prst="line">
            <a:avLst/>
          </a:prstGeom>
          <a:noFill/>
          <a:ln w="1905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EB970E0-1215-4656-8D5B-A4E013D5205E}"/>
              </a:ext>
            </a:extLst>
          </p:cNvPr>
          <p:cNvSpPr>
            <a:spLocks noGrp="1"/>
          </p:cNvSpPr>
          <p:nvPr/>
        </p:nvSpPr>
        <p:spPr>
          <a:xfrm>
            <a:off x="1381125" y="3857625"/>
            <a:ext cx="9429750" cy="533400"/>
          </a:xfrm>
          <a:prstGeom prst="roundRect">
            <a:avLst>
              <a:gd name="adj" fmla="val 14286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1F2937"/>
                </a:solidFill>
              </a:defRPr>
            </a:pPr>
            <a:r>
              <a:rPr sz="1800" b="1">
                <a:solidFill>
                  <a:srgbClr val="1F2937"/>
                </a:solidFill>
              </a:rPr>
              <a:t>所有上层组织能力，最终都要落到一个能独立授权、检查、记录的执行边界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CB7CACE-EE82-4711-87D1-B025CB89D575}"/>
              </a:ext>
            </a:extLst>
          </p:cNvPr>
          <p:cNvSpPr>
            <a:spLocks noGrp="1"/>
          </p:cNvSpPr>
          <p:nvPr/>
        </p:nvSpPr>
        <p:spPr>
          <a:xfrm>
            <a:off x="704850" y="4810125"/>
            <a:ext cx="10782300" cy="781050"/>
          </a:xfrm>
          <a:prstGeom prst="roundRect">
            <a:avLst>
              <a:gd name="adj" fmla="val 9756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C1F3C32-BE8F-479D-8F87-DD42D60A0872}"/>
              </a:ext>
            </a:extLst>
          </p:cNvPr>
          <p:cNvSpPr>
            <a:spLocks noGrp="1"/>
          </p:cNvSpPr>
          <p:nvPr/>
        </p:nvSpPr>
        <p:spPr>
          <a:xfrm>
            <a:off x="933450" y="4924425"/>
            <a:ext cx="10144125" cy="323850"/>
          </a:xfrm>
          <a:prstGeom prst="roundRect">
            <a:avLst>
              <a:gd name="adj" fmla="val 23529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“可靠性不是模型的单一属性，而是 Model + Harness 系统的属性”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8A00F15-EF6C-4B43-8D5F-26BC05F4F593}"/>
              </a:ext>
            </a:extLst>
          </p:cNvPr>
          <p:cNvSpPr>
            <a:spLocks noGrp="1"/>
          </p:cNvSpPr>
          <p:nvPr/>
        </p:nvSpPr>
        <p:spPr>
          <a:xfrm>
            <a:off x="933450" y="5295900"/>
            <a:ext cx="10144125" cy="171450"/>
          </a:xfrm>
          <a:prstGeom prst="roundRect">
            <a:avLst>
              <a:gd name="adj" fmla="val 44444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975" b="0">
                <a:solidFill>
                  <a:srgbClr val="D0D5DD"/>
                </a:solidFill>
              </a:defRPr>
            </a:pPr>
            <a:r>
              <a:rPr sz="975" b="0">
                <a:solidFill>
                  <a:srgbClr val="D0D5DD"/>
                </a:solidFill>
              </a:rPr>
              <a:t>Böckeler 的定义所指向的工程结论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20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21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22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E00CFA7-38C2-4288-A122-4FA5F522A69E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Agent = Model + Harness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1315C7A-C5FB-44AB-98E8-C3FB49EB17F4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harness 就是模型之外的一切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AF97D62-79C9-41B0-9842-59F43033318B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4B58052-D8A2-4D25-AA2D-81FF8BE3C9D1}"/>
              </a:ext>
            </a:extLst>
          </p:cNvPr>
          <p:cNvSpPr>
            <a:spLocks noGrp="1"/>
          </p:cNvSpPr>
          <p:nvPr/>
        </p:nvSpPr>
        <p:spPr>
          <a:xfrm>
            <a:off x="2667000" y="2190750"/>
            <a:ext cx="6858000" cy="857250"/>
          </a:xfrm>
          <a:prstGeom prst="roundRect">
            <a:avLst>
              <a:gd name="adj" fmla="val 8889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 anchor="ctr"/>
          <a:lstStyle/>
          <a:p>
            <a:pPr algn="ctr"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能力：Model   +   可靠性：Harness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B8FA771-79B2-4DC0-8EF9-C4EB24FA03D5}"/>
              </a:ext>
            </a:extLst>
          </p:cNvPr>
          <p:cNvSpPr>
            <a:spLocks noGrp="1"/>
          </p:cNvSpPr>
          <p:nvPr/>
        </p:nvSpPr>
        <p:spPr>
          <a:xfrm>
            <a:off x="952500" y="3429000"/>
            <a:ext cx="142875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权限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1858724-E5F9-498E-A477-F18702A703DF}"/>
              </a:ext>
            </a:extLst>
          </p:cNvPr>
          <p:cNvSpPr>
            <a:spLocks noGrp="1"/>
          </p:cNvSpPr>
          <p:nvPr/>
        </p:nvSpPr>
        <p:spPr>
          <a:xfrm>
            <a:off x="2686050" y="3429000"/>
            <a:ext cx="142875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沙箱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7BDA0FA-068F-4719-8E86-725D8071B201}"/>
              </a:ext>
            </a:extLst>
          </p:cNvPr>
          <p:cNvSpPr>
            <a:spLocks noGrp="1"/>
          </p:cNvSpPr>
          <p:nvPr/>
        </p:nvSpPr>
        <p:spPr>
          <a:xfrm>
            <a:off x="4419600" y="3429000"/>
            <a:ext cx="142875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工具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38F4AB2-B9AE-46B5-BCB6-CBA73EB28B41}"/>
              </a:ext>
            </a:extLst>
          </p:cNvPr>
          <p:cNvSpPr>
            <a:spLocks noGrp="1"/>
          </p:cNvSpPr>
          <p:nvPr/>
        </p:nvSpPr>
        <p:spPr>
          <a:xfrm>
            <a:off x="6153150" y="3429000"/>
            <a:ext cx="142875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验证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588D7B5-CAC9-43C1-8640-451362804A6F}"/>
              </a:ext>
            </a:extLst>
          </p:cNvPr>
          <p:cNvSpPr>
            <a:spLocks noGrp="1"/>
          </p:cNvSpPr>
          <p:nvPr/>
        </p:nvSpPr>
        <p:spPr>
          <a:xfrm>
            <a:off x="7886700" y="3429000"/>
            <a:ext cx="142875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4288">
            <a:solidFill>
              <a:srgbClr val="B42318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B42318"/>
                </a:solidFill>
              </a:defRPr>
            </a:pPr>
            <a:r>
              <a:rPr dirty="0"/>
              <a:t>trace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27694D4-DC91-431A-84CA-FB3D489D560E}"/>
              </a:ext>
            </a:extLst>
          </p:cNvPr>
          <p:cNvSpPr>
            <a:spLocks noGrp="1"/>
          </p:cNvSpPr>
          <p:nvPr/>
        </p:nvSpPr>
        <p:spPr>
          <a:xfrm>
            <a:off x="9620250" y="3429000"/>
            <a:ext cx="142875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CI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268DCC4-1DC1-4E42-B179-8D18E54F3F80}"/>
              </a:ext>
            </a:extLst>
          </p:cNvPr>
          <p:cNvSpPr>
            <a:spLocks noGrp="1"/>
          </p:cNvSpPr>
          <p:nvPr/>
        </p:nvSpPr>
        <p:spPr>
          <a:xfrm>
            <a:off x="1524000" y="4238625"/>
            <a:ext cx="9144000" cy="333375"/>
          </a:xfrm>
          <a:prstGeom prst="roundRect">
            <a:avLst>
              <a:gd name="adj" fmla="val 2285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你买很贵的模型买的是“能力”，“可靠性”是周围那一圈给出来的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325894E-82FC-40EC-A329-8BAAA8503EAA}"/>
              </a:ext>
            </a:extLst>
          </p:cNvPr>
          <p:cNvSpPr>
            <a:spLocks noGrp="1"/>
          </p:cNvSpPr>
          <p:nvPr/>
        </p:nvSpPr>
        <p:spPr>
          <a:xfrm>
            <a:off x="704850" y="4905375"/>
            <a:ext cx="10782300" cy="781050"/>
          </a:xfrm>
          <a:prstGeom prst="roundRect">
            <a:avLst>
              <a:gd name="adj" fmla="val 9756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FEFE0264-57D1-414D-9200-9F66D742C020}"/>
              </a:ext>
            </a:extLst>
          </p:cNvPr>
          <p:cNvSpPr>
            <a:spLocks noGrp="1"/>
          </p:cNvSpPr>
          <p:nvPr/>
        </p:nvSpPr>
        <p:spPr>
          <a:xfrm>
            <a:off x="933450" y="5019675"/>
            <a:ext cx="10144125" cy="323850"/>
          </a:xfrm>
          <a:prstGeom prst="roundRect">
            <a:avLst>
              <a:gd name="adj" fmla="val 23529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“雏形早就在——一个 prompt + 一个 Bash Tool + 一个 Edit Tool”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F5DFFB1-44A5-4BC3-8888-2AD6B3296E1B}"/>
              </a:ext>
            </a:extLst>
          </p:cNvPr>
          <p:cNvSpPr>
            <a:spLocks noGrp="1"/>
          </p:cNvSpPr>
          <p:nvPr/>
        </p:nvSpPr>
        <p:spPr>
          <a:xfrm>
            <a:off x="933450" y="5391150"/>
            <a:ext cx="10144125" cy="171450"/>
          </a:xfrm>
          <a:prstGeom prst="roundRect">
            <a:avLst>
              <a:gd name="adj" fmla="val 44444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975" b="0">
                <a:solidFill>
                  <a:srgbClr val="D0D5DD"/>
                </a:solidFill>
              </a:defRPr>
            </a:pPr>
            <a:r>
              <a:rPr sz="975" b="0">
                <a:solidFill>
                  <a:srgbClr val="D0D5DD"/>
                </a:solidFill>
              </a:rPr>
              <a:t>2024 SWE-bench 最小脚手架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15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16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E86FF0F-0669-43AF-9401-5256598EC68B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两套控制，一档分野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C5E6071-1C87-4646-95DF-5BE85B2C03D7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Guides 管事前，Sensors 管事后；能确定的，别靠模型猜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67DDF78-56EC-491B-94A6-52FD7B2B5968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991801D-7A72-4956-B944-4C9B0A8D4DFF}"/>
              </a:ext>
            </a:extLst>
          </p:cNvPr>
          <p:cNvSpPr>
            <a:spLocks noGrp="1"/>
          </p:cNvSpPr>
          <p:nvPr/>
        </p:nvSpPr>
        <p:spPr>
          <a:xfrm>
            <a:off x="809625" y="2143125"/>
            <a:ext cx="4857750" cy="1428750"/>
          </a:xfrm>
          <a:prstGeom prst="roundRect">
            <a:avLst>
              <a:gd name="adj" fmla="val 5333"/>
            </a:avLst>
          </a:prstGeom>
          <a:solidFill>
            <a:srgbClr val="F5F7FA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Guides（前馈）</a:t>
            </a:r>
          </a:p>
          <a:p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行动前约束：按这个样式 / 必须过 lint / 只能用这些工具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D81526F-45F8-4989-AA17-D9A951029E4E}"/>
              </a:ext>
            </a:extLst>
          </p:cNvPr>
          <p:cNvSpPr>
            <a:spLocks noGrp="1"/>
          </p:cNvSpPr>
          <p:nvPr/>
        </p:nvSpPr>
        <p:spPr>
          <a:xfrm>
            <a:off x="6524625" y="2143125"/>
            <a:ext cx="4857750" cy="1428750"/>
          </a:xfrm>
          <a:prstGeom prst="roundRect">
            <a:avLst>
              <a:gd name="adj" fmla="val 5333"/>
            </a:avLst>
          </a:prstGeom>
          <a:solidFill>
            <a:srgbClr val="F5F7FA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Sensors（反馈）</a:t>
            </a:r>
          </a:p>
          <a:p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行动后喂回：测试挂了 / 用户拒绝 / 退出码非零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275F73B-DBD8-4169-A501-6476243F2116}"/>
              </a:ext>
            </a:extLst>
          </p:cNvPr>
          <p:cNvSpPr>
            <a:spLocks noGrp="1"/>
          </p:cNvSpPr>
          <p:nvPr/>
        </p:nvSpPr>
        <p:spPr>
          <a:xfrm>
            <a:off x="809625" y="3905250"/>
            <a:ext cx="4857750" cy="933450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l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computational（确定性）</a:t>
            </a:r>
          </a:p>
          <a:p>
            <a:pPr algn="l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测试 / lint / 类型：可复现，可审计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D311603-F728-4512-9A8B-E1D07A74B218}"/>
              </a:ext>
            </a:extLst>
          </p:cNvPr>
          <p:cNvSpPr>
            <a:spLocks noGrp="1"/>
          </p:cNvSpPr>
          <p:nvPr/>
        </p:nvSpPr>
        <p:spPr>
          <a:xfrm>
            <a:off x="6524625" y="3905250"/>
            <a:ext cx="4857750" cy="933450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l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inferential（概率性）</a:t>
            </a:r>
          </a:p>
          <a:p>
            <a:pPr algn="l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AI review：意见本身可能错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43F7831-1A53-4B08-8D4B-47A08624BAEE}"/>
              </a:ext>
            </a:extLst>
          </p:cNvPr>
          <p:cNvSpPr>
            <a:spLocks noGrp="1"/>
          </p:cNvSpPr>
          <p:nvPr/>
        </p:nvSpPr>
        <p:spPr>
          <a:xfrm>
            <a:off x="704850" y="5286375"/>
            <a:ext cx="10782300" cy="419100"/>
          </a:xfrm>
          <a:prstGeom prst="roundRect">
            <a:avLst>
              <a:gd name="adj" fmla="val 18182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能交给确定性的，绝不靠概率性的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13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14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15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758AF05-EE6F-41F4-BF48-73F6C3D9E014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三个动词，看懂 harness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DACEEFA-C6DF-438A-B201-9A2F5B8DF779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圈住、拦住、看清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26B4EFB-6E68-4CE3-95D2-E4D78A0D9405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ED25187-3A3E-44EE-A191-F77742DBA2AC}"/>
              </a:ext>
            </a:extLst>
          </p:cNvPr>
          <p:cNvSpPr>
            <a:spLocks noGrp="1"/>
          </p:cNvSpPr>
          <p:nvPr/>
        </p:nvSpPr>
        <p:spPr>
          <a:xfrm>
            <a:off x="809625" y="2333625"/>
            <a:ext cx="3143250" cy="209550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 w="23813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圈住</a:t>
            </a:r>
          </a:p>
          <a:p>
            <a:endParaRPr sz="1575" b="1">
              <a:solidFill>
                <a:srgbClr val="111827"/>
              </a:solidFill>
            </a:endParaRPr>
          </a:p>
          <a:p>
            <a:pPr algn="ctr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沙箱 + 权限</a:t>
            </a:r>
          </a:p>
          <a:p>
            <a:pPr algn="ctr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文件与网络双重隔离</a:t>
            </a:r>
          </a:p>
          <a:p>
            <a:pPr algn="ctr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-84% 权限提示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B8EDC39-FEBA-4E87-B941-8A422956E1FA}"/>
              </a:ext>
            </a:extLst>
          </p:cNvPr>
          <p:cNvSpPr>
            <a:spLocks noGrp="1"/>
          </p:cNvSpPr>
          <p:nvPr/>
        </p:nvSpPr>
        <p:spPr>
          <a:xfrm>
            <a:off x="4429125" y="2333625"/>
            <a:ext cx="3143250" cy="20955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23813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拦住</a:t>
            </a:r>
          </a:p>
          <a:p>
            <a:endParaRPr sz="1575" b="1">
              <a:solidFill>
                <a:srgbClr val="111827"/>
              </a:solidFill>
            </a:endParaRPr>
          </a:p>
          <a:p>
            <a:pPr algn="ctr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验证门禁</a:t>
            </a:r>
          </a:p>
          <a:p>
            <a:pPr algn="ctr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错误在离源头最近的地方</a:t>
            </a:r>
          </a:p>
          <a:p>
            <a:pPr algn="ctr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就地拦下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1068C5B-0617-472A-B8D9-4D505C27092C}"/>
              </a:ext>
            </a:extLst>
          </p:cNvPr>
          <p:cNvSpPr>
            <a:spLocks noGrp="1"/>
          </p:cNvSpPr>
          <p:nvPr/>
        </p:nvSpPr>
        <p:spPr>
          <a:xfrm>
            <a:off x="8048625" y="2333625"/>
            <a:ext cx="3143250" cy="20955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23813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看清</a:t>
            </a:r>
          </a:p>
          <a:p>
            <a:endParaRPr sz="1575" b="1">
              <a:solidFill>
                <a:srgbClr val="111827"/>
              </a:solidFill>
            </a:endParaRPr>
          </a:p>
          <a:p>
            <a:pPr algn="ctr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可观测性 + provenance + CI</a:t>
            </a:r>
          </a:p>
          <a:p>
            <a:pPr algn="ctr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trace 记下每一步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52DF948-9D0E-496B-BCCF-10722BC32A73}"/>
              </a:ext>
            </a:extLst>
          </p:cNvPr>
          <p:cNvSpPr>
            <a:spLocks noGrp="1"/>
          </p:cNvSpPr>
          <p:nvPr/>
        </p:nvSpPr>
        <p:spPr>
          <a:xfrm>
            <a:off x="704850" y="5143500"/>
            <a:ext cx="10782300" cy="419100"/>
          </a:xfrm>
          <a:prstGeom prst="roundRect">
            <a:avLst>
              <a:gd name="adj" fmla="val 18182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模型给能力，harness 给可靠性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16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17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18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1249455-5706-40D3-AF3E-82EAB8877557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上层系统能扩大产能，却不能替下层补可靠性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42F91A5-3305-408D-876D-C6D4948993F2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放大与编排之前，先让每个节点可授权、可验证、可追溯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018FF49-DD72-47C3-B309-9C253C635F1B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73610BA-D279-440B-A046-5B1419F40AF3}"/>
              </a:ext>
            </a:extLst>
          </p:cNvPr>
          <p:cNvSpPr>
            <a:spLocks noGrp="1"/>
          </p:cNvSpPr>
          <p:nvPr/>
        </p:nvSpPr>
        <p:spPr>
          <a:xfrm>
            <a:off x="1143000" y="2667000"/>
            <a:ext cx="2762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Loop</a:t>
            </a:r>
          </a:p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跨运行</a:t>
            </a:r>
          </a:p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放大反馈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E622211-9719-4DFB-8306-211A693DD67D}"/>
              </a:ext>
            </a:extLst>
          </p:cNvPr>
          <p:cNvSpPr>
            <a:spLocks noGrp="1"/>
          </p:cNvSpPr>
          <p:nvPr/>
        </p:nvSpPr>
        <p:spPr>
          <a:xfrm>
            <a:off x="4810125" y="2667000"/>
            <a:ext cx="2762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Graph</a:t>
            </a:r>
          </a:p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跨节点</a:t>
            </a:r>
          </a:p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显式路由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009B642-7F07-49BA-AA87-82DFCE865B97}"/>
              </a:ext>
            </a:extLst>
          </p:cNvPr>
          <p:cNvSpPr>
            <a:spLocks noGrp="1"/>
          </p:cNvSpPr>
          <p:nvPr/>
        </p:nvSpPr>
        <p:spPr>
          <a:xfrm>
            <a:off x="8477250" y="2667000"/>
            <a:ext cx="2762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Harness</a:t>
            </a:r>
          </a:p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每次执行</a:t>
            </a:r>
          </a:p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授权 · 检查 · 记录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681C5E9-D8CF-4787-B2FE-1EB74668BAD6}"/>
              </a:ext>
            </a:extLst>
          </p:cNvPr>
          <p:cNvSpPr>
            <a:spLocks noGrp="1"/>
          </p:cNvSpPr>
          <p:nvPr/>
        </p:nvSpPr>
        <p:spPr>
          <a:xfrm>
            <a:off x="1190625" y="4143375"/>
            <a:ext cx="9810750" cy="381000"/>
          </a:xfrm>
          <a:prstGeom prst="roundRect">
            <a:avLst>
              <a:gd name="adj" fmla="val 20000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725" b="1">
                <a:solidFill>
                  <a:srgbClr val="1F2937"/>
                </a:solidFill>
              </a:defRPr>
            </a:pPr>
            <a:r>
              <a:rPr sz="1725" b="1">
                <a:solidFill>
                  <a:srgbClr val="1F2937"/>
                </a:solidFill>
              </a:rPr>
              <a:t>没有可靠节点，Loop 会更快放大失败，Graph 会更复杂传播失败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105161E-CC49-4F87-B339-052621495998}"/>
              </a:ext>
            </a:extLst>
          </p:cNvPr>
          <p:cNvSpPr>
            <a:spLocks noGrp="1"/>
          </p:cNvSpPr>
          <p:nvPr/>
        </p:nvSpPr>
        <p:spPr>
          <a:xfrm>
            <a:off x="704850" y="4905375"/>
            <a:ext cx="10782300" cy="781050"/>
          </a:xfrm>
          <a:prstGeom prst="roundRect">
            <a:avLst>
              <a:gd name="adj" fmla="val 9756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F7FE365-305F-45D2-B9B4-EE77970FD6CB}"/>
              </a:ext>
            </a:extLst>
          </p:cNvPr>
          <p:cNvSpPr>
            <a:spLocks noGrp="1"/>
          </p:cNvSpPr>
          <p:nvPr/>
        </p:nvSpPr>
        <p:spPr>
          <a:xfrm>
            <a:off x="933450" y="5019675"/>
            <a:ext cx="10144125" cy="323850"/>
          </a:xfrm>
          <a:prstGeom prst="roundRect">
            <a:avLst>
              <a:gd name="adj" fmla="val 23529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“A model proposes a graph of work; a deterministic checker admits it or refuses it.”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1ECC1CD-A4ED-46C5-AC8C-03730527F499}"/>
              </a:ext>
            </a:extLst>
          </p:cNvPr>
          <p:cNvSpPr>
            <a:spLocks noGrp="1"/>
          </p:cNvSpPr>
          <p:nvPr/>
        </p:nvSpPr>
        <p:spPr>
          <a:xfrm>
            <a:off x="933450" y="5391150"/>
            <a:ext cx="10144125" cy="171450"/>
          </a:xfrm>
          <a:prstGeom prst="roundRect">
            <a:avLst>
              <a:gd name="adj" fmla="val 44444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975" b="0">
                <a:solidFill>
                  <a:srgbClr val="D0D5DD"/>
                </a:solidFill>
              </a:defRPr>
            </a:pPr>
            <a:r>
              <a:rPr sz="975" b="0">
                <a:solidFill>
                  <a:srgbClr val="D0D5DD"/>
                </a:solidFill>
              </a:rPr>
              <a:t>GraphARC：上层编排同样需要确定性门禁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21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22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23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5F0BAAB-83C0-44F1-B4ED-42E16E8D14AB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2026 的教训：在生成时相信模型，不等于在执行时授权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F1558C9-02EE-47CE-90F4-3DDB6FC24613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安全故事不在于 CVE 编号，而在于护栏在哪一道失效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1DA59DA-EB01-4870-8383-C1916E1C22DC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BAD5AF4-4354-43C3-B7B5-2DC98368F076}"/>
              </a:ext>
            </a:extLst>
          </p:cNvPr>
          <p:cNvSpPr>
            <a:spLocks noGrp="1"/>
          </p:cNvSpPr>
          <p:nvPr/>
        </p:nvSpPr>
        <p:spPr>
          <a:xfrm>
            <a:off x="1047750" y="247650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4288">
            <a:solidFill>
              <a:srgbClr val="B42318"/>
            </a:solidFill>
            <a:prstDash val="solid"/>
          </a:ln>
        </p:spPr>
        <p:txBody>
          <a:bodyPr anchor="ctr"/>
          <a:lstStyle/>
          <a:p>
            <a:pPr algn="ctr">
              <a:defRPr sz="1800" b="1">
                <a:solidFill>
                  <a:srgbClr val="B42318"/>
                </a:solidFill>
              </a:defRPr>
            </a:pPr>
            <a:r>
              <a:rPr sz="1800" b="1" dirty="0">
                <a:solidFill>
                  <a:srgbClr val="B42318"/>
                </a:solidFill>
              </a:rPr>
              <a:t>1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16B0172-9145-4C0C-9DDA-1A0BCAA2F391}"/>
              </a:ext>
            </a:extLst>
          </p:cNvPr>
          <p:cNvSpPr>
            <a:spLocks noGrp="1"/>
          </p:cNvSpPr>
          <p:nvPr/>
        </p:nvSpPr>
        <p:spPr>
          <a:xfrm>
            <a:off x="1190625" y="2915759"/>
            <a:ext cx="2762250" cy="571500"/>
          </a:xfrm>
          <a:prstGeom prst="roundRect">
            <a:avLst>
              <a:gd name="adj" fmla="val 14545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350" b="0">
                <a:solidFill>
                  <a:srgbClr val="1F2937"/>
                </a:solidFill>
              </a:defRPr>
            </a:pPr>
            <a:r>
              <a:rPr sz="1350" b="0" dirty="0" err="1">
                <a:solidFill>
                  <a:srgbClr val="1F2937"/>
                </a:solidFill>
              </a:rPr>
              <a:t>工具调用形状的数据</a:t>
            </a:r>
            <a:endParaRPr sz="1350" b="0" dirty="0">
              <a:solidFill>
                <a:srgbClr val="1F2937"/>
              </a:solidFill>
            </a:endParaRPr>
          </a:p>
          <a:p>
            <a:pPr algn="ctr">
              <a:lnSpc>
                <a:spcPct val="105000"/>
              </a:lnSpc>
              <a:buNone/>
              <a:defRPr sz="1350" b="0">
                <a:solidFill>
                  <a:srgbClr val="1F2937"/>
                </a:solidFill>
              </a:defRPr>
            </a:pPr>
            <a:r>
              <a:rPr sz="1350" b="0" dirty="0" err="1">
                <a:solidFill>
                  <a:srgbClr val="1F2937"/>
                </a:solidFill>
              </a:rPr>
              <a:t>被伪造或绕过模型回合</a:t>
            </a:r>
            <a:endParaRPr sz="1350" b="0" dirty="0">
              <a:solidFill>
                <a:srgbClr val="1F2937"/>
              </a:solidFill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922EE56C-7C15-488E-A37E-16BB63090A74}"/>
              </a:ext>
            </a:extLst>
          </p:cNvPr>
          <p:cNvSpPr>
            <a:spLocks noGrp="1"/>
          </p:cNvSpPr>
          <p:nvPr/>
        </p:nvSpPr>
        <p:spPr>
          <a:xfrm>
            <a:off x="4095750" y="3048000"/>
            <a:ext cx="428625" cy="9525"/>
          </a:xfrm>
          <a:prstGeom prst="line">
            <a:avLst/>
          </a:prstGeom>
          <a:noFill/>
          <a:ln w="19050">
            <a:solidFill>
              <a:srgbClr val="B4231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BCB8AF5-7100-4283-A965-5487E1B4CDCD}"/>
              </a:ext>
            </a:extLst>
          </p:cNvPr>
          <p:cNvSpPr>
            <a:spLocks noGrp="1"/>
          </p:cNvSpPr>
          <p:nvPr/>
        </p:nvSpPr>
        <p:spPr>
          <a:xfrm>
            <a:off x="4524375" y="247650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FF7F6"/>
          </a:solidFill>
          <a:ln w="14288">
            <a:solidFill>
              <a:srgbClr val="B42318"/>
            </a:solidFill>
            <a:prstDash val="solid"/>
          </a:ln>
        </p:spPr>
        <p:txBody>
          <a:bodyPr anchor="ctr"/>
          <a:lstStyle/>
          <a:p>
            <a:pPr algn="ctr"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2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56DAF5C-45CB-4035-AD2B-4AE4CE3BAB36}"/>
              </a:ext>
            </a:extLst>
          </p:cNvPr>
          <p:cNvSpPr>
            <a:spLocks noGrp="1"/>
          </p:cNvSpPr>
          <p:nvPr/>
        </p:nvSpPr>
        <p:spPr>
          <a:xfrm>
            <a:off x="4667250" y="2952750"/>
            <a:ext cx="2762250" cy="523875"/>
          </a:xfrm>
          <a:prstGeom prst="roundRect">
            <a:avLst>
              <a:gd name="adj" fmla="val 14545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350" b="0">
                <a:solidFill>
                  <a:srgbClr val="1F2937"/>
                </a:solidFill>
              </a:defRPr>
            </a:pPr>
            <a:r>
              <a:rPr sz="1350" b="0">
                <a:solidFill>
                  <a:srgbClr val="1F2937"/>
                </a:solidFill>
              </a:rPr>
              <a:t>执行端只相信它“看起来合法”</a:t>
            </a:r>
          </a:p>
          <a:p>
            <a:pPr algn="ctr">
              <a:lnSpc>
                <a:spcPct val="105000"/>
              </a:lnSpc>
              <a:buNone/>
              <a:defRPr sz="1350" b="0">
                <a:solidFill>
                  <a:srgbClr val="1F2937"/>
                </a:solidFill>
              </a:defRPr>
            </a:pPr>
            <a:r>
              <a:rPr sz="1350" b="0">
                <a:solidFill>
                  <a:srgbClr val="1F2937"/>
                </a:solidFill>
              </a:rPr>
              <a:t>没有独立授权</a:t>
            </a:r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3669C321-F129-4A34-9249-D8C17BD6C92A}"/>
              </a:ext>
            </a:extLst>
          </p:cNvPr>
          <p:cNvSpPr>
            <a:spLocks noGrp="1"/>
          </p:cNvSpPr>
          <p:nvPr/>
        </p:nvSpPr>
        <p:spPr>
          <a:xfrm>
            <a:off x="7572375" y="3048000"/>
            <a:ext cx="428625" cy="9525"/>
          </a:xfrm>
          <a:prstGeom prst="line">
            <a:avLst/>
          </a:prstGeom>
          <a:noFill/>
          <a:ln w="19050">
            <a:solidFill>
              <a:srgbClr val="B4231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88AC612-B3B4-4E76-AC42-335675A62734}"/>
              </a:ext>
            </a:extLst>
          </p:cNvPr>
          <p:cNvSpPr>
            <a:spLocks noGrp="1"/>
          </p:cNvSpPr>
          <p:nvPr/>
        </p:nvSpPr>
        <p:spPr>
          <a:xfrm>
            <a:off x="8001000" y="247650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4288">
            <a:solidFill>
              <a:srgbClr val="B42318"/>
            </a:solidFill>
            <a:prstDash val="solid"/>
          </a:ln>
        </p:spPr>
        <p:txBody>
          <a:bodyPr anchor="ctr"/>
          <a:lstStyle/>
          <a:p>
            <a:pPr algn="ctr"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3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E7E79C0-0975-44EC-A3F4-755853B2E05C}"/>
              </a:ext>
            </a:extLst>
          </p:cNvPr>
          <p:cNvSpPr>
            <a:spLocks noGrp="1"/>
          </p:cNvSpPr>
          <p:nvPr/>
        </p:nvSpPr>
        <p:spPr>
          <a:xfrm>
            <a:off x="8143875" y="2952750"/>
            <a:ext cx="2762250" cy="523875"/>
          </a:xfrm>
          <a:prstGeom prst="roundRect">
            <a:avLst>
              <a:gd name="adj" fmla="val 14545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350" b="0">
                <a:solidFill>
                  <a:srgbClr val="1F2937"/>
                </a:solidFill>
              </a:defRPr>
            </a:pPr>
            <a:r>
              <a:rPr sz="1350" b="0">
                <a:solidFill>
                  <a:srgbClr val="1F2937"/>
                </a:solidFill>
              </a:rPr>
              <a:t>真实的工具动作</a:t>
            </a:r>
          </a:p>
          <a:p>
            <a:pPr algn="ctr">
              <a:lnSpc>
                <a:spcPct val="105000"/>
              </a:lnSpc>
              <a:buNone/>
              <a:defRPr sz="1350" b="0">
                <a:solidFill>
                  <a:srgbClr val="1F2937"/>
                </a:solidFill>
              </a:defRPr>
            </a:pPr>
            <a:r>
              <a:rPr sz="1350" b="0">
                <a:solidFill>
                  <a:srgbClr val="1F2937"/>
                </a:solidFill>
              </a:rPr>
              <a:t>仍然发生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E6E6739-74F9-4501-AE85-80A9CC15B78A}"/>
              </a:ext>
            </a:extLst>
          </p:cNvPr>
          <p:cNvSpPr>
            <a:spLocks noGrp="1"/>
          </p:cNvSpPr>
          <p:nvPr/>
        </p:nvSpPr>
        <p:spPr>
          <a:xfrm>
            <a:off x="704850" y="4476750"/>
            <a:ext cx="10782300" cy="781050"/>
          </a:xfrm>
          <a:prstGeom prst="roundRect">
            <a:avLst>
              <a:gd name="adj" fmla="val 9756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2E4510F3-6231-4053-AA7B-5577534E22A9}"/>
              </a:ext>
            </a:extLst>
          </p:cNvPr>
          <p:cNvSpPr>
            <a:spLocks noGrp="1"/>
          </p:cNvSpPr>
          <p:nvPr/>
        </p:nvSpPr>
        <p:spPr>
          <a:xfrm>
            <a:off x="933450" y="4591050"/>
            <a:ext cx="10144125" cy="323850"/>
          </a:xfrm>
          <a:prstGeom prst="roundRect">
            <a:avLst>
              <a:gd name="adj" fmla="val 23529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“authorize at execution, not at generation”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AEFC569-430B-4202-88CA-243A6D4B254F}"/>
              </a:ext>
            </a:extLst>
          </p:cNvPr>
          <p:cNvSpPr>
            <a:spLocks noGrp="1"/>
          </p:cNvSpPr>
          <p:nvPr/>
        </p:nvSpPr>
        <p:spPr>
          <a:xfrm>
            <a:off x="933450" y="4962525"/>
            <a:ext cx="10144125" cy="171450"/>
          </a:xfrm>
          <a:prstGeom prst="roundRect">
            <a:avLst>
              <a:gd name="adj" fmla="val 44444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975" b="0">
                <a:solidFill>
                  <a:srgbClr val="D0D5DD"/>
                </a:solidFill>
              </a:defRPr>
            </a:pPr>
            <a:r>
              <a:rPr sz="975" b="0">
                <a:solidFill>
                  <a:srgbClr val="D0D5DD"/>
                </a:solidFill>
              </a:rPr>
              <a:t>修复方向：在真正执行工具的位置独立判断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3E5D5B11-B87C-4477-A051-63050DBBBE00}"/>
              </a:ext>
            </a:extLst>
          </p:cNvPr>
          <p:cNvSpPr>
            <a:spLocks noGrp="1"/>
          </p:cNvSpPr>
          <p:nvPr/>
        </p:nvSpPr>
        <p:spPr>
          <a:xfrm>
            <a:off x="704850" y="5476875"/>
            <a:ext cx="10782300" cy="419100"/>
          </a:xfrm>
          <a:prstGeom prst="roundRect">
            <a:avLst>
              <a:gd name="adj" fmla="val 18182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875" b="1">
                <a:solidFill>
                  <a:srgbClr val="B42318"/>
                </a:solidFill>
              </a:defRPr>
            </a:pPr>
            <a:r>
              <a:rPr sz="1875" b="1">
                <a:solidFill>
                  <a:srgbClr val="B42318"/>
                </a:solidFill>
              </a:rPr>
              <a:t>不要把“模型听话”当作“系统已授权”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16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17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18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82E3534-000A-41C2-BFDD-913771C10823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问题不是自建与否，而是边界由谁定义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F936B20-9373-4E58-89E8-40C4B880655B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固定与灵活不是价值高低，而是扩展合同的差异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9F49991-4E10-415A-9DF4-82C4A83FD710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E283376-8C62-4B6F-BDF2-42758DD5FBC6}"/>
              </a:ext>
            </a:extLst>
          </p:cNvPr>
          <p:cNvSpPr>
            <a:spLocks noGrp="1"/>
          </p:cNvSpPr>
          <p:nvPr/>
        </p:nvSpPr>
        <p:spPr>
          <a:xfrm>
            <a:off x="1476375" y="2305050"/>
            <a:ext cx="9239250" cy="400050"/>
          </a:xfrm>
          <a:prstGeom prst="roundRect">
            <a:avLst>
              <a:gd name="adj" fmla="val 19048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950" b="1">
                <a:solidFill>
                  <a:srgbClr val="1F2937"/>
                </a:solidFill>
              </a:defRPr>
            </a:pPr>
            <a:r>
              <a:rPr sz="1950" b="1">
                <a:solidFill>
                  <a:srgbClr val="1F2937"/>
                </a:solidFill>
              </a:rPr>
              <a:t>我是否需要改变模型、工具、执行世界、门禁或项目知识组织？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72430FA5-4932-4B8E-A21D-6644C0655158}"/>
              </a:ext>
            </a:extLst>
          </p:cNvPr>
          <p:cNvSpPr>
            <a:spLocks noGrp="1"/>
          </p:cNvSpPr>
          <p:nvPr/>
        </p:nvSpPr>
        <p:spPr>
          <a:xfrm>
            <a:off x="1809750" y="3429000"/>
            <a:ext cx="8572500" cy="9525"/>
          </a:xfrm>
          <a:prstGeom prst="line">
            <a:avLst/>
          </a:prstGeom>
          <a:noFill/>
          <a:ln w="190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1E71C6D-3058-4C95-8B38-37059BB00E96}"/>
              </a:ext>
            </a:extLst>
          </p:cNvPr>
          <p:cNvSpPr>
            <a:spLocks noGrp="1"/>
          </p:cNvSpPr>
          <p:nvPr/>
        </p:nvSpPr>
        <p:spPr>
          <a:xfrm>
            <a:off x="2000250" y="3733800"/>
            <a:ext cx="2857500" cy="285750"/>
          </a:xfrm>
          <a:prstGeom prst="roundRect">
            <a:avLst>
              <a:gd name="adj" fmla="val 2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350" b="1">
                <a:solidFill>
                  <a:srgbClr val="667085"/>
                </a:solidFill>
              </a:defRPr>
            </a:pPr>
            <a:r>
              <a:rPr sz="1350" b="1">
                <a:solidFill>
                  <a:srgbClr val="667085"/>
                </a:solidFill>
              </a:rPr>
              <a:t>不需要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47B0D11-0FFA-4DA8-9203-5A2459F9BE65}"/>
              </a:ext>
            </a:extLst>
          </p:cNvPr>
          <p:cNvSpPr>
            <a:spLocks noGrp="1"/>
          </p:cNvSpPr>
          <p:nvPr/>
        </p:nvSpPr>
        <p:spPr>
          <a:xfrm>
            <a:off x="7334250" y="3733800"/>
            <a:ext cx="2857500" cy="285750"/>
          </a:xfrm>
          <a:prstGeom prst="roundRect">
            <a:avLst>
              <a:gd name="adj" fmla="val 2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350" b="1">
                <a:solidFill>
                  <a:srgbClr val="667085"/>
                </a:solidFill>
              </a:defRPr>
            </a:pPr>
            <a:r>
              <a:rPr sz="1350" b="1">
                <a:solidFill>
                  <a:srgbClr val="667085"/>
                </a:solidFill>
              </a:rPr>
              <a:t>需要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3869A1A-9FE2-4230-A11F-BDE2524A28CC}"/>
              </a:ext>
            </a:extLst>
          </p:cNvPr>
          <p:cNvSpPr>
            <a:spLocks noGrp="1"/>
          </p:cNvSpPr>
          <p:nvPr/>
        </p:nvSpPr>
        <p:spPr>
          <a:xfrm>
            <a:off x="1809750" y="4191000"/>
            <a:ext cx="2857500" cy="64770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借现成 Harness</a:t>
            </a:r>
          </a:p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把注意力留给业务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9FE1348-EC33-46AB-8867-7B239678BE6F}"/>
              </a:ext>
            </a:extLst>
          </p:cNvPr>
          <p:cNvSpPr>
            <a:spLocks noGrp="1"/>
          </p:cNvSpPr>
          <p:nvPr/>
        </p:nvSpPr>
        <p:spPr>
          <a:xfrm>
            <a:off x="7524750" y="4191000"/>
            <a:ext cx="2857500" cy="64770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拥有改变边界的能力</a:t>
            </a:r>
          </a:p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再谈灵活 Harness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1F29330-048A-4C64-B757-A23780F0471E}"/>
              </a:ext>
            </a:extLst>
          </p:cNvPr>
          <p:cNvSpPr>
            <a:spLocks noGrp="1"/>
          </p:cNvSpPr>
          <p:nvPr/>
        </p:nvSpPr>
        <p:spPr>
          <a:xfrm>
            <a:off x="704850" y="5381625"/>
            <a:ext cx="10782300" cy="419100"/>
          </a:xfrm>
          <a:prstGeom prst="roundRect">
            <a:avLst>
              <a:gd name="adj" fmla="val 18182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先看需求是否越过产品公开的扩展合同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15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16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17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144E2FD-1D95-432B-AE20-F9A545235C29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现成的价值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4A9C809-92C9-4166-88E3-CEDF6585D20F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组件随产品交付，开箱即用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DD3A680-8D53-4259-B68D-1407D0B40AEC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4A20A4E-A5CD-4577-8A13-6890D3092370}"/>
              </a:ext>
            </a:extLst>
          </p:cNvPr>
          <p:cNvSpPr>
            <a:spLocks noGrp="1"/>
          </p:cNvSpPr>
          <p:nvPr/>
        </p:nvSpPr>
        <p:spPr>
          <a:xfrm>
            <a:off x="857250" y="2238375"/>
            <a:ext cx="4762500" cy="2286000"/>
          </a:xfrm>
          <a:prstGeom prst="roundRect">
            <a:avLst>
              <a:gd name="adj" fmla="val 3333"/>
            </a:avLst>
          </a:prstGeom>
          <a:solidFill>
            <a:srgbClr val="F5F7FA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harness 民主化</a:t>
            </a:r>
          </a:p>
          <a:p>
            <a:endParaRPr sz="1500" b="0">
              <a:solidFill>
                <a:srgbClr val="1F2937"/>
              </a:solidFill>
            </a:endParaRPr>
          </a:p>
          <a:p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沙箱 / 权限 / 可观测性</a:t>
            </a:r>
          </a:p>
          <a:p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provenance 接 CI</a:t>
            </a:r>
          </a:p>
          <a:p>
            <a:endParaRPr sz="1500" b="0">
              <a:solidFill>
                <a:srgbClr val="1F2937"/>
              </a:solidFill>
            </a:endParaRPr>
          </a:p>
          <a:p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从“自己写 bash 编排”</a:t>
            </a:r>
          </a:p>
          <a:p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到“开箱即用”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4C74F72-D5A0-4C2D-93BC-A8561A9DF99F}"/>
              </a:ext>
            </a:extLst>
          </p:cNvPr>
          <p:cNvSpPr>
            <a:spLocks noGrp="1"/>
          </p:cNvSpPr>
          <p:nvPr/>
        </p:nvSpPr>
        <p:spPr>
          <a:xfrm>
            <a:off x="6572250" y="2238375"/>
            <a:ext cx="4762500" cy="2286000"/>
          </a:xfrm>
          <a:prstGeom prst="roundRect">
            <a:avLst>
              <a:gd name="adj" fmla="val 3333"/>
            </a:avLst>
          </a:prstGeom>
          <a:solidFill>
            <a:srgbClr val="F5F7FA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常见任务，现成够用</a:t>
            </a:r>
          </a:p>
          <a:p>
            <a:endParaRPr sz="1500" b="0">
              <a:solidFill>
                <a:srgbClr val="1F2937"/>
              </a:solidFill>
            </a:endParaRPr>
          </a:p>
          <a:p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Claude Code 沙箱双重隔离</a:t>
            </a:r>
          </a:p>
          <a:p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Copilot 云端沙箱</a:t>
            </a:r>
          </a:p>
          <a:p>
            <a:endParaRPr sz="1500" b="0">
              <a:solidFill>
                <a:srgbClr val="1F2937"/>
              </a:solidFill>
            </a:endParaRPr>
          </a:p>
          <a:p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组件随产品交付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634F322-B193-4868-B7FE-1629D2192DE8}"/>
              </a:ext>
            </a:extLst>
          </p:cNvPr>
          <p:cNvSpPr>
            <a:spLocks noGrp="1"/>
          </p:cNvSpPr>
          <p:nvPr/>
        </p:nvSpPr>
        <p:spPr>
          <a:xfrm>
            <a:off x="704850" y="4810125"/>
            <a:ext cx="10782300" cy="781050"/>
          </a:xfrm>
          <a:prstGeom prst="roundRect">
            <a:avLst>
              <a:gd name="adj" fmla="val 9756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0A4873B-D054-49D6-B96F-7FEE498EC131}"/>
              </a:ext>
            </a:extLst>
          </p:cNvPr>
          <p:cNvSpPr>
            <a:spLocks noGrp="1"/>
          </p:cNvSpPr>
          <p:nvPr/>
        </p:nvSpPr>
        <p:spPr>
          <a:xfrm>
            <a:off x="933450" y="4924425"/>
            <a:ext cx="10144125" cy="323850"/>
          </a:xfrm>
          <a:prstGeom prst="roundRect">
            <a:avLst>
              <a:gd name="adj" fmla="val 23529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“Start with the simplest viable system.”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40D5A47-746F-4607-9B04-5576484A1C95}"/>
              </a:ext>
            </a:extLst>
          </p:cNvPr>
          <p:cNvSpPr>
            <a:spLocks noGrp="1"/>
          </p:cNvSpPr>
          <p:nvPr/>
        </p:nvSpPr>
        <p:spPr>
          <a:xfrm>
            <a:off x="933450" y="5295900"/>
            <a:ext cx="10144125" cy="171450"/>
          </a:xfrm>
          <a:prstGeom prst="roundRect">
            <a:avLst>
              <a:gd name="adj" fmla="val 44444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975" b="0">
                <a:solidFill>
                  <a:srgbClr val="D0D5DD"/>
                </a:solidFill>
              </a:defRPr>
            </a:pPr>
            <a:r>
              <a:rPr sz="975" b="0">
                <a:solidFill>
                  <a:srgbClr val="D0D5DD"/>
                </a:solidFill>
              </a:rPr>
              <a:t>Anthropic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A6B61E2-FC28-4981-BB34-C8DAC702288E}"/>
              </a:ext>
            </a:extLst>
          </p:cNvPr>
          <p:cNvSpPr>
            <a:spLocks noGrp="1"/>
          </p:cNvSpPr>
          <p:nvPr/>
        </p:nvSpPr>
        <p:spPr>
          <a:xfrm>
            <a:off x="704850" y="5619750"/>
            <a:ext cx="10782300" cy="419100"/>
          </a:xfrm>
          <a:prstGeom prst="roundRect">
            <a:avLst>
              <a:gd name="adj" fmla="val 18182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绝大多数人，应从现成开始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24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25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26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8A9CB5B-0DDD-4CA0-817A-43295221F634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当任务超出产品公开的扩展合同，才需要更灵活的 Harness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D02A81A-B243-4755-9866-5CD24B3075A6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不是笼统地说“现成改不了”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48310DA-ACF2-4AB9-B43C-4B378DBEDB4F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DC8B299-A8C3-42FB-8C35-D6FD41AD0804}"/>
              </a:ext>
            </a:extLst>
          </p:cNvPr>
          <p:cNvSpPr>
            <a:spLocks noGrp="1"/>
          </p:cNvSpPr>
          <p:nvPr/>
        </p:nvSpPr>
        <p:spPr>
          <a:xfrm>
            <a:off x="952500" y="2333625"/>
            <a:ext cx="381000" cy="323850"/>
          </a:xfrm>
          <a:prstGeom prst="roundRect">
            <a:avLst>
              <a:gd name="adj" fmla="val 23529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1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E14E50C-FB4B-4815-BDC0-690577BC4F7A}"/>
              </a:ext>
            </a:extLst>
          </p:cNvPr>
          <p:cNvSpPr>
            <a:spLocks noGrp="1"/>
          </p:cNvSpPr>
          <p:nvPr/>
        </p:nvSpPr>
        <p:spPr>
          <a:xfrm>
            <a:off x="1504950" y="2333625"/>
            <a:ext cx="4000500" cy="323850"/>
          </a:xfrm>
          <a:prstGeom prst="roundRect">
            <a:avLst>
              <a:gd name="adj" fmla="val 23529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1F2937"/>
                </a:solidFill>
              </a:defRPr>
            </a:pPr>
            <a:r>
              <a:rPr sz="1650" b="1">
                <a:solidFill>
                  <a:srgbClr val="1F2937"/>
                </a:solidFill>
              </a:rPr>
              <a:t>新模型 / 新工具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85DA0B44-8B08-4BF0-BA4B-1613E846D6B3}"/>
              </a:ext>
            </a:extLst>
          </p:cNvPr>
          <p:cNvSpPr>
            <a:spLocks noGrp="1"/>
          </p:cNvSpPr>
          <p:nvPr/>
        </p:nvSpPr>
        <p:spPr>
          <a:xfrm>
            <a:off x="1504950" y="2752725"/>
            <a:ext cx="4000500" cy="9525"/>
          </a:xfrm>
          <a:prstGeom prst="line">
            <a:avLst/>
          </a:prstGeom>
          <a:noFill/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C9AE603-176D-431F-A47D-5E58B279B0ED}"/>
              </a:ext>
            </a:extLst>
          </p:cNvPr>
          <p:cNvSpPr>
            <a:spLocks noGrp="1"/>
          </p:cNvSpPr>
          <p:nvPr/>
        </p:nvSpPr>
        <p:spPr>
          <a:xfrm>
            <a:off x="6191250" y="2333625"/>
            <a:ext cx="381000" cy="323850"/>
          </a:xfrm>
          <a:prstGeom prst="roundRect">
            <a:avLst>
              <a:gd name="adj" fmla="val 23529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2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E5BC8C2-B6D6-41EE-8359-94D5C1FCAA2E}"/>
              </a:ext>
            </a:extLst>
          </p:cNvPr>
          <p:cNvSpPr>
            <a:spLocks noGrp="1"/>
          </p:cNvSpPr>
          <p:nvPr/>
        </p:nvSpPr>
        <p:spPr>
          <a:xfrm>
            <a:off x="6743700" y="2333625"/>
            <a:ext cx="4000500" cy="323850"/>
          </a:xfrm>
          <a:prstGeom prst="roundRect">
            <a:avLst>
              <a:gd name="adj" fmla="val 23529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1F2937"/>
                </a:solidFill>
              </a:defRPr>
            </a:pPr>
            <a:r>
              <a:rPr sz="1650" b="1">
                <a:solidFill>
                  <a:srgbClr val="1F2937"/>
                </a:solidFill>
              </a:rPr>
              <a:t>新的执行后端</a:t>
            </a:r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65E18E19-CD77-4037-8C45-111DBA4692B8}"/>
              </a:ext>
            </a:extLst>
          </p:cNvPr>
          <p:cNvSpPr>
            <a:spLocks noGrp="1"/>
          </p:cNvSpPr>
          <p:nvPr/>
        </p:nvSpPr>
        <p:spPr>
          <a:xfrm>
            <a:off x="6743700" y="2752725"/>
            <a:ext cx="4000500" cy="9525"/>
          </a:xfrm>
          <a:prstGeom prst="line">
            <a:avLst/>
          </a:prstGeom>
          <a:noFill/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40D22B5-07ED-471B-A4AE-3973F4DEBAF5}"/>
              </a:ext>
            </a:extLst>
          </p:cNvPr>
          <p:cNvSpPr>
            <a:spLocks noGrp="1"/>
          </p:cNvSpPr>
          <p:nvPr/>
        </p:nvSpPr>
        <p:spPr>
          <a:xfrm>
            <a:off x="952500" y="3476625"/>
            <a:ext cx="381000" cy="323850"/>
          </a:xfrm>
          <a:prstGeom prst="roundRect">
            <a:avLst>
              <a:gd name="adj" fmla="val 23529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3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01DABB1-11AC-4C69-AF09-60F6E198E7CE}"/>
              </a:ext>
            </a:extLst>
          </p:cNvPr>
          <p:cNvSpPr>
            <a:spLocks noGrp="1"/>
          </p:cNvSpPr>
          <p:nvPr/>
        </p:nvSpPr>
        <p:spPr>
          <a:xfrm>
            <a:off x="1504950" y="3476625"/>
            <a:ext cx="4000500" cy="323850"/>
          </a:xfrm>
          <a:prstGeom prst="roundRect">
            <a:avLst>
              <a:gd name="adj" fmla="val 23529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1F2937"/>
                </a:solidFill>
              </a:defRPr>
            </a:pPr>
            <a:r>
              <a:rPr sz="1650" b="1">
                <a:solidFill>
                  <a:srgbClr val="1F2937"/>
                </a:solidFill>
              </a:rPr>
              <a:t>项目知识与可执行门禁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7BF01DAF-80AE-4489-A0A8-84416E29295F}"/>
              </a:ext>
            </a:extLst>
          </p:cNvPr>
          <p:cNvSpPr>
            <a:spLocks noGrp="1"/>
          </p:cNvSpPr>
          <p:nvPr/>
        </p:nvSpPr>
        <p:spPr>
          <a:xfrm>
            <a:off x="1504950" y="3895725"/>
            <a:ext cx="4000500" cy="9525"/>
          </a:xfrm>
          <a:prstGeom prst="line">
            <a:avLst/>
          </a:prstGeom>
          <a:noFill/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17050D1-491E-461C-A92C-0052CD9F7178}"/>
              </a:ext>
            </a:extLst>
          </p:cNvPr>
          <p:cNvSpPr>
            <a:spLocks noGrp="1"/>
          </p:cNvSpPr>
          <p:nvPr/>
        </p:nvSpPr>
        <p:spPr>
          <a:xfrm>
            <a:off x="6191250" y="3476625"/>
            <a:ext cx="381000" cy="323850"/>
          </a:xfrm>
          <a:prstGeom prst="roundRect">
            <a:avLst>
              <a:gd name="adj" fmla="val 23529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4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213C442A-8308-4644-8FA4-FFD723F199AB}"/>
              </a:ext>
            </a:extLst>
          </p:cNvPr>
          <p:cNvSpPr>
            <a:spLocks noGrp="1"/>
          </p:cNvSpPr>
          <p:nvPr/>
        </p:nvSpPr>
        <p:spPr>
          <a:xfrm>
            <a:off x="6743700" y="3476625"/>
            <a:ext cx="4000500" cy="323850"/>
          </a:xfrm>
          <a:prstGeom prst="roundRect">
            <a:avLst>
              <a:gd name="adj" fmla="val 23529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1F2937"/>
                </a:solidFill>
              </a:defRPr>
            </a:pPr>
            <a:r>
              <a:rPr sz="1650" b="1">
                <a:solidFill>
                  <a:srgbClr val="1F2937"/>
                </a:solidFill>
              </a:rPr>
              <a:t>真正进入运行路径的控制点</a:t>
            </a:r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7D341949-58B7-4C34-92A9-2429A73BECFB}"/>
              </a:ext>
            </a:extLst>
          </p:cNvPr>
          <p:cNvSpPr>
            <a:spLocks noGrp="1"/>
          </p:cNvSpPr>
          <p:nvPr/>
        </p:nvSpPr>
        <p:spPr>
          <a:xfrm>
            <a:off x="6743700" y="3895725"/>
            <a:ext cx="4000500" cy="9525"/>
          </a:xfrm>
          <a:prstGeom prst="line">
            <a:avLst/>
          </a:prstGeom>
          <a:noFill/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B820A077-C6FA-488C-9BB8-57581B0425C8}"/>
              </a:ext>
            </a:extLst>
          </p:cNvPr>
          <p:cNvSpPr>
            <a:spLocks noGrp="1"/>
          </p:cNvSpPr>
          <p:nvPr/>
        </p:nvSpPr>
        <p:spPr>
          <a:xfrm>
            <a:off x="704850" y="4905375"/>
            <a:ext cx="10782300" cy="781050"/>
          </a:xfrm>
          <a:prstGeom prst="roundRect">
            <a:avLst>
              <a:gd name="adj" fmla="val 9756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7C2FC547-8F31-4540-8E91-160211692C8F}"/>
              </a:ext>
            </a:extLst>
          </p:cNvPr>
          <p:cNvSpPr>
            <a:spLocks noGrp="1"/>
          </p:cNvSpPr>
          <p:nvPr/>
        </p:nvSpPr>
        <p:spPr>
          <a:xfrm>
            <a:off x="933450" y="5019675"/>
            <a:ext cx="10144125" cy="323850"/>
          </a:xfrm>
          <a:prstGeom prst="roundRect">
            <a:avLst>
              <a:gd name="adj" fmla="val 23529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“如果产品没有开放相应合同，只能等待、绕行，或改用可组合的 harness.”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50A6173A-248C-4FBA-8E1A-E687370ED59B}"/>
              </a:ext>
            </a:extLst>
          </p:cNvPr>
          <p:cNvSpPr>
            <a:spLocks noGrp="1"/>
          </p:cNvSpPr>
          <p:nvPr/>
        </p:nvSpPr>
        <p:spPr>
          <a:xfrm>
            <a:off x="933450" y="5391150"/>
            <a:ext cx="10144125" cy="171450"/>
          </a:xfrm>
          <a:prstGeom prst="roundRect">
            <a:avLst>
              <a:gd name="adj" fmla="val 44444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975" b="0">
                <a:solidFill>
                  <a:srgbClr val="D0D5DD"/>
                </a:solidFill>
              </a:defRPr>
            </a:pPr>
            <a:r>
              <a:rPr sz="975" b="0">
                <a:solidFill>
                  <a:srgbClr val="D0D5DD"/>
                </a:solidFill>
              </a:rPr>
              <a:t>P14 的执行时授权，就是不能靠加一句 prompt 解决的例子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13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14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15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CEB4E19-CCCF-4ECF-ADBE-4FEE9618A329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不是别用现成，是别只能现成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66E19C0-FC4F-462F-9C7B-D126292C7741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灵活 = 装自己的 + 借现成的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48BD26E-D634-4BE8-9AD8-D62AE7B6E4D5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78D5E44-595A-4E32-BFB4-8433FADCBE61}"/>
              </a:ext>
            </a:extLst>
          </p:cNvPr>
          <p:cNvSpPr>
            <a:spLocks noGrp="1"/>
          </p:cNvSpPr>
          <p:nvPr/>
        </p:nvSpPr>
        <p:spPr>
          <a:xfrm>
            <a:off x="857250" y="2238375"/>
            <a:ext cx="4572000" cy="2190750"/>
          </a:xfrm>
          <a:prstGeom prst="roundRect">
            <a:avLst>
              <a:gd name="adj" fmla="val 3478"/>
            </a:avLst>
          </a:prstGeom>
          <a:solidFill>
            <a:srgbClr val="F5F7FA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装自己的</a:t>
            </a:r>
          </a:p>
          <a:p>
            <a:endParaRPr sz="1500" b="0">
              <a:solidFill>
                <a:srgbClr val="1F2937"/>
              </a:solidFill>
            </a:endParaRPr>
          </a:p>
          <a:p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挂模型 / 挂工具 / 换后端</a:t>
            </a:r>
          </a:p>
          <a:p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挂 skill / 挂 knowledge map</a:t>
            </a:r>
          </a:p>
          <a:p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自定义可执行门禁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00BDBCA-2E82-427B-9617-179F5E66E1C2}"/>
              </a:ext>
            </a:extLst>
          </p:cNvPr>
          <p:cNvSpPr>
            <a:spLocks noGrp="1"/>
          </p:cNvSpPr>
          <p:nvPr/>
        </p:nvSpPr>
        <p:spPr>
          <a:xfrm>
            <a:off x="6762750" y="2238375"/>
            <a:ext cx="4572000" cy="2190750"/>
          </a:xfrm>
          <a:prstGeom prst="roundRect">
            <a:avLst>
              <a:gd name="adj" fmla="val 3478"/>
            </a:avLst>
          </a:prstGeom>
          <a:solidFill>
            <a:srgbClr val="F5F7FA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借现成的</a:t>
            </a:r>
          </a:p>
          <a:p>
            <a:endParaRPr sz="1500" b="0">
              <a:solidFill>
                <a:srgbClr val="1F2937"/>
              </a:solidFill>
            </a:endParaRPr>
          </a:p>
          <a:p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成熟 adapter / skill / 模型</a:t>
            </a:r>
          </a:p>
          <a:p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直接复用</a:t>
            </a:r>
          </a:p>
          <a:p>
            <a:endParaRPr sz="1500" b="0">
              <a:solidFill>
                <a:srgbClr val="1F2937"/>
              </a:solidFill>
            </a:endParaRPr>
          </a:p>
          <a:p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不逼你二选一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1FD5C45-F997-468C-941A-4CA7C7A0D7D9}"/>
              </a:ext>
            </a:extLst>
          </p:cNvPr>
          <p:cNvSpPr>
            <a:spLocks noGrp="1"/>
          </p:cNvSpPr>
          <p:nvPr/>
        </p:nvSpPr>
        <p:spPr>
          <a:xfrm>
            <a:off x="5429250" y="3067050"/>
            <a:ext cx="1333500" cy="438150"/>
          </a:xfrm>
          <a:prstGeom prst="roundRect">
            <a:avLst>
              <a:gd name="adj" fmla="val 1739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+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2A82E34-0170-40C5-9066-748C755071D6}"/>
              </a:ext>
            </a:extLst>
          </p:cNvPr>
          <p:cNvSpPr>
            <a:spLocks noGrp="1"/>
          </p:cNvSpPr>
          <p:nvPr/>
        </p:nvSpPr>
        <p:spPr>
          <a:xfrm>
            <a:off x="704850" y="5095875"/>
            <a:ext cx="10782300" cy="419100"/>
          </a:xfrm>
          <a:prstGeom prst="roundRect">
            <a:avLst>
              <a:gd name="adj" fmla="val 18182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灵活 harness = 装自己的 + 借现成的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21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22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23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03B001A-9865-4AF2-9FE9-EC16C51A546C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DSH 的关键不是“一个更强的 Loop”，而是可组合的 Harness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32B842C-8C28-495C-8536-A79A430E688A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默认 loop 只是一个驱动插件，不是整台机器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940AE29-8E61-4B75-A498-79BE78D3A67E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A2E7B94-845D-4E4C-B831-AADCB586A228}"/>
              </a:ext>
            </a:extLst>
          </p:cNvPr>
          <p:cNvSpPr>
            <a:spLocks noGrp="1"/>
          </p:cNvSpPr>
          <p:nvPr/>
        </p:nvSpPr>
        <p:spPr>
          <a:xfrm>
            <a:off x="4762500" y="3000375"/>
            <a:ext cx="2667000" cy="80010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运行时插件树</a:t>
            </a:r>
          </a:p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+ 持久事件记录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8A0D83A9-69C0-4AD5-84CF-E4556D7BCD9E}"/>
              </a:ext>
            </a:extLst>
          </p:cNvPr>
          <p:cNvSpPr>
            <a:spLocks noGrp="1"/>
          </p:cNvSpPr>
          <p:nvPr/>
        </p:nvSpPr>
        <p:spPr>
          <a:xfrm>
            <a:off x="3476625" y="2752725"/>
            <a:ext cx="1285875" cy="523875"/>
          </a:xfrm>
          <a:prstGeom prst="line">
            <a:avLst/>
          </a:prstGeom>
          <a:noFill/>
          <a:ln w="14288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83A066D-C475-4F56-9BEF-42DE049356D3}"/>
              </a:ext>
            </a:extLst>
          </p:cNvPr>
          <p:cNvSpPr>
            <a:spLocks noGrp="1"/>
          </p:cNvSpPr>
          <p:nvPr/>
        </p:nvSpPr>
        <p:spPr>
          <a:xfrm>
            <a:off x="2333625" y="2476500"/>
            <a:ext cx="11430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模型 adapter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6A429D47-A6A7-4A16-B765-6DC3488605C6}"/>
              </a:ext>
            </a:extLst>
          </p:cNvPr>
          <p:cNvSpPr>
            <a:spLocks noGrp="1"/>
          </p:cNvSpPr>
          <p:nvPr/>
        </p:nvSpPr>
        <p:spPr>
          <a:xfrm>
            <a:off x="9477375" y="2752725"/>
            <a:ext cx="1285875" cy="523875"/>
          </a:xfrm>
          <a:prstGeom prst="line">
            <a:avLst/>
          </a:prstGeom>
          <a:noFill/>
          <a:ln w="14288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6F0D718-CAA0-42DA-9E9B-58A3EBCB681A}"/>
              </a:ext>
            </a:extLst>
          </p:cNvPr>
          <p:cNvSpPr>
            <a:spLocks noGrp="1"/>
          </p:cNvSpPr>
          <p:nvPr/>
        </p:nvSpPr>
        <p:spPr>
          <a:xfrm>
            <a:off x="8334375" y="2476500"/>
            <a:ext cx="11430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工具 / 门禁</a:t>
            </a:r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0D6B9FC0-7C89-4D84-B5DC-81A0E834E7E7}"/>
              </a:ext>
            </a:extLst>
          </p:cNvPr>
          <p:cNvSpPr>
            <a:spLocks noGrp="1"/>
          </p:cNvSpPr>
          <p:nvPr/>
        </p:nvSpPr>
        <p:spPr>
          <a:xfrm>
            <a:off x="3476625" y="4419600"/>
            <a:ext cx="1285875" cy="523875"/>
          </a:xfrm>
          <a:prstGeom prst="line">
            <a:avLst/>
          </a:prstGeom>
          <a:noFill/>
          <a:ln w="14288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F429446-2295-4F9B-B74F-438ACD8EB799}"/>
              </a:ext>
            </a:extLst>
          </p:cNvPr>
          <p:cNvSpPr>
            <a:spLocks noGrp="1"/>
          </p:cNvSpPr>
          <p:nvPr/>
        </p:nvSpPr>
        <p:spPr>
          <a:xfrm>
            <a:off x="2333625" y="4143375"/>
            <a:ext cx="11430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能力后端</a:t>
            </a:r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90E4EDEE-5A2D-425D-B0BE-235187832183}"/>
              </a:ext>
            </a:extLst>
          </p:cNvPr>
          <p:cNvSpPr>
            <a:spLocks noGrp="1"/>
          </p:cNvSpPr>
          <p:nvPr/>
        </p:nvSpPr>
        <p:spPr>
          <a:xfrm>
            <a:off x="9477375" y="4419600"/>
            <a:ext cx="1285875" cy="523875"/>
          </a:xfrm>
          <a:prstGeom prst="line">
            <a:avLst/>
          </a:prstGeom>
          <a:noFill/>
          <a:ln w="14288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D02B6C3-E00F-4168-BF7C-7C62F8658B8C}"/>
              </a:ext>
            </a:extLst>
          </p:cNvPr>
          <p:cNvSpPr>
            <a:spLocks noGrp="1"/>
          </p:cNvSpPr>
          <p:nvPr/>
        </p:nvSpPr>
        <p:spPr>
          <a:xfrm>
            <a:off x="8334375" y="4143375"/>
            <a:ext cx="11430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默认 loop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3DA9C53D-6334-4E6C-931A-12E4E1EF4400}"/>
              </a:ext>
            </a:extLst>
          </p:cNvPr>
          <p:cNvSpPr>
            <a:spLocks noGrp="1"/>
          </p:cNvSpPr>
          <p:nvPr/>
        </p:nvSpPr>
        <p:spPr>
          <a:xfrm>
            <a:off x="704850" y="4905375"/>
            <a:ext cx="10782300" cy="781050"/>
          </a:xfrm>
          <a:prstGeom prst="roundRect">
            <a:avLst>
              <a:gd name="adj" fmla="val 9756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81C4FC7-0B0A-4F92-933F-FDEB8D340EED}"/>
              </a:ext>
            </a:extLst>
          </p:cNvPr>
          <p:cNvSpPr>
            <a:spLocks noGrp="1"/>
          </p:cNvSpPr>
          <p:nvPr/>
        </p:nvSpPr>
        <p:spPr>
          <a:xfrm>
            <a:off x="933450" y="5019675"/>
            <a:ext cx="10144125" cy="323850"/>
          </a:xfrm>
          <a:prstGeom prst="roundRect">
            <a:avLst>
              <a:gd name="adj" fmla="val 23529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“There is no privileged core to patch: extend by mounting a plugin beside the others.”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3B68E4EE-FC00-4121-A33A-748E546B92DC}"/>
              </a:ext>
            </a:extLst>
          </p:cNvPr>
          <p:cNvSpPr>
            <a:spLocks noGrp="1"/>
          </p:cNvSpPr>
          <p:nvPr/>
        </p:nvSpPr>
        <p:spPr>
          <a:xfrm>
            <a:off x="933450" y="5391150"/>
            <a:ext cx="10144125" cy="171450"/>
          </a:xfrm>
          <a:prstGeom prst="roundRect">
            <a:avLst>
              <a:gd name="adj" fmla="val 44444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975" b="0">
                <a:solidFill>
                  <a:srgbClr val="D0D5DD"/>
                </a:solidFill>
              </a:defRPr>
            </a:pPr>
            <a:r>
              <a:rPr sz="975" b="0">
                <a:solidFill>
                  <a:srgbClr val="D0D5DD"/>
                </a:solidFill>
              </a:rPr>
              <a:t>DSH architecture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15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16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17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E17869A-800D-4F46-8F3D-9961B04363D2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装自己的，借现成的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90688CE-27AB-49B1-9DFD-03AEE0AE72FA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DSH 的实现：挂模型、挂工具、换后端、挂地图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F3BDF35-6566-4C5C-A1F8-A71D36E0374F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ACB92FC-CFE3-44E3-B47F-77E1E4E9C631}"/>
              </a:ext>
            </a:extLst>
          </p:cNvPr>
          <p:cNvSpPr>
            <a:spLocks noGrp="1"/>
          </p:cNvSpPr>
          <p:nvPr/>
        </p:nvSpPr>
        <p:spPr>
          <a:xfrm>
            <a:off x="714375" y="2143125"/>
            <a:ext cx="5143500" cy="87630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905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275" b="0">
                <a:solidFill>
                  <a:srgbClr val="1F2937"/>
                </a:solidFill>
              </a:defRPr>
            </a:pPr>
            <a:r>
              <a:rPr sz="1275" b="0">
                <a:solidFill>
                  <a:srgbClr val="1F2937"/>
                </a:solidFill>
              </a:rPr>
              <a:t>挂模型</a:t>
            </a:r>
          </a:p>
          <a:p>
            <a:pPr algn="ctr">
              <a:defRPr sz="1275" b="0">
                <a:solidFill>
                  <a:srgbClr val="1F2937"/>
                </a:solidFill>
              </a:defRPr>
            </a:pPr>
            <a:r>
              <a:rPr sz="1275" b="0">
                <a:solidFill>
                  <a:srgbClr val="1F2937"/>
                </a:solidFill>
              </a:rPr>
              <a:t>ctx.llm 注册 adapter</a:t>
            </a:r>
          </a:p>
          <a:p>
            <a:pPr algn="ctr">
              <a:defRPr sz="1275" b="0">
                <a:solidFill>
                  <a:srgbClr val="1F2937"/>
                </a:solidFill>
              </a:defRPr>
            </a:pPr>
            <a:r>
              <a:rPr sz="1275" b="0">
                <a:solidFill>
                  <a:srgbClr val="1F2937"/>
                </a:solidFill>
              </a:rPr>
              <a:t>协议兼容纯配置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CA68ADD-B1D6-4140-B4BE-3E20C861FECF}"/>
              </a:ext>
            </a:extLst>
          </p:cNvPr>
          <p:cNvSpPr>
            <a:spLocks noGrp="1"/>
          </p:cNvSpPr>
          <p:nvPr/>
        </p:nvSpPr>
        <p:spPr>
          <a:xfrm>
            <a:off x="6143625" y="2143125"/>
            <a:ext cx="5143500" cy="87630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905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275" b="0">
                <a:solidFill>
                  <a:srgbClr val="1F2937"/>
                </a:solidFill>
              </a:defRPr>
            </a:pPr>
            <a:r>
              <a:rPr sz="1275" b="0">
                <a:solidFill>
                  <a:srgbClr val="1F2937"/>
                </a:solidFill>
              </a:rPr>
              <a:t>挂工具</a:t>
            </a:r>
          </a:p>
          <a:p>
            <a:pPr algn="ctr">
              <a:defRPr sz="1275" b="0">
                <a:solidFill>
                  <a:srgbClr val="1F2937"/>
                </a:solidFill>
              </a:defRPr>
            </a:pPr>
            <a:r>
              <a:rPr sz="1275" b="0">
                <a:solidFill>
                  <a:srgbClr val="1F2937"/>
                </a:solidFill>
              </a:rPr>
              <a:t>ctx.tools 注册</a:t>
            </a:r>
          </a:p>
          <a:p>
            <a:pPr algn="ctr">
              <a:defRPr sz="1275" b="0">
                <a:solidFill>
                  <a:srgbClr val="1F2937"/>
                </a:solidFill>
              </a:defRPr>
            </a:pPr>
            <a:r>
              <a:rPr sz="1275" b="0">
                <a:solidFill>
                  <a:srgbClr val="1F2937"/>
                </a:solidFill>
              </a:rPr>
              <a:t>schema 自动进模型可见面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1CC6611-0968-4E33-A123-BE5DDEFBDF08}"/>
              </a:ext>
            </a:extLst>
          </p:cNvPr>
          <p:cNvSpPr>
            <a:spLocks noGrp="1"/>
          </p:cNvSpPr>
          <p:nvPr/>
        </p:nvSpPr>
        <p:spPr>
          <a:xfrm>
            <a:off x="714375" y="3286125"/>
            <a:ext cx="5143500" cy="8763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275" b="0">
                <a:solidFill>
                  <a:srgbClr val="1F2937"/>
                </a:solidFill>
              </a:defRPr>
            </a:pPr>
            <a:r>
              <a:rPr sz="1275" b="0">
                <a:solidFill>
                  <a:srgbClr val="1F2937"/>
                </a:solidFill>
              </a:rPr>
              <a:t>换后端</a:t>
            </a:r>
          </a:p>
          <a:p>
            <a:pPr algn="ctr">
              <a:defRPr sz="1275" b="0">
                <a:solidFill>
                  <a:srgbClr val="1F2937"/>
                </a:solidFill>
              </a:defRPr>
            </a:pPr>
            <a:r>
              <a:rPr sz="1275" b="0">
                <a:solidFill>
                  <a:srgbClr val="1F2937"/>
                </a:solidFill>
              </a:rPr>
              <a:t>capability seam</a:t>
            </a:r>
          </a:p>
          <a:p>
            <a:pPr algn="ctr">
              <a:defRPr sz="1275" b="0">
                <a:solidFill>
                  <a:srgbClr val="1F2937"/>
                </a:solidFill>
              </a:defRPr>
            </a:pPr>
            <a:r>
              <a:rPr sz="1275" b="0">
                <a:solidFill>
                  <a:srgbClr val="1F2937"/>
                </a:solidFill>
              </a:rPr>
              <a:t>Definition / Provider / Consumer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32A4017-9911-40E1-B56C-C62855284BAA}"/>
              </a:ext>
            </a:extLst>
          </p:cNvPr>
          <p:cNvSpPr>
            <a:spLocks noGrp="1"/>
          </p:cNvSpPr>
          <p:nvPr/>
        </p:nvSpPr>
        <p:spPr>
          <a:xfrm>
            <a:off x="6143625" y="3286125"/>
            <a:ext cx="5143500" cy="8763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275" b="0">
                <a:solidFill>
                  <a:srgbClr val="1F2937"/>
                </a:solidFill>
              </a:defRPr>
            </a:pPr>
            <a:r>
              <a:rPr sz="1275" b="0">
                <a:solidFill>
                  <a:srgbClr val="1F2937"/>
                </a:solidFill>
              </a:rPr>
              <a:t>挂 skill / knowledge map</a:t>
            </a:r>
          </a:p>
          <a:p>
            <a:pPr algn="ctr">
              <a:defRPr sz="1275" b="0">
                <a:solidFill>
                  <a:srgbClr val="1F2937"/>
                </a:solidFill>
              </a:defRPr>
            </a:pPr>
            <a:r>
              <a:rPr sz="1275" b="0">
                <a:solidFill>
                  <a:srgbClr val="1F2937"/>
                </a:solidFill>
              </a:rPr>
              <a:t>Each fact has one home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84734FB4-10A5-4B52-8C61-CFEEDE819E8F}"/>
              </a:ext>
            </a:extLst>
          </p:cNvPr>
          <p:cNvSpPr>
            <a:spLocks noGrp="1"/>
          </p:cNvSpPr>
          <p:nvPr/>
        </p:nvSpPr>
        <p:spPr>
          <a:xfrm>
            <a:off x="8667750" y="4762500"/>
            <a:ext cx="1809750" cy="266700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9525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050" b="1">
                <a:solidFill>
                  <a:srgbClr val="111827"/>
                </a:solidFill>
              </a:defRPr>
            </a:pPr>
            <a:r>
              <a:rPr sz="1050" b="1">
                <a:solidFill>
                  <a:srgbClr val="111827"/>
                </a:solidFill>
              </a:rPr>
              <a:t>15 行 YAML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06E873C-9CAB-4A3B-82A0-EC1DDDD9752F}"/>
              </a:ext>
            </a:extLst>
          </p:cNvPr>
          <p:cNvSpPr>
            <a:spLocks noGrp="1"/>
          </p:cNvSpPr>
          <p:nvPr/>
        </p:nvSpPr>
        <p:spPr>
          <a:xfrm>
            <a:off x="704850" y="5238750"/>
            <a:ext cx="10782300" cy="419100"/>
          </a:xfrm>
          <a:prstGeom prst="roundRect">
            <a:avLst>
              <a:gd name="adj" fmla="val 18182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加模型、加工具，都不必改 loop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19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20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21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084A818-FBCD-49FC-AACD-F5F79EE55915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规则写给人看，门禁才负责让系统做对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C321B43-121A-40EB-B6FB-E019D34DCBD5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不靠自律，靠系统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0076CAB-7FB0-4589-8AE9-651B39D95063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6611547-DB1F-439E-A41C-441873A724C0}"/>
              </a:ext>
            </a:extLst>
          </p:cNvPr>
          <p:cNvSpPr>
            <a:spLocks noGrp="1"/>
          </p:cNvSpPr>
          <p:nvPr/>
        </p:nvSpPr>
        <p:spPr>
          <a:xfrm>
            <a:off x="704850" y="2238375"/>
            <a:ext cx="10782300" cy="781050"/>
          </a:xfrm>
          <a:prstGeom prst="roundRect">
            <a:avLst>
              <a:gd name="adj" fmla="val 9756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20A318D-C522-45D3-BC15-2946FC5D1B91}"/>
              </a:ext>
            </a:extLst>
          </p:cNvPr>
          <p:cNvSpPr>
            <a:spLocks noGrp="1"/>
          </p:cNvSpPr>
          <p:nvPr/>
        </p:nvSpPr>
        <p:spPr>
          <a:xfrm>
            <a:off x="933450" y="2352675"/>
            <a:ext cx="10144125" cy="323850"/>
          </a:xfrm>
          <a:prstGeom prst="roundRect">
            <a:avLst>
              <a:gd name="adj" fmla="val 23529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“Agents follow enforced gates far more reliably than prose conventions.”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E825DE6-67C0-426E-A601-C48D617D3797}"/>
              </a:ext>
            </a:extLst>
          </p:cNvPr>
          <p:cNvSpPr>
            <a:spLocks noGrp="1"/>
          </p:cNvSpPr>
          <p:nvPr/>
        </p:nvSpPr>
        <p:spPr>
          <a:xfrm>
            <a:off x="933450" y="2724150"/>
            <a:ext cx="10144125" cy="171450"/>
          </a:xfrm>
          <a:prstGeom prst="roundRect">
            <a:avLst>
              <a:gd name="adj" fmla="val 44444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975" b="0">
                <a:solidFill>
                  <a:srgbClr val="D0D5DD"/>
                </a:solidFill>
              </a:defRPr>
            </a:pPr>
            <a:r>
              <a:rPr sz="975" b="0">
                <a:solidFill>
                  <a:srgbClr val="D0D5DD"/>
                </a:solidFill>
              </a:rPr>
              <a:t>DSH harness philosophy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7FA2AA6-F310-4EA7-82D5-D22053588D5F}"/>
              </a:ext>
            </a:extLst>
          </p:cNvPr>
          <p:cNvSpPr>
            <a:spLocks noGrp="1"/>
          </p:cNvSpPr>
          <p:nvPr/>
        </p:nvSpPr>
        <p:spPr>
          <a:xfrm>
            <a:off x="1571625" y="3667125"/>
            <a:ext cx="2381250" cy="619125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可机械判断的承诺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DB9FCCE-D973-42B3-AC3A-5583AA290B0A}"/>
              </a:ext>
            </a:extLst>
          </p:cNvPr>
          <p:cNvSpPr>
            <a:spLocks noGrp="1"/>
          </p:cNvSpPr>
          <p:nvPr/>
        </p:nvSpPr>
        <p:spPr>
          <a:xfrm>
            <a:off x="4905375" y="3667125"/>
            <a:ext cx="2381250" cy="619125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可失败的命令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7477249-8D3A-4A94-8DBB-371A1530658A}"/>
              </a:ext>
            </a:extLst>
          </p:cNvPr>
          <p:cNvSpPr>
            <a:spLocks noGrp="1"/>
          </p:cNvSpPr>
          <p:nvPr/>
        </p:nvSpPr>
        <p:spPr>
          <a:xfrm>
            <a:off x="8239125" y="3667125"/>
            <a:ext cx="2381250" cy="619125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CI / 真实执行路径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872FB0E9-9390-46F6-8FC6-6A279B647F12}"/>
              </a:ext>
            </a:extLst>
          </p:cNvPr>
          <p:cNvSpPr>
            <a:spLocks noGrp="1"/>
          </p:cNvSpPr>
          <p:nvPr/>
        </p:nvSpPr>
        <p:spPr>
          <a:xfrm>
            <a:off x="3952875" y="3971925"/>
            <a:ext cx="952500" cy="9525"/>
          </a:xfrm>
          <a:prstGeom prst="line">
            <a:avLst/>
          </a:prstGeom>
          <a:noFill/>
          <a:ln w="1905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9E521D62-9999-4D67-9676-616D71907320}"/>
              </a:ext>
            </a:extLst>
          </p:cNvPr>
          <p:cNvSpPr>
            <a:spLocks noGrp="1"/>
          </p:cNvSpPr>
          <p:nvPr/>
        </p:nvSpPr>
        <p:spPr>
          <a:xfrm>
            <a:off x="7286625" y="3971925"/>
            <a:ext cx="952500" cy="9525"/>
          </a:xfrm>
          <a:prstGeom prst="line">
            <a:avLst/>
          </a:prstGeom>
          <a:noFill/>
          <a:ln w="1905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724FE35-1EF9-4451-A3CD-D3C886449D44}"/>
              </a:ext>
            </a:extLst>
          </p:cNvPr>
          <p:cNvSpPr>
            <a:spLocks noGrp="1"/>
          </p:cNvSpPr>
          <p:nvPr/>
        </p:nvSpPr>
        <p:spPr>
          <a:xfrm>
            <a:off x="1714500" y="4572000"/>
            <a:ext cx="8763000" cy="285750"/>
          </a:xfrm>
          <a:prstGeom prst="roundRect">
            <a:avLst>
              <a:gd name="adj" fmla="val 2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GraphARC 的 plan → check → execute，是同一原则在上层编排中的例子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DBDD96AF-E6C1-499E-B2E8-C4A2DECEE82E}"/>
              </a:ext>
            </a:extLst>
          </p:cNvPr>
          <p:cNvSpPr>
            <a:spLocks noGrp="1"/>
          </p:cNvSpPr>
          <p:nvPr/>
        </p:nvSpPr>
        <p:spPr>
          <a:xfrm>
            <a:off x="704850" y="5238750"/>
            <a:ext cx="10782300" cy="419100"/>
          </a:xfrm>
          <a:prstGeom prst="roundRect">
            <a:avLst>
              <a:gd name="adj" fmla="val 18182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不靠自律，靠系统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323850"/>
            <a:ext cx="1929575" cy="341376"/>
          </a:xfrm>
          <a:prstGeom prst="rect">
            <a:avLst/>
          </a:prstGeom>
        </p:spPr>
      </p:pic>
      <p:pic>
        <p:nvPicPr>
          <p:cNvPr id="22" name="图片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57175"/>
            <a:ext cx="791210" cy="527622"/>
          </a:xfrm>
          <a:prstGeom prst="rect">
            <a:avLst/>
          </a:prstGeom>
        </p:spPr>
      </p:pic>
      <p:pic>
        <p:nvPicPr>
          <p:cNvPr id="23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0" y="133350"/>
            <a:ext cx="1171702" cy="683641"/>
          </a:xfrm>
          <a:prstGeom prst="rect">
            <a:avLst/>
          </a:prstGeom>
        </p:spPr>
      </p:pic>
      <p:pic>
        <p:nvPicPr>
          <p:cNvPr id="24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250" y="133350"/>
            <a:ext cx="838327" cy="1186371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037CA3C-9D8D-47DF-9AAD-D521C2AF0E6E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OPC 不必从零造，但必须读懂并能改变 Harness 边界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306126F-B9D8-4F9E-9EAD-72C6D1B8BD56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0477500" cy="266700"/>
          </a:xfrm>
          <a:prstGeom prst="roundRect">
            <a:avLst>
              <a:gd name="adj" fmla="val 28571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答案不是囤积工具，而是拥有正确的控制权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BEFBF10-86AE-44BF-A72F-ABDAFA647D9A}"/>
              </a:ext>
            </a:extLst>
          </p:cNvPr>
          <p:cNvSpPr>
            <a:spLocks noGrp="1"/>
          </p:cNvSpPr>
          <p:nvPr/>
        </p:nvSpPr>
        <p:spPr>
          <a:xfrm>
            <a:off x="704850" y="1885950"/>
            <a:ext cx="647700" cy="28575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79002FEF-8382-4459-8468-9FAA0D20CB1A}"/>
              </a:ext>
            </a:extLst>
          </p:cNvPr>
          <p:cNvSpPr>
            <a:spLocks noGrp="1"/>
          </p:cNvSpPr>
          <p:nvPr/>
        </p:nvSpPr>
        <p:spPr>
          <a:xfrm>
            <a:off x="1476375" y="2857500"/>
            <a:ext cx="523875" cy="9525"/>
          </a:xfrm>
          <a:prstGeom prst="line">
            <a:avLst/>
          </a:prstGeom>
          <a:noFill/>
          <a:ln w="14288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804C5FC-4538-4AD7-93EC-9CAEA96DA3E6}"/>
              </a:ext>
            </a:extLst>
          </p:cNvPr>
          <p:cNvSpPr>
            <a:spLocks noGrp="1"/>
          </p:cNvSpPr>
          <p:nvPr/>
        </p:nvSpPr>
        <p:spPr>
          <a:xfrm>
            <a:off x="714375" y="2571750"/>
            <a:ext cx="1524000" cy="5715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说话者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6918D245-2B67-400D-BAAB-43F08C1F8831}"/>
              </a:ext>
            </a:extLst>
          </p:cNvPr>
          <p:cNvSpPr>
            <a:spLocks noGrp="1"/>
          </p:cNvSpPr>
          <p:nvPr/>
        </p:nvSpPr>
        <p:spPr>
          <a:xfrm>
            <a:off x="3714750" y="2857500"/>
            <a:ext cx="523875" cy="9525"/>
          </a:xfrm>
          <a:prstGeom prst="line">
            <a:avLst/>
          </a:prstGeom>
          <a:noFill/>
          <a:ln w="14288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D6B4AD8-BC41-48B0-B31A-8890D2D5D4D8}"/>
              </a:ext>
            </a:extLst>
          </p:cNvPr>
          <p:cNvSpPr>
            <a:spLocks noGrp="1"/>
          </p:cNvSpPr>
          <p:nvPr/>
        </p:nvSpPr>
        <p:spPr>
          <a:xfrm>
            <a:off x="2952750" y="2571750"/>
            <a:ext cx="1524000" cy="5715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策展者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C225CDF5-5947-431E-AFB6-533B61394977}"/>
              </a:ext>
            </a:extLst>
          </p:cNvPr>
          <p:cNvSpPr>
            <a:spLocks noGrp="1"/>
          </p:cNvSpPr>
          <p:nvPr/>
        </p:nvSpPr>
        <p:spPr>
          <a:xfrm>
            <a:off x="5953125" y="2857500"/>
            <a:ext cx="523875" cy="9525"/>
          </a:xfrm>
          <a:prstGeom prst="line">
            <a:avLst/>
          </a:prstGeom>
          <a:noFill/>
          <a:ln w="14288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3D968C5-8FEB-4AC6-B760-694C3C62E92D}"/>
              </a:ext>
            </a:extLst>
          </p:cNvPr>
          <p:cNvSpPr>
            <a:spLocks noGrp="1"/>
          </p:cNvSpPr>
          <p:nvPr/>
        </p:nvSpPr>
        <p:spPr>
          <a:xfrm>
            <a:off x="5191125" y="2571750"/>
            <a:ext cx="1524000" cy="5715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环境工程师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78070BA7-ED9F-47F8-9B20-8137A5DF08B9}"/>
              </a:ext>
            </a:extLst>
          </p:cNvPr>
          <p:cNvSpPr>
            <a:spLocks noGrp="1"/>
          </p:cNvSpPr>
          <p:nvPr/>
        </p:nvSpPr>
        <p:spPr>
          <a:xfrm>
            <a:off x="8191500" y="2857500"/>
            <a:ext cx="523875" cy="9525"/>
          </a:xfrm>
          <a:prstGeom prst="line">
            <a:avLst/>
          </a:prstGeom>
          <a:noFill/>
          <a:ln w="14288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A7174DE-CE90-427D-974B-8EC35F79438B}"/>
              </a:ext>
            </a:extLst>
          </p:cNvPr>
          <p:cNvSpPr>
            <a:spLocks noGrp="1"/>
          </p:cNvSpPr>
          <p:nvPr/>
        </p:nvSpPr>
        <p:spPr>
          <a:xfrm>
            <a:off x="7429500" y="2571750"/>
            <a:ext cx="1524000" cy="5715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控制流作者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6C0F688-C6EA-43DD-87DC-EDD4FC040194}"/>
              </a:ext>
            </a:extLst>
          </p:cNvPr>
          <p:cNvSpPr>
            <a:spLocks noGrp="1"/>
          </p:cNvSpPr>
          <p:nvPr/>
        </p:nvSpPr>
        <p:spPr>
          <a:xfrm>
            <a:off x="9667875" y="2571750"/>
            <a:ext cx="1524000" cy="5715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4288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编排者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BEE2F393-D30A-4049-83DE-9D1F833FFFC2}"/>
              </a:ext>
            </a:extLst>
          </p:cNvPr>
          <p:cNvSpPr>
            <a:spLocks noGrp="1"/>
          </p:cNvSpPr>
          <p:nvPr/>
        </p:nvSpPr>
        <p:spPr>
          <a:xfrm>
            <a:off x="1428750" y="3619500"/>
            <a:ext cx="9334500" cy="571500"/>
          </a:xfrm>
          <a:prstGeom prst="roundRect">
            <a:avLst>
              <a:gd name="adj" fmla="val 13333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05000"/>
              </a:lnSpc>
              <a:buNone/>
              <a:defRPr sz="1650" b="1">
                <a:solidFill>
                  <a:srgbClr val="1F2937"/>
                </a:solidFill>
              </a:defRPr>
            </a:pPr>
            <a:r>
              <a:rPr sz="1650" b="1">
                <a:solidFill>
                  <a:srgbClr val="1F2937"/>
                </a:solidFill>
              </a:rPr>
              <a:t>五种角色，一人承担</a:t>
            </a:r>
          </a:p>
          <a:p>
            <a:pPr algn="ctr">
              <a:lnSpc>
                <a:spcPct val="105000"/>
              </a:lnSpc>
              <a:buNone/>
              <a:defRPr sz="1650" b="1">
                <a:solidFill>
                  <a:srgbClr val="1F2937"/>
                </a:solidFill>
              </a:defRPr>
            </a:pPr>
            <a:r>
              <a:rPr sz="1650" b="1">
                <a:solidFill>
                  <a:srgbClr val="1F2937"/>
                </a:solidFill>
              </a:rPr>
              <a:t>从现成开始；差异化进入运行边界时，拥有改变它的能力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5094521-6081-406E-BDBD-D6E8B379D9F0}"/>
              </a:ext>
            </a:extLst>
          </p:cNvPr>
          <p:cNvSpPr>
            <a:spLocks noGrp="1"/>
          </p:cNvSpPr>
          <p:nvPr/>
        </p:nvSpPr>
        <p:spPr>
          <a:xfrm>
            <a:off x="704850" y="4857750"/>
            <a:ext cx="10782300" cy="781050"/>
          </a:xfrm>
          <a:prstGeom prst="roundRect">
            <a:avLst>
              <a:gd name="adj" fmla="val 9756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109DE187-802B-4137-8193-B3AA4C1889B8}"/>
              </a:ext>
            </a:extLst>
          </p:cNvPr>
          <p:cNvSpPr>
            <a:spLocks noGrp="1"/>
          </p:cNvSpPr>
          <p:nvPr/>
        </p:nvSpPr>
        <p:spPr>
          <a:xfrm>
            <a:off x="933450" y="4972050"/>
            <a:ext cx="10144125" cy="323850"/>
          </a:xfrm>
          <a:prstGeom prst="roundRect">
            <a:avLst>
              <a:gd name="adj" fmla="val 23529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“装自己的，借现成的”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7546159A-6983-4F32-BF95-F9CCCB00F41E}"/>
              </a:ext>
            </a:extLst>
          </p:cNvPr>
          <p:cNvSpPr>
            <a:spLocks noGrp="1"/>
          </p:cNvSpPr>
          <p:nvPr/>
        </p:nvSpPr>
        <p:spPr>
          <a:xfrm>
            <a:off x="933450" y="5343525"/>
            <a:ext cx="10144125" cy="171450"/>
          </a:xfrm>
          <a:prstGeom prst="roundRect">
            <a:avLst>
              <a:gd name="adj" fmla="val 44444"/>
            </a:avLst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lnSpc>
                <a:spcPct val="105000"/>
              </a:lnSpc>
              <a:buNone/>
              <a:defRPr sz="975" b="0">
                <a:solidFill>
                  <a:srgbClr val="D0D5DD"/>
                </a:solidFill>
              </a:defRPr>
            </a:pPr>
            <a:r>
              <a:rPr sz="975" b="0">
                <a:solidFill>
                  <a:srgbClr val="D0D5DD"/>
                </a:solidFill>
              </a:rPr>
              <a:t>一人公司的 Harness 原则</a:t>
            </a:r>
          </a:p>
        </p:txBody>
      </p:sp>
    </p:spTree>
    <p:extLst>
      <p:ext uri="{BB962C8B-B14F-4D97-AF65-F5344CB8AC3E}">
        <p14:creationId xmlns:p14="http://schemas.microsoft.com/office/powerpoint/2010/main" val="9459459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" y="0"/>
            <a:ext cx="12191365" cy="6858000"/>
          </a:xfrm>
          <a:prstGeom prst="rect">
            <a:avLst/>
          </a:prstGeom>
        </p:spPr>
      </p:pic>
      <p:sp>
        <p:nvSpPr>
          <p:cNvPr id="4" name="标题 3">
            <a:extLst>
              <a:ext uri="{FF2B5EF4-FFF2-40B4-BE49-F238E27FC236}">
                <a16:creationId xmlns:a16="http://schemas.microsoft.com/office/drawing/2014/main" id="{FD37E421-4BCF-4EC7-B5A4-7F06A4971C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51940" y="3279140"/>
            <a:ext cx="9144000" cy="960120"/>
          </a:xfrm>
        </p:spPr>
        <p:txBody>
          <a:bodyPr>
            <a:normAutofit fontScale="90000"/>
          </a:bodyPr>
          <a:lstStyle/>
          <a:p>
            <a:pPr algn="ctr">
              <a:defRPr sz="3450" b="1">
                <a:solidFill>
                  <a:srgbClr val="111827"/>
                </a:solidFill>
              </a:defRPr>
            </a:pPr>
            <a:r>
              <a:rPr sz="3450" b="1" dirty="0" err="1">
                <a:solidFill>
                  <a:srgbClr val="111827"/>
                </a:solidFill>
                <a:latin typeface="+mj-ea"/>
                <a:ea typeface="+mj-ea"/>
                <a:cs typeface="+mj-ea"/>
              </a:rPr>
              <a:t>谢谢</a:t>
            </a:r>
            <a:endParaRPr sz="5335" dirty="0">
              <a:solidFill>
                <a:srgbClr val="C00000"/>
              </a:solidFill>
              <a:latin typeface="+mj-ea"/>
              <a:ea typeface="+mj-ea"/>
              <a:cs typeface="+mj-ea"/>
            </a:endParaRPr>
          </a:p>
          <a:p>
            <a:pPr algn="ctr">
              <a:defRPr sz="3450" b="1">
                <a:solidFill>
                  <a:srgbClr val="111827"/>
                </a:solidFill>
              </a:defRPr>
            </a:pPr>
            <a:r>
              <a:rPr sz="3450" b="1" dirty="0" err="1">
                <a:solidFill>
                  <a:srgbClr val="111827"/>
                </a:solidFill>
                <a:latin typeface="+mj-ea"/>
                <a:ea typeface="+mj-ea"/>
                <a:cs typeface="+mj-ea"/>
              </a:rPr>
              <a:t>装自己的，借现成的</a:t>
            </a:r>
            <a:endParaRPr sz="5335" dirty="0">
              <a:solidFill>
                <a:srgbClr val="C00000"/>
              </a:solidFill>
              <a:latin typeface="+mj-ea"/>
              <a:ea typeface="+mj-ea"/>
              <a:cs typeface="+mj-ea"/>
            </a:endParaRPr>
          </a:p>
          <a:p>
            <a:endParaRPr sz="5335" dirty="0">
              <a:solidFill>
                <a:srgbClr val="C00000"/>
              </a:solidFill>
              <a:latin typeface="+mj-ea"/>
              <a:ea typeface="+mj-ea"/>
              <a:cs typeface="+mj-ea"/>
            </a:endParaRPr>
          </a:p>
          <a:p>
            <a:pPr algn="ctr">
              <a:defRPr sz="3450" b="1">
                <a:solidFill>
                  <a:srgbClr val="111827"/>
                </a:solidFill>
              </a:defRPr>
            </a:pPr>
            <a:r>
              <a:rPr sz="2200" b="1" dirty="0">
                <a:solidFill>
                  <a:srgbClr val="111827"/>
                </a:solidFill>
                <a:latin typeface="+mj-ea"/>
                <a:ea typeface="+mj-ea"/>
                <a:cs typeface="+mj-ea"/>
              </a:rPr>
              <a:t>Ethan Jiang</a:t>
            </a:r>
            <a:endParaRPr sz="2200" dirty="0">
              <a:solidFill>
                <a:srgbClr val="C00000"/>
              </a:solidFill>
              <a:latin typeface="+mj-ea"/>
              <a:ea typeface="+mj-ea"/>
              <a:cs typeface="+mj-ea"/>
            </a:endParaRPr>
          </a:p>
        </p:txBody>
      </p:sp>
      <p:pic>
        <p:nvPicPr>
          <p:cNvPr id="12" name="图片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2590" y="321310"/>
            <a:ext cx="2756535" cy="487680"/>
          </a:xfrm>
          <a:prstGeom prst="rect">
            <a:avLst/>
          </a:prstGeom>
        </p:spPr>
      </p:pic>
      <p:pic>
        <p:nvPicPr>
          <p:cNvPr id="13" name="图片 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5910" y="187960"/>
            <a:ext cx="1130300" cy="753745"/>
          </a:xfrm>
          <a:prstGeom prst="rect">
            <a:avLst/>
          </a:prstGeom>
        </p:spPr>
      </p:pic>
      <p:pic>
        <p:nvPicPr>
          <p:cNvPr id="14" name="图片 1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35560" y="76835"/>
            <a:ext cx="1673860" cy="976630"/>
          </a:xfrm>
          <a:prstGeom prst="rect">
            <a:avLst/>
          </a:prstGeom>
        </p:spPr>
      </p:pic>
      <p:pic>
        <p:nvPicPr>
          <p:cNvPr id="15" name="图片 1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51940" y="0"/>
            <a:ext cx="1197610" cy="1694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09286"/>
      </p:ext>
    </p:extLst>
  </p:cSld>
  <p:clrMapOvr>
    <a:masterClrMapping/>
  </p:clrMapOvr>
</p:sld>
</file>

<file path=ppt/theme/theme1.xml><?xml version="1.0" encoding="utf-8"?>
<a:theme xmlns:a="http://schemas.openxmlformats.org/drawingml/2006/main" name="WPS​​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PS​​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1565</Words>
  <Application>Microsoft Macintosh PowerPoint</Application>
  <DocSecurity>0</DocSecurity>
  <PresentationFormat>Widescreen</PresentationFormat>
  <Paragraphs>371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Arial Black</vt:lpstr>
      <vt:lpstr>WPS​​</vt:lpstr>
      <vt:lpstr>OPC 航海指南 一个人，AI Coding 要掌握到多深？  Ethan Jiang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谢谢 装自己的，借现成的  Ethan Jiang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yizhen jiang</cp:lastModifiedBy>
  <cp:revision>1</cp:revision>
  <dcterms:created xsi:type="dcterms:W3CDTF">2026-08-26T19:01:16Z</dcterms:created>
  <dcterms:modified xsi:type="dcterms:W3CDTF">2026-08-26T20:22:47Z</dcterms:modified>
</cp:coreProperties>
</file>