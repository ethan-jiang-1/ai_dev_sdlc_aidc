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266474d8ed4316" /><Relationship Type="http://schemas.openxmlformats.org/officeDocument/2006/relationships/extended-properties" Target="/docProps/app.xml" Id="Rb0db274ba01d4fd3" /><Relationship Type="http://schemas.openxmlformats.org/officeDocument/2006/relationships/officeDocument" Target="/ppt/presentation.xml" Id="R80c2c6c2cb7544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ecdf1bf8f049ad"/>
  </p:sldMasterIdLst>
  <p:notesMasterIdLst>
    <p:notesMasterId xmlns:r="http://schemas.openxmlformats.org/officeDocument/2006/relationships" r:id="R63305ccd02e7426a"/>
  </p:notesMasterIdLst>
  <p:sldIdLst>
    <p:sldId xmlns:r="http://schemas.openxmlformats.org/officeDocument/2006/relationships" id="256" r:id="R2009de174fc6406b"/>
    <p:sldId xmlns:r="http://schemas.openxmlformats.org/officeDocument/2006/relationships" id="257" r:id="R62edf136d8de43b2"/>
    <p:sldId xmlns:r="http://schemas.openxmlformats.org/officeDocument/2006/relationships" id="258" r:id="R87b6f0fc085647d8"/>
    <p:sldId xmlns:r="http://schemas.openxmlformats.org/officeDocument/2006/relationships" id="259" r:id="Rc6d83e37ce9c4ac2"/>
    <p:sldId xmlns:r="http://schemas.openxmlformats.org/officeDocument/2006/relationships" id="260" r:id="R2a541f7f715c425a"/>
    <p:sldId xmlns:r="http://schemas.openxmlformats.org/officeDocument/2006/relationships" id="261" r:id="Rb112b8897e95440a"/>
    <p:sldId xmlns:r="http://schemas.openxmlformats.org/officeDocument/2006/relationships" id="262" r:id="R2e02adf94ac64357"/>
    <p:sldId xmlns:r="http://schemas.openxmlformats.org/officeDocument/2006/relationships" id="263" r:id="Reed347c9d2064621"/>
    <p:sldId xmlns:r="http://schemas.openxmlformats.org/officeDocument/2006/relationships" id="264" r:id="Ra5fc01be784a4519"/>
    <p:sldId xmlns:r="http://schemas.openxmlformats.org/officeDocument/2006/relationships" id="265" r:id="Rc4b68c7e9ac446d3"/>
    <p:sldId xmlns:r="http://schemas.openxmlformats.org/officeDocument/2006/relationships" id="266" r:id="R2ab3d7be7e834c9b"/>
    <p:sldId xmlns:r="http://schemas.openxmlformats.org/officeDocument/2006/relationships" id="267" r:id="R5e401ab099944133"/>
    <p:sldId xmlns:r="http://schemas.openxmlformats.org/officeDocument/2006/relationships" id="268" r:id="Ra14d4c511dbe46d6"/>
    <p:sldId xmlns:r="http://schemas.openxmlformats.org/officeDocument/2006/relationships" id="269" r:id="R7bf59e6860db4c0e"/>
    <p:sldId xmlns:r="http://schemas.openxmlformats.org/officeDocument/2006/relationships" id="270" r:id="Rbfc8244cec034779"/>
    <p:sldId xmlns:r="http://schemas.openxmlformats.org/officeDocument/2006/relationships" id="271" r:id="R1f906c3cda9e4f71"/>
    <p:sldId xmlns:r="http://schemas.openxmlformats.org/officeDocument/2006/relationships" id="272" r:id="R76957a7075ee40dc"/>
    <p:sldId xmlns:r="http://schemas.openxmlformats.org/officeDocument/2006/relationships" id="273" r:id="R212e211fba704904"/>
    <p:sldId xmlns:r="http://schemas.openxmlformats.org/officeDocument/2006/relationships" id="274" r:id="R3e33398eb6374f78"/>
    <p:sldId xmlns:r="http://schemas.openxmlformats.org/officeDocument/2006/relationships" id="275" r:id="R4b8606fb91e34090"/>
    <p:sldId xmlns:r="http://schemas.openxmlformats.org/officeDocument/2006/relationships" id="276" r:id="R802a805f634040d9"/>
    <p:sldId xmlns:r="http://schemas.openxmlformats.org/officeDocument/2006/relationships" id="277" r:id="Ra16b4a0adef643aa"/>
    <p:sldId xmlns:r="http://schemas.openxmlformats.org/officeDocument/2006/relationships" id="278" r:id="R3b6473084dca40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0" cy="72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87d81e8a09d469b" /><Relationship Type="http://schemas.openxmlformats.org/officeDocument/2006/relationships/slideMaster" Target="/ppt/slideMasters/slideMaster1.xml" Id="R4fecdf1bf8f049ad" /><Relationship Type="http://schemas.openxmlformats.org/officeDocument/2006/relationships/notesMaster" Target="/ppt/notesMasters/notesMaster1.xml" Id="R63305ccd02e7426a" /><Relationship Type="http://schemas.openxmlformats.org/officeDocument/2006/relationships/presProps" Target="/ppt/presProps.xml" Id="R627c1da3ae574fb8" /><Relationship Type="http://schemas.openxmlformats.org/officeDocument/2006/relationships/viewProps" Target="/ppt/viewProps.xml" Id="Rc23a303d7c464a31" /><Relationship Type="http://schemas.openxmlformats.org/officeDocument/2006/relationships/tableStyles" Target="/ppt/tableStyles.xml" Id="R1f6b1f7456e44540" /><Relationship Type="http://schemas.openxmlformats.org/officeDocument/2006/relationships/slide" Target="/ppt/slides/slide1.xml" Id="R2009de174fc6406b" /><Relationship Type="http://schemas.openxmlformats.org/officeDocument/2006/relationships/slide" Target="/ppt/slides/slide2.xml" Id="R62edf136d8de43b2" /><Relationship Type="http://schemas.openxmlformats.org/officeDocument/2006/relationships/slide" Target="/ppt/slides/slide3.xml" Id="R87b6f0fc085647d8" /><Relationship Type="http://schemas.openxmlformats.org/officeDocument/2006/relationships/slide" Target="/ppt/slides/slide4.xml" Id="Rc6d83e37ce9c4ac2" /><Relationship Type="http://schemas.openxmlformats.org/officeDocument/2006/relationships/slide" Target="/ppt/slides/slide5.xml" Id="R2a541f7f715c425a" /><Relationship Type="http://schemas.openxmlformats.org/officeDocument/2006/relationships/slide" Target="/ppt/slides/slide6.xml" Id="Rb112b8897e95440a" /><Relationship Type="http://schemas.openxmlformats.org/officeDocument/2006/relationships/slide" Target="/ppt/slides/slide7.xml" Id="R2e02adf94ac64357" /><Relationship Type="http://schemas.openxmlformats.org/officeDocument/2006/relationships/slide" Target="/ppt/slides/slide8.xml" Id="Reed347c9d2064621" /><Relationship Type="http://schemas.openxmlformats.org/officeDocument/2006/relationships/slide" Target="/ppt/slides/slide9.xml" Id="Ra5fc01be784a4519" /><Relationship Type="http://schemas.openxmlformats.org/officeDocument/2006/relationships/slide" Target="/ppt/slides/slide10.xml" Id="Rc4b68c7e9ac446d3" /><Relationship Type="http://schemas.openxmlformats.org/officeDocument/2006/relationships/slide" Target="/ppt/slides/slide11.xml" Id="R2ab3d7be7e834c9b" /><Relationship Type="http://schemas.openxmlformats.org/officeDocument/2006/relationships/slide" Target="/ppt/slides/slide12.xml" Id="R5e401ab099944133" /><Relationship Type="http://schemas.openxmlformats.org/officeDocument/2006/relationships/slide" Target="/ppt/slides/slide13.xml" Id="Ra14d4c511dbe46d6" /><Relationship Type="http://schemas.openxmlformats.org/officeDocument/2006/relationships/slide" Target="/ppt/slides/slide14.xml" Id="R7bf59e6860db4c0e" /><Relationship Type="http://schemas.openxmlformats.org/officeDocument/2006/relationships/slide" Target="/ppt/slides/slide15.xml" Id="Rbfc8244cec034779" /><Relationship Type="http://schemas.openxmlformats.org/officeDocument/2006/relationships/slide" Target="/ppt/slides/slide16.xml" Id="R1f906c3cda9e4f71" /><Relationship Type="http://schemas.openxmlformats.org/officeDocument/2006/relationships/slide" Target="/ppt/slides/slide17.xml" Id="R76957a7075ee40dc" /><Relationship Type="http://schemas.openxmlformats.org/officeDocument/2006/relationships/slide" Target="/ppt/slides/slide18.xml" Id="R212e211fba704904" /><Relationship Type="http://schemas.openxmlformats.org/officeDocument/2006/relationships/slide" Target="/ppt/slides/slide19.xml" Id="R3e33398eb6374f78" /><Relationship Type="http://schemas.openxmlformats.org/officeDocument/2006/relationships/slide" Target="/ppt/slides/slide20.xml" Id="R4b8606fb91e34090" /><Relationship Type="http://schemas.openxmlformats.org/officeDocument/2006/relationships/slide" Target="/ppt/slides/slide21.xml" Id="R802a805f634040d9" /><Relationship Type="http://schemas.openxmlformats.org/officeDocument/2006/relationships/slide" Target="/ppt/slides/slide22.xml" Id="Ra16b4a0adef643aa" /><Relationship Type="http://schemas.openxmlformats.org/officeDocument/2006/relationships/slide" Target="/ppt/slides/slide23.xml" Id="R3b6473084dca40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1c9183dfd54f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1653fd2f5747ff" /><Relationship Type="http://schemas.openxmlformats.org/officeDocument/2006/relationships/notesMaster" Target="/ppt/notesMasters/notesMaster1.xml" Id="R4ec67912ca6747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18249f2d18461d" /><Relationship Type="http://schemas.openxmlformats.org/officeDocument/2006/relationships/notesMaster" Target="/ppt/notesMasters/notesMaster1.xml" Id="R686ea2cb17064d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9504bb1f9f4c47" /><Relationship Type="http://schemas.openxmlformats.org/officeDocument/2006/relationships/notesMaster" Target="/ppt/notesMasters/notesMaster1.xml" Id="R14b88ee7cf9848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7ce157bd4e4e97" /><Relationship Type="http://schemas.openxmlformats.org/officeDocument/2006/relationships/notesMaster" Target="/ppt/notesMasters/notesMaster1.xml" Id="R855326b40c404f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0ce89bd38a470b" /><Relationship Type="http://schemas.openxmlformats.org/officeDocument/2006/relationships/notesMaster" Target="/ppt/notesMasters/notesMaster1.xml" Id="R93b96b1f041045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db1d29fa074147" /><Relationship Type="http://schemas.openxmlformats.org/officeDocument/2006/relationships/notesMaster" Target="/ppt/notesMasters/notesMaster1.xml" Id="Rb5cbd817717543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6608638c584edd" /><Relationship Type="http://schemas.openxmlformats.org/officeDocument/2006/relationships/notesMaster" Target="/ppt/notesMasters/notesMaster1.xml" Id="R0e43ca731a5e4e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71da140f884353" /><Relationship Type="http://schemas.openxmlformats.org/officeDocument/2006/relationships/notesMaster" Target="/ppt/notesMasters/notesMaster1.xml" Id="Rbba2d94deeb94b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e43c37bc82490f" /><Relationship Type="http://schemas.openxmlformats.org/officeDocument/2006/relationships/notesMaster" Target="/ppt/notesMasters/notesMaster1.xml" Id="R42ae4b0f4a7b4d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e50a02576a432d" /><Relationship Type="http://schemas.openxmlformats.org/officeDocument/2006/relationships/notesMaster" Target="/ppt/notesMasters/notesMaster1.xml" Id="R3e0923f23b5b46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fd8749f1e1049af" /><Relationship Type="http://schemas.openxmlformats.org/officeDocument/2006/relationships/notesMaster" Target="/ppt/notesMasters/notesMaster1.xml" Id="R26d0679550ef4c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7aae29e0824dac" /><Relationship Type="http://schemas.openxmlformats.org/officeDocument/2006/relationships/notesMaster" Target="/ppt/notesMasters/notesMaster1.xml" Id="R9fc9abb33b604b8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7d184f47f34ad1" /><Relationship Type="http://schemas.openxmlformats.org/officeDocument/2006/relationships/notesMaster" Target="/ppt/notesMasters/notesMaster1.xml" Id="R0ea1ec4fdaaf444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ed53fb67ca426f" /><Relationship Type="http://schemas.openxmlformats.org/officeDocument/2006/relationships/notesMaster" Target="/ppt/notesMasters/notesMaster1.xml" Id="R26b6bd7db293436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49d719ff3f34f7d" /><Relationship Type="http://schemas.openxmlformats.org/officeDocument/2006/relationships/notesMaster" Target="/ppt/notesMasters/notesMaster1.xml" Id="R9ba36260aa644bc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b0c83e7574c4450" /><Relationship Type="http://schemas.openxmlformats.org/officeDocument/2006/relationships/notesMaster" Target="/ppt/notesMasters/notesMaster1.xml" Id="R195aa6f6e89e417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8bfc886c2824e0b" /><Relationship Type="http://schemas.openxmlformats.org/officeDocument/2006/relationships/notesMaster" Target="/ppt/notesMasters/notesMaster1.xml" Id="Rddef383be665497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66657b92bf44dd5" /><Relationship Type="http://schemas.openxmlformats.org/officeDocument/2006/relationships/notesMaster" Target="/ppt/notesMasters/notesMaster1.xml" Id="R4194271191a0491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f84a4c6b28e4db3" /><Relationship Type="http://schemas.openxmlformats.org/officeDocument/2006/relationships/notesMaster" Target="/ppt/notesMasters/notesMaster1.xml" Id="Re763cd1953bb411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9af1d3f77e45a1" /><Relationship Type="http://schemas.openxmlformats.org/officeDocument/2006/relationships/notesMaster" Target="/ppt/notesMasters/notesMaster1.xml" Id="R609711dd8c4049a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be1ec4de9e242eb" /><Relationship Type="http://schemas.openxmlformats.org/officeDocument/2006/relationships/notesMaster" Target="/ppt/notesMasters/notesMaster1.xml" Id="Rb0f38c869fd745b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ee01638063142a7" /><Relationship Type="http://schemas.openxmlformats.org/officeDocument/2006/relationships/notesMaster" Target="/ppt/notesMasters/notesMaster1.xml" Id="R068e1553cd8e48e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c1cb99343944b02" /><Relationship Type="http://schemas.openxmlformats.org/officeDocument/2006/relationships/notesMaster" Target="/ppt/notesMasters/notesMaster1.xml" Id="Rb13d4deb524847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Opening: introduce the question carried through the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Three anchors establish Harness, Loop, and Graph before the role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Replace agenda with the three questions the talk resolves.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One engine, five outcomes; do not imply replacement.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Prompt/Context slide; show Lost in the Middle curve without introducing claims beyond supplied copy.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Introduce Harness without prematurely inserting the security event.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Use distinct temporal-loop and spatial-graph structures.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Relationship diagram, not a pyramid; Harness is the reliable execution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Pivot from the relationship map to the reliability boundary.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Recover the minimal harness from P5.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Core harness mechanism: retain full Guides/Sensors and deterministic/probabilistic distinction.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Memory frame: three verbs in this precise order.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Explain dependency without reverting to a geometric hierarchy.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Tell the execution-authorization causal chain, not a CVE list.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Make the decision criterion concrete.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Fairly state the value of ready-made harnesses.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Show escalation from configuration need to runtime boundary need.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Thesis for flexible harness.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DSH is a composable Harness, not a replacement for Loop or Graph.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DSH mechanism slide; DSH does not use MCP in this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Rule -&gt; failing command -&gt; CI; preserve the quote callout.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Answer the opening question without implying Loop/Graph are automatically owned.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All claims and quotations are supplied in talk-ai-coding-evolution/04_drafts/ppt-text-v1.md.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Close on the reusable choice principle.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9a5c1c241349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858eec0bcd45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234b3bbef544e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4f85d063aa47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9ef5978cf54c7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576a3277764b7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e8085a26b14d4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38668532c040b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353786faea484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dd8db979594449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2AE11E3-EFEF-4EEA-AA89-18A57D8D948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lnSpc>
                <a:spcPct val="130000"/>
              </a:lnSpc>
              <a:buNone/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单击此处添加标题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F45372E-CC10-4D98-9D95-90F3E1212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781074B-108D-4C7F-9E3B-3D43BA2A79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D662EE3-119E-444B-8134-7D848C87A2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68ADC448-3193-4AF7-855A-E1F74AE450E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lt"/>
                <a:cs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6380BA0-8406-49B3-9B37-900883CA33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7F6F0F48-2682-496C-A91E-8928A92DBF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883ACE5-E1ED-4889-A8F7-CB90819B5D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E64AFB6-97E9-4D9B-AFE3-53EECFB366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08125FB-23F7-4FBE-B80F-29FCB35ED1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8F2DB45-72E3-4D78-AB1A-2F5FE6DEF7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3751117"/>
            <a:ext cx="7321550" cy="81135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CF86F43A-E5AD-4CE0-9F1E-9CFE3C9F3D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7321550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C6BF131-3545-4083-B1FB-54FA58D2A7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38ED3A7-C4AA-4CD7-9BFE-4AFFC2C809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8E591F5-8D6C-404A-9389-5A39B22B307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9A8F55-B68A-483A-A53E-540C8818B3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8D2A801-E694-4FD7-8E63-D698BB97657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258DE2C-8D98-42FC-A500-7B2E3150843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5F15505-D19D-43F6-9A27-C998016E2E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B7D99E7-E8CA-4210-97C8-0C2668054F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366801E-F48B-4B7B-B57D-EFEC492F43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524C8D2-906A-44E5-94E9-FC88BBF57C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E8DB727-2083-4D48-B0DA-48037014CB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11B5D8E6-CA19-4745-A6A7-8A82CBC0F3A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5498F709-ED1B-4E0E-8E20-10F17B6EA61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D5326E8-0675-4AFF-8B2C-FDF0B6FF556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36E60D0-2B7E-4A5C-92EA-EEB167C46D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F28AEA3-6DC2-44DF-B9FA-1BBFB21EFB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D6D67F99-B855-4824-B004-A06206B6B5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CA199B-58F5-4BDA-8028-60E6D95E41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EB9440F6-C9F7-4464-B7E3-B581F576369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66448F65-3888-4EE7-A08A-925768F191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4DF899AC-020B-46CD-AB6B-94B04616BF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9066AB12-1CE8-4DA0-A617-37071C3B6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F56422C5-6BBF-4F98-9C93-3313CDB9AC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1B909A89-EB44-461A-BD20-BF7EFEE369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1FEE799-ECDE-41F7-ACC2-A028E98354B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 xmlns:a="http://schemas.openxmlformats.org/drawingml/2006/main">
            <a:r>
              <a:t>单击此处编辑标题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7DA67F8A-B568-4E81-9C42-D7B77B67735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8CBE4A5-37F9-4B46-8FDF-C8E7B9A6F48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5EF1D540-B4F7-4549-937A-B756E1F72E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03B651-75B4-48C9-B5A6-E469B4F3E9D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E6F890E-88E4-4880-9B9C-2A1F104357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32F8484-7F20-4C6C-B6DF-0AD1028802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D0FE67F-3E6A-4258-9DFC-CBB476B701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B5F01BB-9F73-4DB1-BB7F-5433E75C03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998CDA-FD51-482A-AFC0-A439663F9E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9A15723-FE64-402B-B376-BA673F9FB9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6156EC72-DCFB-4AFD-AB36-AC613FA581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93EF8AF-A9E5-4CED-9332-EFF831DF4A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83B065D7-EB36-4528-A358-4812AF9E5A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C66EC56A-B5FD-4CC7-AF64-F85A6FED3B8A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4e67bcf2f6e4dc8" /><Relationship Type="http://schemas.openxmlformats.org/officeDocument/2006/relationships/slideLayout" Target="/ppt/slideLayouts/slideLayout1.xml" Id="R137d0c47af7e4984" /><Relationship Type="http://schemas.openxmlformats.org/officeDocument/2006/relationships/slideLayout" Target="/ppt/slideLayouts/slideLayout2.xml" Id="Re67c0ae30ca04a18" /><Relationship Type="http://schemas.openxmlformats.org/officeDocument/2006/relationships/slideLayout" Target="/ppt/slideLayouts/slideLayout3.xml" Id="R9207a1a936a54321" /><Relationship Type="http://schemas.openxmlformats.org/officeDocument/2006/relationships/slideLayout" Target="/ppt/slideLayouts/slideLayout4.xml" Id="R822d54fa9cf64ce8" /><Relationship Type="http://schemas.openxmlformats.org/officeDocument/2006/relationships/slideLayout" Target="/ppt/slideLayouts/slideLayout5.xml" Id="R09846ac96d6d4611" /><Relationship Type="http://schemas.openxmlformats.org/officeDocument/2006/relationships/slideLayout" Target="/ppt/slideLayouts/slideLayout6.xml" Id="R1a2cab1efbb54bba" /><Relationship Type="http://schemas.openxmlformats.org/officeDocument/2006/relationships/slideLayout" Target="/ppt/slideLayouts/slideLayout7.xml" Id="Rbe26ca28daad41b7" /><Relationship Type="http://schemas.openxmlformats.org/officeDocument/2006/relationships/slideLayout" Target="/ppt/slideLayouts/slideLayout8.xml" Id="Ra62850225b8d4810" /><Relationship Type="http://schemas.openxmlformats.org/officeDocument/2006/relationships/slideLayout" Target="/ppt/slideLayouts/slideLayout9.xml" Id="R4de026edf692438c" /><Relationship Type="http://schemas.openxmlformats.org/officeDocument/2006/relationships/slideLayout" Target="/ppt/slideLayouts/slideLayout10.xml" Id="R6d75587e66014d2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A19B4D4-75CE-4A17-AED6-20D968EC9F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B2E0814-64EC-45B2-81E7-F0B0371D9C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D2CEEE8-4DEC-4F89-865E-5AE4C6F437A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BD3693-0FFB-4137-8FCD-2FA59D951F6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22BAACC-6271-4091-AD55-B49135007FD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7d0c47af7e4984"/>
    <p:sldLayoutId xmlns:r="http://schemas.openxmlformats.org/officeDocument/2006/relationships" id="2147483650" r:id="Re67c0ae30ca04a18"/>
    <p:sldLayoutId xmlns:r="http://schemas.openxmlformats.org/officeDocument/2006/relationships" id="2147483651" r:id="R9207a1a936a54321"/>
    <p:sldLayoutId xmlns:r="http://schemas.openxmlformats.org/officeDocument/2006/relationships" id="2147483652" r:id="R822d54fa9cf64ce8"/>
    <p:sldLayoutId xmlns:r="http://schemas.openxmlformats.org/officeDocument/2006/relationships" id="2147483653" r:id="R09846ac96d6d4611"/>
    <p:sldLayoutId xmlns:r="http://schemas.openxmlformats.org/officeDocument/2006/relationships" id="2147483654" r:id="R1a2cab1efbb54bba"/>
    <p:sldLayoutId xmlns:r="http://schemas.openxmlformats.org/officeDocument/2006/relationships" id="2147483655" r:id="Rbe26ca28daad41b7"/>
    <p:sldLayoutId xmlns:r="http://schemas.openxmlformats.org/officeDocument/2006/relationships" id="2147483656" r:id="Ra62850225b8d4810"/>
    <p:sldLayoutId xmlns:r="http://schemas.openxmlformats.org/officeDocument/2006/relationships" id="2147483657" r:id="R4de026edf692438c"/>
    <p:sldLayoutId xmlns:r="http://schemas.openxmlformats.org/officeDocument/2006/relationships" id="2147483658" r:id="R6d75587e66014d2a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b0e23cb4d418f" /><Relationship Type="http://schemas.openxmlformats.org/officeDocument/2006/relationships/image" Target="/ppt/media/image.jpeg" Id="Rf2e7b1dc3e2f4817" /><Relationship Type="http://schemas.openxmlformats.org/officeDocument/2006/relationships/image" Target="/ppt/media/image.png" Id="Rb6afe785ab4d45f6" /><Relationship Type="http://schemas.openxmlformats.org/officeDocument/2006/relationships/image" Target="/ppt/media/image2.png" Id="Rf49b7c2e076145fd" /><Relationship Type="http://schemas.openxmlformats.org/officeDocument/2006/relationships/image" Target="/ppt/media/image3.png" Id="Rdeddfb64564447f0" /><Relationship Type="http://schemas.openxmlformats.org/officeDocument/2006/relationships/image" Target="/ppt/media/image4.png" Id="R3825a4fecc8c4a58" /><Relationship Type="http://schemas.openxmlformats.org/officeDocument/2006/relationships/notesSlide" Target="/ppt/notesSlides/notesSlide1.xml" Id="Rb60ab270435c41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e4049bf98a432c" /><Relationship Type="http://schemas.openxmlformats.org/officeDocument/2006/relationships/image" Target="/ppt/media/image.png" Id="R88bf1c703d9a40ef" /><Relationship Type="http://schemas.openxmlformats.org/officeDocument/2006/relationships/image" Target="/ppt/media/image2.png" Id="Re92aa93cfc1f4454" /><Relationship Type="http://schemas.openxmlformats.org/officeDocument/2006/relationships/image" Target="/ppt/media/image3.png" Id="R4307fe0d9b564491" /><Relationship Type="http://schemas.openxmlformats.org/officeDocument/2006/relationships/image" Target="/ppt/media/image4.png" Id="R9dd558d7a8404650" /><Relationship Type="http://schemas.openxmlformats.org/officeDocument/2006/relationships/notesSlide" Target="/ppt/notesSlides/notesSlide2.xml" Id="Rf9aaee05e40f41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b97fb98824c07" /><Relationship Type="http://schemas.openxmlformats.org/officeDocument/2006/relationships/image" Target="/ppt/media/image.png" Id="R5778f550258f4da3" /><Relationship Type="http://schemas.openxmlformats.org/officeDocument/2006/relationships/image" Target="/ppt/media/image2.png" Id="Ra5965b48c16c4db1" /><Relationship Type="http://schemas.openxmlformats.org/officeDocument/2006/relationships/image" Target="/ppt/media/image3.png" Id="Ra004c91b7dc3460c" /><Relationship Type="http://schemas.openxmlformats.org/officeDocument/2006/relationships/image" Target="/ppt/media/image4.png" Id="R7a63a5871278479b" /><Relationship Type="http://schemas.openxmlformats.org/officeDocument/2006/relationships/notesSlide" Target="/ppt/notesSlides/notesSlide3.xml" Id="R1430e824fc2943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8a4c8142c41e0" /><Relationship Type="http://schemas.openxmlformats.org/officeDocument/2006/relationships/image" Target="/ppt/media/image.png" Id="Rbb541ef5a9504ffb" /><Relationship Type="http://schemas.openxmlformats.org/officeDocument/2006/relationships/image" Target="/ppt/media/image2.png" Id="R93b725da9aa44bf4" /><Relationship Type="http://schemas.openxmlformats.org/officeDocument/2006/relationships/image" Target="/ppt/media/image3.png" Id="R3d755e2974714678" /><Relationship Type="http://schemas.openxmlformats.org/officeDocument/2006/relationships/image" Target="/ppt/media/image4.png" Id="R07d9e3a36da44110" /><Relationship Type="http://schemas.openxmlformats.org/officeDocument/2006/relationships/notesSlide" Target="/ppt/notesSlides/notesSlide4.xml" Id="R066f970c7b5042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f73ad559a4a9b" /><Relationship Type="http://schemas.openxmlformats.org/officeDocument/2006/relationships/image" Target="/ppt/media/image.png" Id="R00e1c1038aaa4502" /><Relationship Type="http://schemas.openxmlformats.org/officeDocument/2006/relationships/image" Target="/ppt/media/image2.png" Id="R17fe82aa9dde43c2" /><Relationship Type="http://schemas.openxmlformats.org/officeDocument/2006/relationships/image" Target="/ppt/media/image3.png" Id="R9df03c0b84c94c4b" /><Relationship Type="http://schemas.openxmlformats.org/officeDocument/2006/relationships/image" Target="/ppt/media/image4.png" Id="R00f27a54e12f4bcc" /><Relationship Type="http://schemas.openxmlformats.org/officeDocument/2006/relationships/notesSlide" Target="/ppt/notesSlides/notesSlide5.xml" Id="Ra806705ea3fa49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bb6ccd82544b4" /><Relationship Type="http://schemas.openxmlformats.org/officeDocument/2006/relationships/image" Target="/ppt/media/image.png" Id="R3a2978f690504441" /><Relationship Type="http://schemas.openxmlformats.org/officeDocument/2006/relationships/image" Target="/ppt/media/image2.png" Id="Rcf246887868b41ab" /><Relationship Type="http://schemas.openxmlformats.org/officeDocument/2006/relationships/image" Target="/ppt/media/image3.png" Id="R5a3e7192fa16427a" /><Relationship Type="http://schemas.openxmlformats.org/officeDocument/2006/relationships/image" Target="/ppt/media/image4.png" Id="Rcc539dcdaccb4984" /><Relationship Type="http://schemas.openxmlformats.org/officeDocument/2006/relationships/notesSlide" Target="/ppt/notesSlides/notesSlide6.xml" Id="R5ee94a1645b141a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79e231db34492" /><Relationship Type="http://schemas.openxmlformats.org/officeDocument/2006/relationships/image" Target="/ppt/media/image.png" Id="R0970b1ff49544ba7" /><Relationship Type="http://schemas.openxmlformats.org/officeDocument/2006/relationships/image" Target="/ppt/media/image2.png" Id="Rb151ff30af274ec4" /><Relationship Type="http://schemas.openxmlformats.org/officeDocument/2006/relationships/image" Target="/ppt/media/image3.png" Id="R1509e777222e41bf" /><Relationship Type="http://schemas.openxmlformats.org/officeDocument/2006/relationships/image" Target="/ppt/media/image4.png" Id="R518e6c48aab54753" /><Relationship Type="http://schemas.openxmlformats.org/officeDocument/2006/relationships/notesSlide" Target="/ppt/notesSlides/notesSlide7.xml" Id="Rb9ea9be6d78f41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4e20a3acd140c7" /><Relationship Type="http://schemas.openxmlformats.org/officeDocument/2006/relationships/image" Target="/ppt/media/image.png" Id="R7d35117f72de469b" /><Relationship Type="http://schemas.openxmlformats.org/officeDocument/2006/relationships/image" Target="/ppt/media/image2.png" Id="R22f909f00a5044b3" /><Relationship Type="http://schemas.openxmlformats.org/officeDocument/2006/relationships/image" Target="/ppt/media/image3.png" Id="R53ed2b114fd143e4" /><Relationship Type="http://schemas.openxmlformats.org/officeDocument/2006/relationships/image" Target="/ppt/media/image4.png" Id="Rd2d2bc42faa148fc" /><Relationship Type="http://schemas.openxmlformats.org/officeDocument/2006/relationships/notesSlide" Target="/ppt/notesSlides/notesSlide8.xml" Id="Ra8de5b7a660d40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c741be9924041" /><Relationship Type="http://schemas.openxmlformats.org/officeDocument/2006/relationships/image" Target="/ppt/media/image.png" Id="Rb024d93029bc422b" /><Relationship Type="http://schemas.openxmlformats.org/officeDocument/2006/relationships/image" Target="/ppt/media/image2.png" Id="R76c3ddafdacb4880" /><Relationship Type="http://schemas.openxmlformats.org/officeDocument/2006/relationships/image" Target="/ppt/media/image3.png" Id="R5c877d2178fd4612" /><Relationship Type="http://schemas.openxmlformats.org/officeDocument/2006/relationships/image" Target="/ppt/media/image4.png" Id="R9856b9a592164533" /><Relationship Type="http://schemas.openxmlformats.org/officeDocument/2006/relationships/notesSlide" Target="/ppt/notesSlides/notesSlide9.xml" Id="R9eba687a99ea4c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8e690df14474a" /><Relationship Type="http://schemas.openxmlformats.org/officeDocument/2006/relationships/image" Target="/ppt/media/image.png" Id="R850fe4994d72469c" /><Relationship Type="http://schemas.openxmlformats.org/officeDocument/2006/relationships/image" Target="/ppt/media/image2.png" Id="R1d81362c5ad74901" /><Relationship Type="http://schemas.openxmlformats.org/officeDocument/2006/relationships/image" Target="/ppt/media/image3.png" Id="R376a88ff83dc4518" /><Relationship Type="http://schemas.openxmlformats.org/officeDocument/2006/relationships/image" Target="/ppt/media/image4.png" Id="Rd9c0dc4b8d0f4eb9" /><Relationship Type="http://schemas.openxmlformats.org/officeDocument/2006/relationships/notesSlide" Target="/ppt/notesSlides/notesSlide10.xml" Id="R9f6c98c1e00145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d8a6ce7294daa" /><Relationship Type="http://schemas.openxmlformats.org/officeDocument/2006/relationships/image" Target="/ppt/media/image.png" Id="R76cc4611b93d4f6b" /><Relationship Type="http://schemas.openxmlformats.org/officeDocument/2006/relationships/image" Target="/ppt/media/image2.png" Id="Rd38e7e10cde9425b" /><Relationship Type="http://schemas.openxmlformats.org/officeDocument/2006/relationships/image" Target="/ppt/media/image3.png" Id="R876af606e8f84a4a" /><Relationship Type="http://schemas.openxmlformats.org/officeDocument/2006/relationships/image" Target="/ppt/media/image4.png" Id="R2b28e5a530ab46d3" /><Relationship Type="http://schemas.openxmlformats.org/officeDocument/2006/relationships/notesSlide" Target="/ppt/notesSlides/notesSlide11.xml" Id="R7c91fad4b24f4a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d59e72efe4152" /><Relationship Type="http://schemas.openxmlformats.org/officeDocument/2006/relationships/image" Target="/ppt/media/image.png" Id="R56ca0b06c25447fa" /><Relationship Type="http://schemas.openxmlformats.org/officeDocument/2006/relationships/image" Target="/ppt/media/image2.png" Id="R9c57d89db43b4c9a" /><Relationship Type="http://schemas.openxmlformats.org/officeDocument/2006/relationships/image" Target="/ppt/media/image3.png" Id="Rab6864f9325b42cd" /><Relationship Type="http://schemas.openxmlformats.org/officeDocument/2006/relationships/image" Target="/ppt/media/image4.png" Id="Ra54a01ee68e047b0" /><Relationship Type="http://schemas.openxmlformats.org/officeDocument/2006/relationships/notesSlide" Target="/ppt/notesSlides/notesSlide12.xml" Id="R2213521c94c141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fcf55da42479b" /><Relationship Type="http://schemas.openxmlformats.org/officeDocument/2006/relationships/image" Target="/ppt/media/image.png" Id="R19e9f32ac1d0402e" /><Relationship Type="http://schemas.openxmlformats.org/officeDocument/2006/relationships/image" Target="/ppt/media/image2.png" Id="Rb0288fae6cf747c7" /><Relationship Type="http://schemas.openxmlformats.org/officeDocument/2006/relationships/image" Target="/ppt/media/image3.png" Id="Re517127c53ec4a40" /><Relationship Type="http://schemas.openxmlformats.org/officeDocument/2006/relationships/image" Target="/ppt/media/image4.png" Id="Rc801fef8b62a471b" /><Relationship Type="http://schemas.openxmlformats.org/officeDocument/2006/relationships/notesSlide" Target="/ppt/notesSlides/notesSlide13.xml" Id="Rd3bc2ae8730b4f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02da21d6a443a" /><Relationship Type="http://schemas.openxmlformats.org/officeDocument/2006/relationships/image" Target="/ppt/media/image.png" Id="R57570c98931a40c2" /><Relationship Type="http://schemas.openxmlformats.org/officeDocument/2006/relationships/image" Target="/ppt/media/image2.png" Id="R852af8ac02214356" /><Relationship Type="http://schemas.openxmlformats.org/officeDocument/2006/relationships/image" Target="/ppt/media/image3.png" Id="R978d93b696194082" /><Relationship Type="http://schemas.openxmlformats.org/officeDocument/2006/relationships/image" Target="/ppt/media/image4.png" Id="Ra6c7137192ba4313" /><Relationship Type="http://schemas.openxmlformats.org/officeDocument/2006/relationships/notesSlide" Target="/ppt/notesSlides/notesSlide14.xml" Id="R5b6984aaee0e487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ab70a24a5d445e" /><Relationship Type="http://schemas.openxmlformats.org/officeDocument/2006/relationships/image" Target="/ppt/media/image.png" Id="Rfa9ebc0c40d24ba8" /><Relationship Type="http://schemas.openxmlformats.org/officeDocument/2006/relationships/image" Target="/ppt/media/image2.png" Id="R01d726a908e2459a" /><Relationship Type="http://schemas.openxmlformats.org/officeDocument/2006/relationships/image" Target="/ppt/media/image3.png" Id="R86674cc98e214b6f" /><Relationship Type="http://schemas.openxmlformats.org/officeDocument/2006/relationships/image" Target="/ppt/media/image4.png" Id="Rb89864c65ce74c2f" /><Relationship Type="http://schemas.openxmlformats.org/officeDocument/2006/relationships/notesSlide" Target="/ppt/notesSlides/notesSlide15.xml" Id="Reeeb2c73e34f462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aa19060ad4ce5" /><Relationship Type="http://schemas.openxmlformats.org/officeDocument/2006/relationships/image" Target="/ppt/media/image.png" Id="Rb8b45efda0984d3d" /><Relationship Type="http://schemas.openxmlformats.org/officeDocument/2006/relationships/image" Target="/ppt/media/image2.png" Id="Rdb6f2c841c5d454d" /><Relationship Type="http://schemas.openxmlformats.org/officeDocument/2006/relationships/image" Target="/ppt/media/image3.png" Id="R006cb80d24b64afb" /><Relationship Type="http://schemas.openxmlformats.org/officeDocument/2006/relationships/image" Target="/ppt/media/image4.png" Id="Rcc72c8db34544d91" /><Relationship Type="http://schemas.openxmlformats.org/officeDocument/2006/relationships/notesSlide" Target="/ppt/notesSlides/notesSlide16.xml" Id="R962963d3e21b4cb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dfa31d76c4380" /><Relationship Type="http://schemas.openxmlformats.org/officeDocument/2006/relationships/image" Target="/ppt/media/image.png" Id="R0de5424ff2004f05" /><Relationship Type="http://schemas.openxmlformats.org/officeDocument/2006/relationships/image" Target="/ppt/media/image2.png" Id="R19be5fd86a964787" /><Relationship Type="http://schemas.openxmlformats.org/officeDocument/2006/relationships/image" Target="/ppt/media/image3.png" Id="Rb27012af15e04e81" /><Relationship Type="http://schemas.openxmlformats.org/officeDocument/2006/relationships/image" Target="/ppt/media/image4.png" Id="Rc5f4a4ffab0e4d85" /><Relationship Type="http://schemas.openxmlformats.org/officeDocument/2006/relationships/notesSlide" Target="/ppt/notesSlides/notesSlide17.xml" Id="Ra55b0abd87b346b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30b9b0e626467f" /><Relationship Type="http://schemas.openxmlformats.org/officeDocument/2006/relationships/image" Target="/ppt/media/image.png" Id="R0c615b798ff44781" /><Relationship Type="http://schemas.openxmlformats.org/officeDocument/2006/relationships/image" Target="/ppt/media/image2.png" Id="R822555984cbd4990" /><Relationship Type="http://schemas.openxmlformats.org/officeDocument/2006/relationships/image" Target="/ppt/media/image3.png" Id="R8db3efe569c74c82" /><Relationship Type="http://schemas.openxmlformats.org/officeDocument/2006/relationships/image" Target="/ppt/media/image4.png" Id="R6890d609d0a440d1" /><Relationship Type="http://schemas.openxmlformats.org/officeDocument/2006/relationships/notesSlide" Target="/ppt/notesSlides/notesSlide18.xml" Id="R14a16280baf544f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39fe2d5314944" /><Relationship Type="http://schemas.openxmlformats.org/officeDocument/2006/relationships/image" Target="/ppt/media/image.png" Id="Rcc95dd5983854b04" /><Relationship Type="http://schemas.openxmlformats.org/officeDocument/2006/relationships/image" Target="/ppt/media/image2.png" Id="R276f99cd8e434ee1" /><Relationship Type="http://schemas.openxmlformats.org/officeDocument/2006/relationships/image" Target="/ppt/media/image3.png" Id="Re060165fede2479a" /><Relationship Type="http://schemas.openxmlformats.org/officeDocument/2006/relationships/image" Target="/ppt/media/image4.png" Id="Rc88ae729220f4ad0" /><Relationship Type="http://schemas.openxmlformats.org/officeDocument/2006/relationships/notesSlide" Target="/ppt/notesSlides/notesSlide19.xml" Id="Rc4fa406ed89e41a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bfa96a5634797" /><Relationship Type="http://schemas.openxmlformats.org/officeDocument/2006/relationships/image" Target="/ppt/media/image.png" Id="R76c82d060b3e4997" /><Relationship Type="http://schemas.openxmlformats.org/officeDocument/2006/relationships/image" Target="/ppt/media/image2.png" Id="Rd16ee622ba4d4615" /><Relationship Type="http://schemas.openxmlformats.org/officeDocument/2006/relationships/image" Target="/ppt/media/image3.png" Id="Rc969c80dc61b41c1" /><Relationship Type="http://schemas.openxmlformats.org/officeDocument/2006/relationships/image" Target="/ppt/media/image4.png" Id="R2eaecb22173541e8" /><Relationship Type="http://schemas.openxmlformats.org/officeDocument/2006/relationships/notesSlide" Target="/ppt/notesSlides/notesSlide20.xml" Id="R8400e53c0b1448c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8b95d18364314" /><Relationship Type="http://schemas.openxmlformats.org/officeDocument/2006/relationships/image" Target="/ppt/media/image.png" Id="R08947ea4f8624451" /><Relationship Type="http://schemas.openxmlformats.org/officeDocument/2006/relationships/image" Target="/ppt/media/image2.png" Id="Re7286cd367184ba9" /><Relationship Type="http://schemas.openxmlformats.org/officeDocument/2006/relationships/image" Target="/ppt/media/image3.png" Id="R92e612290acb46f7" /><Relationship Type="http://schemas.openxmlformats.org/officeDocument/2006/relationships/image" Target="/ppt/media/image4.png" Id="R614ea798d4824909" /><Relationship Type="http://schemas.openxmlformats.org/officeDocument/2006/relationships/notesSlide" Target="/ppt/notesSlides/notesSlide21.xml" Id="R05d9b1b6ed9b431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a4f5f24e24bc9" /><Relationship Type="http://schemas.openxmlformats.org/officeDocument/2006/relationships/image" Target="/ppt/media/image.png" Id="R4c2484d71e764437" /><Relationship Type="http://schemas.openxmlformats.org/officeDocument/2006/relationships/image" Target="/ppt/media/image2.png" Id="R559a09dc5458413b" /><Relationship Type="http://schemas.openxmlformats.org/officeDocument/2006/relationships/image" Target="/ppt/media/image3.png" Id="Rd1f61c1cdbce494c" /><Relationship Type="http://schemas.openxmlformats.org/officeDocument/2006/relationships/image" Target="/ppt/media/image4.png" Id="R9360eadd719748b4" /><Relationship Type="http://schemas.openxmlformats.org/officeDocument/2006/relationships/notesSlide" Target="/ppt/notesSlides/notesSlide22.xml" Id="Rb78a5de90da34b1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1f0d8f9d54a69" /><Relationship Type="http://schemas.openxmlformats.org/officeDocument/2006/relationships/image" Target="/ppt/media/image.jpeg" Id="R069c219e1c1240a3" /><Relationship Type="http://schemas.openxmlformats.org/officeDocument/2006/relationships/image" Target="/ppt/media/image.png" Id="Re1c70a84ad534bc7" /><Relationship Type="http://schemas.openxmlformats.org/officeDocument/2006/relationships/image" Target="/ppt/media/image2.png" Id="Rb3f2f8a8ab804535" /><Relationship Type="http://schemas.openxmlformats.org/officeDocument/2006/relationships/image" Target="/ppt/media/image3.png" Id="R09f7622138cf4875" /><Relationship Type="http://schemas.openxmlformats.org/officeDocument/2006/relationships/image" Target="/ppt/media/image4.png" Id="R48ef5f961ec541e0" /><Relationship Type="http://schemas.openxmlformats.org/officeDocument/2006/relationships/notesSlide" Target="/ppt/notesSlides/notesSlide23.xml" Id="R213969be2bc44d5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7b1dc3e2f48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263842"/>
            <a:ext cx="1219136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FD37E421-4BCF-4EC7-B5A4-7F06A4971C3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496060" y="3212782"/>
            <a:ext cx="9144000" cy="960120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OPC 航海指南</a:t>
            </a:r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ctr">
              <a:buNone/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一个人，AI Coding 要掌握到多深？</a:t>
            </a:r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ctr">
              <a:buNone/>
              <a:defRPr sz="3225" b="1">
                <a:solidFill>
                  <a:srgbClr val="111827"/>
                </a:solidFill>
              </a:defRPr>
            </a:pPr>
            <a:r>
              <a:rPr sz="2200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Ethan Jiang</a:t>
            </a:r>
            <a:endParaRPr sz="2200">
              <a:solidFill>
                <a:srgbClr val="C00000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2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fe785ab4d45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2590" y="321310"/>
            <a:ext cx="2756535" cy="487680"/>
          </a:xfrm>
          <a:prstGeom xmlns:a="http://schemas.openxmlformats.org/drawingml/2006/main" prst="rect">
            <a:avLst/>
          </a:prstGeom>
        </p:spPr>
      </p:pic>
      <p:pic>
        <p:nvPicPr>
          <p:cNvPr id="13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b7c2e076145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5910" y="187960"/>
            <a:ext cx="1130300" cy="753745"/>
          </a:xfrm>
          <a:prstGeom xmlns:a="http://schemas.openxmlformats.org/drawingml/2006/main" prst="rect">
            <a:avLst/>
          </a:prstGeom>
        </p:spPr>
      </p:pic>
      <p:pic>
        <p:nvPicPr>
          <p:cNvPr id="1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ddfb64564447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5560" y="76835"/>
            <a:ext cx="1673860" cy="976630"/>
          </a:xfrm>
          <a:prstGeom xmlns:a="http://schemas.openxmlformats.org/drawingml/2006/main" prst="rect">
            <a:avLst/>
          </a:prstGeom>
        </p:spPr>
      </p:pic>
      <p:pic>
        <p:nvPicPr>
          <p:cNvPr id="15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5a4fecc8c4a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1940" y="0"/>
            <a:ext cx="1197610" cy="16948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92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f1c703d9a40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41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2aa93cfc1f44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42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07fe0d9b5644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4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558d7a84046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111A407E-D2C9-4203-B4D2-E12A286D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AI Coding 的五个 Engineering，先看全貌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BB8FB4C-6C74-41EC-BF16-4722B864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它们不是新词清单，而是模型变强后，人要解决的问题不断上移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89083B-5006-4CC6-A882-DB046ECE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61492ABF-6BB6-4F22-AD30-85E0FF5A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38450"/>
            <a:ext cx="628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BD81693-2E76-42F9-A885-DCA348B5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57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Prompt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7510426-2387-4FE6-840F-49A7897F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95625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说什么？</a:t>
            </a:r>
          </a:p>
        </p:txBody>
      </p:sp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51653769-22E0-496E-A149-6AE3ED0A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38450"/>
            <a:ext cx="628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2874CA6-1353-4DA2-BFDF-73E5DB4B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57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Context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81256396-50AB-475E-A069-5C8BBC9D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95625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看什么？</a:t>
            </a:r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E650C15-8399-4B83-892D-2642D504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38450"/>
            <a:ext cx="628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FE8E040-7CB2-4D54-864C-B5B888ED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457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Harness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A278214-E7A2-4F96-B186-650F6F3E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95625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在哪行动？</a:t>
            </a:r>
            <a:endParaRPr sz="975" b="0">
              <a:solidFill>
                <a:srgbClr val="667085"/>
              </a:solidFill>
            </a:endParaRPr>
          </a:p>
        </p:txBody>
      </p:sp>
      <p:sp>
        <p:nvSpPr>
          <p:cNvPr id="17" name="Straight Connector 16">
            <a:extLst xmlns:a="http://schemas.openxmlformats.org/drawingml/2006/main">
              <a:ext uri="{FF2B5EF4-FFF2-40B4-BE49-F238E27FC236}">
                <a16:creationId xmlns:a16="http://schemas.microsoft.com/office/drawing/2014/main" id="{66474467-ADDD-4315-8505-17E7475C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38450"/>
            <a:ext cx="628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6AB04E20-5400-460D-A6D9-47731EB5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57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Loop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E9999E6-10ED-4189-87F7-29546F1F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095625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何时重试？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CDB55F7A-248A-40CA-8CE5-455A202A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574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Graph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Engineering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C002F2A2-D07C-4443-A0B9-E6829C3F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095625"/>
            <a:ext cx="131445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667085"/>
                </a:solidFill>
              </a:defRPr>
            </a:pPr>
            <a:r>
              <a:rPr sz="1500" b="0">
                <a:solidFill>
                  <a:srgbClr val="667085"/>
                </a:solidFill>
              </a:rPr>
              <a:t>如何编排？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5E4F42B-8422-49EE-B313-5F72FEC4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0DD3C5AC-30F1-4A79-AA53-AC3716C9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模型越强，人的动作越从亲手做，变成设计它怎样做</a:t>
            </a:r>
          </a:p>
        </p:txBody>
      </p:sp>
      <p:sp>
        <p:nvSpPr>
          <p:cNvPr id="30" name="anchor-quote-1">
            <a:extLst xmlns:a="http://schemas.openxmlformats.org/drawingml/2006/main">
              <a:ext uri="{FF2B5EF4-FFF2-40B4-BE49-F238E27FC236}">
                <a16:creationId xmlns:a16="http://schemas.microsoft.com/office/drawing/2014/main" id="{2AD90136-AE97-4DD2-A346-01839E58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3380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说清任务</a:t>
            </a:r>
          </a:p>
        </p:txBody>
      </p:sp>
      <p:sp>
        <p:nvSpPr>
          <p:cNvPr id="31" name="anchor-source-1">
            <a:extLst xmlns:a="http://schemas.openxmlformats.org/drawingml/2006/main">
              <a:ext uri="{FF2B5EF4-FFF2-40B4-BE49-F238E27FC236}">
                <a16:creationId xmlns:a16="http://schemas.microsoft.com/office/drawing/2014/main" id="{0C2810CC-1BB7-40A3-843A-93D9F056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347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FFFFFF"/>
                </a:solidFill>
                <a:latin typeface="Arial"/>
                <a:ea typeface="Arial"/>
                <a:cs typeface="Arial"/>
              </a:rPr>
              <a:t>Birgitta Böckeler</a:t>
            </a:r>
          </a:p>
        </p:txBody>
      </p:sp>
      <p:sp>
        <p:nvSpPr>
          <p:cNvPr id="32" name="anchor-quote-2">
            <a:extLst xmlns:a="http://schemas.openxmlformats.org/drawingml/2006/main">
              <a:ext uri="{FF2B5EF4-FFF2-40B4-BE49-F238E27FC236}">
                <a16:creationId xmlns:a16="http://schemas.microsoft.com/office/drawing/2014/main" id="{DED74534-9614-4172-949E-CB0FBD7F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3380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让动作可靠</a:t>
            </a:r>
          </a:p>
        </p:txBody>
      </p:sp>
      <p:sp>
        <p:nvSpPr>
          <p:cNvPr id="33" name="anchor-source-2">
            <a:extLst xmlns:a="http://schemas.openxmlformats.org/drawingml/2006/main">
              <a:ext uri="{FF2B5EF4-FFF2-40B4-BE49-F238E27FC236}">
                <a16:creationId xmlns:a16="http://schemas.microsoft.com/office/drawing/2014/main" id="{E0A84C23-22FA-46D2-AD83-AE2EE644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09575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347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FFFFFF"/>
                </a:solidFill>
                <a:latin typeface="Arial"/>
                <a:ea typeface="Arial"/>
                <a:cs typeface="Arial"/>
              </a:rPr>
              <a:t>Boris Cherny</a:t>
            </a:r>
          </a:p>
        </p:txBody>
      </p:sp>
      <p:sp>
        <p:nvSpPr>
          <p:cNvPr id="34" name="anchor-quote-3">
            <a:extLst xmlns:a="http://schemas.openxmlformats.org/drawingml/2006/main">
              <a:ext uri="{FF2B5EF4-FFF2-40B4-BE49-F238E27FC236}">
                <a16:creationId xmlns:a16="http://schemas.microsoft.com/office/drawing/2014/main" id="{F56413D1-3622-412E-B3E1-EF20A665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733800"/>
            <a:ext cx="3095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把工作组织起来</a:t>
            </a:r>
          </a:p>
        </p:txBody>
      </p:sp>
      <p:sp>
        <p:nvSpPr>
          <p:cNvPr id="35" name="anchor-source-3">
            <a:extLst xmlns:a="http://schemas.openxmlformats.org/drawingml/2006/main">
              <a:ext uri="{FF2B5EF4-FFF2-40B4-BE49-F238E27FC236}">
                <a16:creationId xmlns:a16="http://schemas.microsoft.com/office/drawing/2014/main" id="{095A7737-1C00-4C87-9C39-4EE87A91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95750"/>
            <a:ext cx="3095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347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FFFFFF"/>
                </a:solidFill>
                <a:latin typeface="Arial"/>
                <a:ea typeface="Arial"/>
                <a:cs typeface="Arial"/>
              </a:rPr>
              <a:t>Peter Steinberger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8f550258f4d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965b48c16c4d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4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4c91b7dc346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3a587127847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04F9D81-5232-4606-8300-65ADA559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后面每一层，都在回答前一层解决不了的问题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169C003-9073-4973-BE77-C65D4337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先看清五个对象，再沿着“为什么还不够”一路往下走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5DE8197-2EBD-4CED-8BC9-2D620FBAB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50BF025-E5E7-415D-A6C5-D8C2EFBE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01</a:t>
            </a:r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C378FC25-E79A-4587-A32F-46F969B3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428875"/>
            <a:ext cx="66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16EC273-D0EA-45E5-979E-1DA9822BB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19325"/>
            <a:ext cx="7810500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说清任务后，模型到底该看到哪些事实？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B4609F3-6E0B-4429-BBAA-C4864784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02</a:t>
            </a:r>
          </a:p>
        </p:txBody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0B766B5D-D049-469D-A35D-A52389E2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66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FFB3FA8-DD1E-446A-A821-C321AADD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219450"/>
            <a:ext cx="7810500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看见事实后，它怎样在真实世界安全地行动？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2CC39AA-27BC-49F0-88E2-65615130D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03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7CE820D4-A3FA-4DEC-A74C-F5D9D5E3B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29125"/>
            <a:ext cx="666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82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3223016-6B36-4D94-8696-808D8CEE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219575"/>
            <a:ext cx="7810500" cy="49530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动作可靠后，OPC 何时该借现成，何时必须改边界？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2807CD9-BC07-4AE4-8944-B83A9666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34000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最后用 DSH 看：怎样既借现成，又保留改边界的能力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8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41ef5a9504f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19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725da9aa44b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120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755e29747146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121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9e3a36da441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F3EF70F-6A2F-4775-901D-DFCB9C64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模型越强，工程对象越从一句话往系统上移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2A83F3A-7BD3-44B3-90DB-6DCECC76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五个 Engineering 由同一台发动机推动：模型变强，手工动作就得上移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4E5BB30-6870-4753-A2B2-9B89DE6D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311D89E-7B3F-4DF9-8C68-228D9C5C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24288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50%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可靠性任务长度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约每 7 个月翻倍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CB7FAAA-8DC9-49F8-8022-7DC7EDAAD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238375" cy="209550"/>
          </a:xfrm>
          <a:prstGeom xmlns:a="http://schemas.openxmlformats.org/drawingml/2006/main" prst="roundRect">
            <a:avLst>
              <a:gd name="adj" fmla="val 3636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METR · 独立评估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83875FF-C192-43DD-B050-09BEDA50D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0"/>
            <a:ext cx="17621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模型能力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更强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FC2EB7A-F936-4DBF-B4FC-B1305352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67000"/>
            <a:ext cx="17621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反复雕一句 prompt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边际收益更低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8E069AF-6D0A-4854-842C-94B00854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1762125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工程杠杆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向上移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069BAC9-A158-4E12-BE96-33236DD5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14750"/>
            <a:ext cx="6667500" cy="428625"/>
          </a:xfrm>
          <a:prstGeom xmlns:a="http://schemas.openxmlformats.org/drawingml/2006/main" prst="roundRect">
            <a:avLst>
              <a:gd name="adj" fmla="val 1777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写清一次任务  →  设计一次行动  →  设计一套系统怎样工作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47F26EC6-5B2B-4115-A76B-9DB843E2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B4F4C65-F849-4A4D-A1CC-8FB5B3AC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38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“prompt 的精确措辞，越来越不重要”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BE7D3E2-0A14-4FA5-8C6C-76246E2AD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800" b="0">
                <a:solidFill>
                  <a:srgbClr val="D0D5DD"/>
                </a:solidFill>
              </a:rPr>
              <a:t>Anthropic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F09C2AC-5E70-4970-8C00-0DE53EC6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76875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不是替代，是叠加：旧问题仍在，新问题继续往上长</a:t>
            </a:r>
          </a:p>
        </p:txBody>
      </p:sp>
      <p:cxnSp>
        <p:nvCxnSpPr>
          <p:cNvPr id="135" name="Straight Arrow Connector 88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67375" y="3024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136" name="Straight Arrow Connector 89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905750" y="3024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e1c1038aaa45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2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fe82aa9dde43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03c0b84c94c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27a54e12f4b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15EC674-98A9-4B04-BDED-A42D7DA1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Prompt Engineering 与 Context Engineering：先说清，再看对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3184A62-B99F-45C2-B5A2-14D0C221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它们解决“说什么、看什么”，却还没解决“能不能安全地行动”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F79838D-BC20-4A43-B584-7DD3DFD3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4C2F4C9-07FE-48CD-8AD1-640BEA73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4857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Prompt Engineering</a:t>
            </a:r>
          </a:p>
          <a:p xmlns:a="http://schemas.openxmlformats.org/drawingml/2006/main">
            <a:r>
              <a:t/>
            </a:r>
            <a:endParaRPr sz="1425" b="0">
              <a:solidFill>
                <a:srgbClr val="1F2937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说清任务、约束和格式</a:t>
            </a:r>
          </a:p>
          <a:p xmlns:a="http://schemas.openxmlformats.org/drawingml/2006/main">
            <a:r>
              <a:t/>
            </a:r>
            <a:endParaRPr sz="1425" b="0">
              <a:solidFill>
                <a:srgbClr val="1F2937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局限：文字不能代替系统控制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3AD2A75-C3E1-403C-B7CA-BD993BF5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143125"/>
            <a:ext cx="4857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Context Engineering</a:t>
            </a:r>
          </a:p>
          <a:p xmlns:a="http://schemas.openxmlformats.org/drawingml/2006/main">
            <a:r>
              <a:t/>
            </a:r>
            <a:endParaRPr sz="1425" b="0">
              <a:solidFill>
                <a:srgbClr val="1F2937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挑出此刻需要的事实和状态</a:t>
            </a:r>
          </a:p>
          <a:p xmlns:a="http://schemas.openxmlformats.org/drawingml/2006/main">
            <a:r>
              <a:t/>
            </a:r>
            <a:endParaRPr sz="1425" b="0">
              <a:solidFill>
                <a:srgbClr val="1F2937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局限：材料越多，关键内容越容易被淹没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FE4156B-B97E-452C-B03C-4C933C422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6824014-65BE-4B6B-9890-EA5CC8CB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说对、看对之后，下一问是：它究竟能在什么边界里行动？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BC2CDA1-95FE-4AD9-8F88-296BE605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800" b="0">
                <a:solidFill>
                  <a:srgbClr val="D0D5DD"/>
                </a:solidFill>
              </a:rPr>
              <a:t>这正是 Harness Engineering 出场的原因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978f6905044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2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46887868b41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e7192fa1642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39dcdaccb49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352A5A23-641A-49E3-8354-8CEAA4A4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Harness Engineering：为每一次行动设下可靠边界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9020DAA-B098-44AD-904F-CB119310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它回答的不是模型会不会想，而是它此刻能做什么、谁来检查、如何留下记录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46F6231-D683-4262-966E-29280E15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647CF74-EF65-49BA-AFEF-2F0E7E73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71700"/>
            <a:ext cx="9144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Agent = Model + Harness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8978D20-623F-4E2D-84C6-2D0C7A94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权限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5148654-B48B-4CB3-B7F0-F015772F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沙箱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B8909F3-4C75-41E0-86BA-93F6D2CE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33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工具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C5BF741-B9E2-4CEF-AD6B-D6B128D1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验证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BD5B70C7-149B-4810-9730-137BD1FD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333750"/>
            <a:ext cx="11239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执行记录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DC10DCC-A51D-4BF0-8645-D2EC8181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33750"/>
            <a:ext cx="8763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CI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1D74D192-638A-4D1E-AD0E-C4010261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9906000" cy="476250"/>
          </a:xfrm>
          <a:prstGeom xmlns:a="http://schemas.openxmlformats.org/drawingml/2006/main" prst="roundRect">
            <a:avLst>
              <a:gd name="adj" fmla="val 16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权限、沙箱、工具、验证、执行记录、CI：模型之外让行动可交付的一切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1D394D1-C03C-4A2C-943A-A2B1681A2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24375"/>
            <a:ext cx="8763000" cy="428625"/>
          </a:xfrm>
          <a:prstGeom xmlns:a="http://schemas.openxmlformats.org/drawingml/2006/main" prst="roundRect">
            <a:avLst>
              <a:gd name="adj" fmla="val 1777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一次动作可靠后，问题才变成：怎样把反馈连成 Loop、把任务组织成 Graph？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1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0b1ff49544b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332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1ff30af274e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33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9e777222e41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33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e6c48aab547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22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26AE55A-6E7B-44AE-B491-6CCE11EF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Loop Engineering 与 Graph Engineering：让可靠行动持续发生</a:t>
            </a:r>
          </a:p>
        </p:txBody>
      </p:sp>
      <p:sp>
        <p:nvSpPr>
          <p:cNvPr id="230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EA431B4-1651-4618-B6FF-2980D9E9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Loop 解决“怎样知错再改”；Graph 解决“谁先做、谁并行、何时汇合”</a:t>
            </a:r>
          </a:p>
        </p:txBody>
      </p:sp>
      <p:sp>
        <p:nvSpPr>
          <p:cNvPr id="231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CA13F1A5-1823-433E-81E9-1A7BB6BE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2" name="loop-heading">
            <a:extLst xmlns:a="http://schemas.openxmlformats.org/drawingml/2006/main">
              <a:ext uri="{FF2B5EF4-FFF2-40B4-BE49-F238E27FC236}">
                <a16:creationId xmlns:a16="http://schemas.microsoft.com/office/drawing/2014/main" id="{44EEF591-D66F-49B6-915F-BA532876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LOOP ENGINEERING：检验失败，就把反馈带回下一轮</a:t>
            </a:r>
          </a:p>
        </p:txBody>
      </p:sp>
      <p:sp>
        <p:nvSpPr>
          <p:cNvPr id="233" name="graph-heading">
            <a:extLst xmlns:a="http://schemas.openxmlformats.org/drawingml/2006/main">
              <a:ext uri="{FF2B5EF4-FFF2-40B4-BE49-F238E27FC236}">
                <a16:creationId xmlns:a16="http://schemas.microsoft.com/office/drawing/2014/main" id="{258B3783-0DD5-44CC-9446-CDE353CE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4312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GRAPH ENGINEERING：把复杂任务写成显式依赖</a:t>
            </a:r>
          </a:p>
        </p:txBody>
      </p:sp>
      <p:sp>
        <p:nvSpPr>
          <p:cNvPr id="234" name="graph-example">
            <a:extLst xmlns:a="http://schemas.openxmlformats.org/drawingml/2006/main">
              <a:ext uri="{FF2B5EF4-FFF2-40B4-BE49-F238E27FC236}">
                <a16:creationId xmlns:a16="http://schemas.microsoft.com/office/drawing/2014/main" id="{CF4626DC-CEF6-49AA-947E-D2FB5A7DF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47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06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例：修复登录故障</a:t>
            </a:r>
          </a:p>
        </p:txBody>
      </p:sp>
      <p:sp>
        <p:nvSpPr>
          <p:cNvPr id="235" name="loop-execute">
            <a:extLst xmlns:a="http://schemas.openxmlformats.org/drawingml/2006/main">
              <a:ext uri="{FF2B5EF4-FFF2-40B4-BE49-F238E27FC236}">
                <a16:creationId xmlns:a16="http://schemas.microsoft.com/office/drawing/2014/main" id="{A13B57F0-FAA1-482A-A809-C56D4C4CD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90875"/>
            <a:ext cx="1190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执行</a:t>
            </a:r>
          </a:p>
        </p:txBody>
      </p:sp>
      <p:sp>
        <p:nvSpPr>
          <p:cNvPr id="236" name="loop-verify">
            <a:extLst xmlns:a="http://schemas.openxmlformats.org/drawingml/2006/main">
              <a:ext uri="{FF2B5EF4-FFF2-40B4-BE49-F238E27FC236}">
                <a16:creationId xmlns:a16="http://schemas.microsoft.com/office/drawing/2014/main" id="{93ABF9DB-57C6-4D30-ABCA-E90D479E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190875"/>
            <a:ext cx="1190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检验</a:t>
            </a:r>
          </a:p>
        </p:txBody>
      </p:sp>
      <p:sp>
        <p:nvSpPr>
          <p:cNvPr id="237" name="loop-decision">
            <a:extLst xmlns:a="http://schemas.openxmlformats.org/drawingml/2006/main">
              <a:ext uri="{FF2B5EF4-FFF2-40B4-BE49-F238E27FC236}">
                <a16:creationId xmlns:a16="http://schemas.microsoft.com/office/drawing/2014/main" id="{62F73BA2-F304-404D-AFB3-06B2D53D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05150"/>
            <a:ext cx="876300" cy="7239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19050" tIns="19050" rIns="19050" bIns="19050" anchor="ctr">
            <a:normAutofit fontScale="590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通过？</a:t>
            </a:r>
          </a:p>
        </p:txBody>
      </p:sp>
      <p:sp>
        <p:nvSpPr>
          <p:cNvPr id="238" name="loop-done">
            <a:extLst xmlns:a="http://schemas.openxmlformats.org/drawingml/2006/main">
              <a:ext uri="{FF2B5EF4-FFF2-40B4-BE49-F238E27FC236}">
                <a16:creationId xmlns:a16="http://schemas.microsoft.com/office/drawing/2014/main" id="{1F57E71C-2C64-4D06-8CE4-373AA2543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79703"/>
            <a:ext cx="8763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完成</a:t>
            </a:r>
            <a:endParaRPr sz="1425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345" name="Straight Arrow Connector 272"/>
          <p:cNvCxnSpPr>
            <a:stCxn xmlns:a="http://schemas.openxmlformats.org/drawingml/2006/main" id="235" idx="3"/>
            <a:endCxn xmlns:a="http://schemas.openxmlformats.org/drawingml/2006/main" id="236" idx="1"/>
          </p:cNvCxnSpPr>
          <p:nvPr/>
        </p:nvCxnSpPr>
        <p:spPr>
          <a:xfrm xmlns:a="http://schemas.openxmlformats.org/drawingml/2006/main">
            <a:off x="2095500" y="34671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346" name="Straight Arrow Connector 273"/>
          <p:cNvCxnSpPr>
            <a:stCxn xmlns:a="http://schemas.openxmlformats.org/drawingml/2006/main" id="236" idx="3"/>
            <a:endCxn xmlns:a="http://schemas.openxmlformats.org/drawingml/2006/main" id="237" idx="1"/>
          </p:cNvCxnSpPr>
          <p:nvPr/>
        </p:nvCxnSpPr>
        <p:spPr>
          <a:xfrm xmlns:a="http://schemas.openxmlformats.org/drawingml/2006/main">
            <a:off x="3810000" y="34671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347" name="Straight Arrow Connector 274"/>
          <p:cNvCxnSpPr>
            <a:stCxn xmlns:a="http://schemas.openxmlformats.org/drawingml/2006/main" id="237" idx="3"/>
            <a:endCxn xmlns:a="http://schemas.openxmlformats.org/drawingml/2006/main" id="238" idx="0"/>
          </p:cNvCxnSpPr>
          <p:nvPr/>
        </p:nvCxnSpPr>
        <p:spPr>
          <a:xfrm xmlns:a="http://schemas.openxmlformats.org/drawingml/2006/main">
            <a:off x="5276850" y="3467100"/>
            <a:ext cx="0" cy="71260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348" name="Elbow Connector 275"/>
          <p:cNvCxnSpPr>
            <a:stCxn xmlns:a="http://schemas.openxmlformats.org/drawingml/2006/main" id="237" idx="2"/>
            <a:endCxn xmlns:a="http://schemas.openxmlformats.org/drawingml/2006/main" id="235" idx="2"/>
          </p:cNvCxnSpPr>
          <p:nvPr/>
        </p:nvCxnSpPr>
        <p:spPr>
          <a:xfrm xmlns:a="http://schemas.openxmlformats.org/drawingml/2006/main" rot="5400000" flipH="1">
            <a:off x="3126581" y="2116932"/>
            <a:ext cx="85725" cy="3338512"/>
          </a:xfrm>
          <a:prstGeom xmlns:a="http://schemas.openxmlformats.org/drawingml/2006/main" prst="bentConnector3">
            <a:avLst>
              <a:gd name="adj1" fmla="val -266667"/>
            </a:avLst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sp>
        <p:nvSpPr>
          <p:cNvPr id="243" name="loop-yes">
            <a:extLst xmlns:a="http://schemas.openxmlformats.org/drawingml/2006/main">
              <a:ext uri="{FF2B5EF4-FFF2-40B4-BE49-F238E27FC236}">
                <a16:creationId xmlns:a16="http://schemas.microsoft.com/office/drawing/2014/main" id="{255DA673-F0C3-423D-AEC6-1E1AB830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76650"/>
            <a:ext cx="342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12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是</a:t>
            </a:r>
            <a:endParaRPr sz="1125" b="1">
              <a:solidFill>
                <a:srgbClr val="626A7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4" name="loop-no">
            <a:extLst xmlns:a="http://schemas.openxmlformats.org/drawingml/2006/main">
              <a:ext uri="{FF2B5EF4-FFF2-40B4-BE49-F238E27FC236}">
                <a16:creationId xmlns:a16="http://schemas.microsoft.com/office/drawing/2014/main" id="{65030EF4-7B8D-46B6-894D-382540EA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04812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818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否：反馈下一轮</a:t>
            </a:r>
          </a:p>
        </p:txBody>
      </p:sp>
      <p:sp>
        <p:nvSpPr>
          <p:cNvPr id="245" name="dag-incident">
            <a:extLst xmlns:a="http://schemas.openxmlformats.org/drawingml/2006/main">
              <a:ext uri="{FF2B5EF4-FFF2-40B4-BE49-F238E27FC236}">
                <a16:creationId xmlns:a16="http://schemas.microsoft.com/office/drawing/2014/main" id="{7DB82A42-B812-4016-A876-DA2FC10B7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09925"/>
            <a:ext cx="8382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119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收到故障</a:t>
            </a:r>
          </a:p>
        </p:txBody>
      </p:sp>
      <p:sp>
        <p:nvSpPr>
          <p:cNvPr id="246" name="dag-reproduce">
            <a:extLst xmlns:a="http://schemas.openxmlformats.org/drawingml/2006/main">
              <a:ext uri="{FF2B5EF4-FFF2-40B4-BE49-F238E27FC236}">
                <a16:creationId xmlns:a16="http://schemas.microsoft.com/office/drawing/2014/main" id="{98A320FF-63DF-4FF4-9D2A-47A3C591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209925"/>
            <a:ext cx="8953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744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复现问题</a:t>
            </a:r>
          </a:p>
        </p:txBody>
      </p:sp>
      <p:sp>
        <p:nvSpPr>
          <p:cNvPr id="247" name="dag-fix">
            <a:extLst xmlns:a="http://schemas.openxmlformats.org/drawingml/2006/main">
              <a:ext uri="{FF2B5EF4-FFF2-40B4-BE49-F238E27FC236}">
                <a16:creationId xmlns:a16="http://schemas.microsoft.com/office/drawing/2014/main" id="{71F88942-F721-4388-81C9-FC60EA9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95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070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定位并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修复</a:t>
            </a:r>
          </a:p>
        </p:txBody>
      </p:sp>
      <p:sp>
        <p:nvSpPr>
          <p:cNvPr id="248" name="dag-regression">
            <a:extLst xmlns:a="http://schemas.openxmlformats.org/drawingml/2006/main">
              <a:ext uri="{FF2B5EF4-FFF2-40B4-BE49-F238E27FC236}">
                <a16:creationId xmlns:a16="http://schemas.microsoft.com/office/drawing/2014/main" id="{7CBA32D4-D128-4F8B-BE60-3C90B8B2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10000"/>
            <a:ext cx="95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070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补回归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测试</a:t>
            </a:r>
          </a:p>
        </p:txBody>
      </p:sp>
      <p:sp>
        <p:nvSpPr>
          <p:cNvPr id="249" name="dag-integration">
            <a:extLst xmlns:a="http://schemas.openxmlformats.org/drawingml/2006/main">
              <a:ext uri="{FF2B5EF4-FFF2-40B4-BE49-F238E27FC236}">
                <a16:creationId xmlns:a16="http://schemas.microsoft.com/office/drawing/2014/main" id="{A9783E7A-A552-4A2E-B611-F0730641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181350"/>
            <a:ext cx="9525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070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集成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250" name="dag-deliver">
            <a:extLst xmlns:a="http://schemas.openxmlformats.org/drawingml/2006/main">
              <a:ext uri="{FF2B5EF4-FFF2-40B4-BE49-F238E27FC236}">
                <a16:creationId xmlns:a16="http://schemas.microsoft.com/office/drawing/2014/main" id="{D43C52A6-1379-4500-B1FC-F662CED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209925"/>
            <a:ext cx="6858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交付</a:t>
            </a:r>
          </a:p>
        </p:txBody>
      </p:sp>
      <p:cxnSp>
        <p:nvCxnSpPr>
          <p:cNvPr id="357" name="Straight Arrow Connector 284"/>
          <p:cNvCxnSpPr>
            <a:stCxn xmlns:a="http://schemas.openxmlformats.org/drawingml/2006/main" id="245" idx="3"/>
            <a:endCxn xmlns:a="http://schemas.openxmlformats.org/drawingml/2006/main" id="246" idx="1"/>
          </p:cNvCxnSpPr>
          <p:nvPr/>
        </p:nvCxnSpPr>
        <p:spPr>
          <a:xfrm xmlns:a="http://schemas.openxmlformats.org/drawingml/2006/main">
            <a:off x="7362825" y="34575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358" name="Elbow Connector 285"/>
          <p:cNvCxnSpPr>
            <a:stCxn xmlns:a="http://schemas.openxmlformats.org/drawingml/2006/main" id="246" idx="3"/>
            <a:endCxn xmlns:a="http://schemas.openxmlformats.org/drawingml/2006/main" id="247" idx="1"/>
          </p:cNvCxnSpPr>
          <p:nvPr/>
        </p:nvCxnSpPr>
        <p:spPr>
          <a:xfrm xmlns:a="http://schemas.openxmlformats.org/drawingml/2006/main" flipV="1">
            <a:off x="8467725" y="3057525"/>
            <a:ext cx="295275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359" name="Elbow Connector 286"/>
          <p:cNvCxnSpPr>
            <a:stCxn xmlns:a="http://schemas.openxmlformats.org/drawingml/2006/main" id="246" idx="3"/>
            <a:endCxn xmlns:a="http://schemas.openxmlformats.org/drawingml/2006/main" id="248" idx="1"/>
          </p:cNvCxnSpPr>
          <p:nvPr/>
        </p:nvCxnSpPr>
        <p:spPr>
          <a:xfrm xmlns:a="http://schemas.openxmlformats.org/drawingml/2006/main">
            <a:off x="8467725" y="3457575"/>
            <a:ext cx="295275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360" name="Elbow Connector 287"/>
          <p:cNvCxnSpPr>
            <a:stCxn xmlns:a="http://schemas.openxmlformats.org/drawingml/2006/main" id="247" idx="3"/>
            <a:endCxn xmlns:a="http://schemas.openxmlformats.org/drawingml/2006/main" id="249" idx="1"/>
          </p:cNvCxnSpPr>
          <p:nvPr/>
        </p:nvCxnSpPr>
        <p:spPr>
          <a:xfrm xmlns:a="http://schemas.openxmlformats.org/drawingml/2006/main">
            <a:off x="9715500" y="3057525"/>
            <a:ext cx="285750" cy="400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361" name="Elbow Connector 288"/>
          <p:cNvCxnSpPr>
            <a:stCxn xmlns:a="http://schemas.openxmlformats.org/drawingml/2006/main" id="248" idx="3"/>
            <a:endCxn xmlns:a="http://schemas.openxmlformats.org/drawingml/2006/main" id="249" idx="1"/>
          </p:cNvCxnSpPr>
          <p:nvPr/>
        </p:nvCxnSpPr>
        <p:spPr>
          <a:xfrm xmlns:a="http://schemas.openxmlformats.org/drawingml/2006/main" flipV="1">
            <a:off x="9715500" y="3457575"/>
            <a:ext cx="285750" cy="6286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362" name="Straight Arrow Connector 289"/>
          <p:cNvCxnSpPr>
            <a:stCxn xmlns:a="http://schemas.openxmlformats.org/drawingml/2006/main" id="249" idx="3"/>
            <a:endCxn xmlns:a="http://schemas.openxmlformats.org/drawingml/2006/main" id="250" idx="1"/>
          </p:cNvCxnSpPr>
          <p:nvPr/>
        </p:nvCxnSpPr>
        <p:spPr>
          <a:xfrm xmlns:a="http://schemas.openxmlformats.org/drawingml/2006/main">
            <a:off x="10953750" y="345757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sp>
        <p:nvSpPr>
          <p:cNvPr id="257" name="dag-note">
            <a:extLst xmlns:a="http://schemas.openxmlformats.org/drawingml/2006/main">
              <a:ext uri="{FF2B5EF4-FFF2-40B4-BE49-F238E27FC236}">
                <a16:creationId xmlns:a16="http://schemas.microsoft.com/office/drawing/2014/main" id="{E73A05B7-FA95-4B34-84A9-0D94AE1C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148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6A78"/>
                </a:solidFill>
                <a:latin typeface="Arial"/>
                <a:ea typeface="Arial"/>
                <a:cs typeface="Arial"/>
              </a:rPr>
              <a:t>节点可以是 agent、工具或验证器；节点内部仍可以运行自己的 Loop</a:t>
            </a:r>
          </a:p>
        </p:txBody>
      </p:sp>
      <p:sp>
        <p:nvSpPr>
          <p:cNvPr id="258" name="slide7-callout">
            <a:extLst xmlns:a="http://schemas.openxmlformats.org/drawingml/2006/main">
              <a:ext uri="{FF2B5EF4-FFF2-40B4-BE49-F238E27FC236}">
                <a16:creationId xmlns:a16="http://schemas.microsoft.com/office/drawing/2014/main" id="{042B83D6-B370-4C45-A346-59F4A4AF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91125"/>
            <a:ext cx="107823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先有可靠的单次行动，Loop 才不会放大失败，Graph 才不会组织混乱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2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5117f72de46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2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909f00a5044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124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d2b114fd143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12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2bc42faa148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C71A8AB4-7145-4BB1-AA60-D23C8A96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五个 Engineering 同时活着，但各自回答不同的问题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3A4A406-F3A4-42DD-A63D-01C81836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这不是一座金字塔，而是一张“每个问题为何需要下一步”的关系图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C26CD05-7437-4077-BE0A-91A2643F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single-call-label">
            <a:extLst xmlns:a="http://schemas.openxmlformats.org/drawingml/2006/main">
              <a:ext uri="{FF2B5EF4-FFF2-40B4-BE49-F238E27FC236}">
                <a16:creationId xmlns:a16="http://schemas.microsoft.com/office/drawing/2014/main" id="{7794A7AB-1866-46C9-AA93-48337288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一次模型调用：先说清任务，再挑选材料</a:t>
            </a:r>
          </a:p>
        </p:txBody>
      </p:sp>
      <p:sp>
        <p:nvSpPr>
          <p:cNvPr id="23" name="layer-prompt">
            <a:extLst xmlns:a="http://schemas.openxmlformats.org/drawingml/2006/main">
              <a:ext uri="{FF2B5EF4-FFF2-40B4-BE49-F238E27FC236}">
                <a16:creationId xmlns:a16="http://schemas.microsoft.com/office/drawing/2014/main" id="{22269F1C-0652-43C1-A9AF-7EB30147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20955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Prompt Engineering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说清任务</a:t>
            </a:r>
          </a:p>
        </p:txBody>
      </p:sp>
      <p:sp>
        <p:nvSpPr>
          <p:cNvPr id="24" name="layer-context">
            <a:extLst xmlns:a="http://schemas.openxmlformats.org/drawingml/2006/main">
              <a:ext uri="{FF2B5EF4-FFF2-40B4-BE49-F238E27FC236}">
                <a16:creationId xmlns:a16="http://schemas.microsoft.com/office/drawing/2014/main" id="{AD660BE0-AC9E-43D1-8236-8AA91BB6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20955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55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Context Engineering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挑选材料</a:t>
            </a:r>
          </a:p>
        </p:txBody>
      </p:sp>
      <p:sp>
        <p:nvSpPr>
          <p:cNvPr id="25" name="layer-harness">
            <a:extLst xmlns:a="http://schemas.openxmlformats.org/drawingml/2006/main">
              <a:ext uri="{FF2B5EF4-FFF2-40B4-BE49-F238E27FC236}">
                <a16:creationId xmlns:a16="http://schemas.microsoft.com/office/drawing/2014/main" id="{89DD92E2-0B7D-407E-BE90-90C36A3D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57450"/>
            <a:ext cx="4238625" cy="9715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Harness Engineering：形成可靠行动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授权 · 执行 · 验证 · 记录</a:t>
            </a:r>
          </a:p>
        </p:txBody>
      </p:sp>
      <p:sp>
        <p:nvSpPr>
          <p:cNvPr id="28" name="layer-loop">
            <a:extLst xmlns:a="http://schemas.openxmlformats.org/drawingml/2006/main">
              <a:ext uri="{FF2B5EF4-FFF2-40B4-BE49-F238E27FC236}">
                <a16:creationId xmlns:a16="http://schemas.microsoft.com/office/drawing/2014/main" id="{CBA54A39-9F89-45A4-A513-9E88DC8DC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05250"/>
            <a:ext cx="47625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Loop Engineering：反复同一行动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检验失败，就把反馈带回下一轮</a:t>
            </a:r>
          </a:p>
        </p:txBody>
      </p:sp>
      <p:sp>
        <p:nvSpPr>
          <p:cNvPr id="29" name="layer-graph">
            <a:extLst xmlns:a="http://schemas.openxmlformats.org/drawingml/2006/main">
              <a:ext uri="{FF2B5EF4-FFF2-40B4-BE49-F238E27FC236}">
                <a16:creationId xmlns:a16="http://schemas.microsoft.com/office/drawing/2014/main" id="{8D8C82E4-B267-4899-B637-A5828BB9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05250"/>
            <a:ext cx="4762500" cy="8001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Graph Engineering：编排多个行动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分工、分叉、汇合；部分节点可以运行 Loop</a:t>
            </a:r>
          </a:p>
        </p:txBody>
      </p:sp>
      <p:cxnSp>
        <p:nvCxnSpPr>
          <p:cNvPr id="135" name="Elbow Connector 90"/>
          <p:cNvCxnSpPr>
            <a:stCxn xmlns:a="http://schemas.openxmlformats.org/drawingml/2006/main" id="25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3286125" y="3429000"/>
            <a:ext cx="5834063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136" name="Elbow Connector 91"/>
          <p:cNvCxnSpPr>
            <a:stCxn xmlns:a="http://schemas.openxmlformats.org/drawingml/2006/main" id="25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 flipH="1">
            <a:off x="8905875" y="3429000"/>
            <a:ext cx="214313" cy="4762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sp>
        <p:nvSpPr>
          <p:cNvPr id="32" name="layer-takeaway">
            <a:extLst xmlns:a="http://schemas.openxmlformats.org/drawingml/2006/main">
              <a:ext uri="{FF2B5EF4-FFF2-40B4-BE49-F238E27FC236}">
                <a16:creationId xmlns:a16="http://schemas.microsoft.com/office/drawing/2014/main" id="{D451FDDF-3BA7-41DE-A2F6-5E405AE0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107823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无论上面怎样组织，每一次真实动作都要经过 Harness 的执行边界</a:t>
            </a:r>
          </a:p>
        </p:txBody>
      </p:sp>
      <p:cxnSp>
        <p:nvCxnSpPr>
          <p:cNvPr id="138" name="Straight Arrow Connector 93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000375" y="2943225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139" name="Straight Arrow Connector 94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5810250" y="2943225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4d93029bc42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04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3ddafdacb48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105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877d2178fd46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10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6b9a5921645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EDF3F5F-E020-45F0-BD6B-674D10F4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所以，最值得 OPC 看懂的不是最高层，而是真实动作穿过的边界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273F9C5-D8C1-4F55-86A7-58B942300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五层关系图推出来的结论：所有上层组织能力，都要落到一次可靠执行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210E86E-21D9-45F3-A6B1-E0BBFBB2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9ADDD8E-8C00-4FB5-9A91-E2E7611E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14625"/>
            <a:ext cx="2047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模型提出动作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8CFC8C3-36B2-4DDC-9FDC-88C83275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14625"/>
            <a:ext cx="2047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Harness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授权 · 执行 · 验证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DF464BF-FCA6-44B7-91CB-5389F192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14625"/>
            <a:ext cx="20478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结果进入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Loop / Graph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EB970E0-1215-4656-8D5B-A4E013D52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57625"/>
            <a:ext cx="9429750" cy="5334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每一个 Loop、每一个 Graph 节点，最后都要经过能独立授权、检查、记录的执行边界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6CB7CACE-EE82-4711-87D1-B025CB89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5C1F3C32-BE8F-479D-8F87-DD42D60A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可靠性不是模型单独拥有的属性，而是 Model + Harness 的属性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98A00F15-EF6C-4B43-8D5F-26BC05F4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800" b="0">
                <a:solidFill>
                  <a:srgbClr val="D0D5DD"/>
                </a:solidFill>
              </a:rPr>
              <a:t>这就是 Harness 对 OPC 的临界意义</a:t>
            </a:r>
          </a:p>
        </p:txBody>
      </p:sp>
      <p:cxnSp>
        <p:nvCxnSpPr>
          <p:cNvPr id="117" name="Straight Arrow Connector 76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29000" y="3009900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118" name="Straight Arrow Connector 77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15175" y="3009900"/>
            <a:ext cx="16478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fe4994d7246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4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1362c5ad749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5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6a88ff83dc45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6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c0dc4b8d0f4e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E00CFA7-38C2-4288-A122-4FA5F522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Agent 从来不是裸模型：它一行动，Harness 就已经在场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F1315C7A-C5FB-44AB-98E8-C3FB49EB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模型给能力；Harness 把这份能力变成一次可以交付的行动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AF97D62-79C9-41B0-9842-59F43033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44B58052-D8A2-4D25-AA2D-81FF8BE3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90750"/>
            <a:ext cx="6858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能力：Model   +   可靠性：Harness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0B8FA771-79B2-4DC0-8EF9-C4EB24FA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权限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1858724-E5F9-498E-A477-F18702A7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沙箱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7BDA0FA-068F-4719-8E86-725D8071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工具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38F4AB2-B9AE-46B5-BCB6-CBA73EB2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验证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588D7B5-CAC9-43C1-8640-45136280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1423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B42318"/>
                </a:solidFill>
              </a:defRPr>
            </a:pPr>
            <a:r>
              <a:rPr sz="1950" b="1">
                <a:solidFill>
                  <a:srgbClr val="0F1423"/>
                </a:solidFill>
              </a:rPr>
              <a:t>执行记录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27694D4-DC91-431A-84CA-FB3D489D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29000"/>
            <a:ext cx="1428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持续检查（CI）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268DCC4-1DC1-4E42-B179-8D18E54F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38625"/>
            <a:ext cx="9144000" cy="333375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买到的是模型能力；能否稳定交付，取决于围绕它的一圈运行边界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A325894E-82FC-40EC-A329-8BAAA850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FEFE0264-57D1-414D-9200-9F66D742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最小的 agent 也不只是 prompt：它至少有工具，并要面对真实执行结果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F5DFFB1-44A5-4BC3-8888-2AD6B3296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1800" b="0">
                <a:solidFill>
                  <a:srgbClr val="D0D5DD"/>
                </a:solidFill>
              </a:rPr>
              <a:t>这就是 Harness Engineering 的起点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c4611b93d4f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8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e7e10cde942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19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af606e8f84a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0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8e5a530ab46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E86FF0F-0669-43AF-9401-5256598E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可靠性发生在两次：行动前约束，行动后反馈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C5E6071-1C87-4646-95DF-5BE85B2C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能写成规则和测试的，就不要让模型猜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67DDF78-56EC-491B-94A6-52FD7B2B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991801D-7A72-4956-B944-4C9B0A8D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4857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事前引导（Guides）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行动前：允许哪些工具、必须通过什么检查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D81526F-45F8-4989-AA17-D9A95102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43125"/>
            <a:ext cx="4857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事后反馈（Sensors）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行动后：测试失败、用户拒绝、退出码非零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275F73B-DBD8-4169-A501-6476243F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4857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确定性检查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测试 / lint / 类型：可复现、可审计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D311603-F728-4512-9A8B-E1D07A74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05250"/>
            <a:ext cx="48577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语义判断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AI review / 人工判断：必要，但可能出错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43F7831-1A53-4B08-8D4B-47A08624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确定的事交给系统；需要理解语义时，才交给模型或人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ca0b06c25447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7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7d89db43b4c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18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6864f9325b42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19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a01ee68e047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758AF05-EE6F-41F4-BF48-73F6C3D9E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Harness 不是组件清单，而是一条让错误停下来的交付链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DACEEFA-C6DF-438A-B201-9A2F5B8D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圈住、拦住、看清：先限制伤害，再阻断错误，最后留下可追溯证据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26B4EFB-6E68-4CE3-95D2-E4D78A0D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DED25187-3A3E-44EE-A191-F77742DBA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23813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圈住</a:t>
            </a:r>
          </a:p>
          <a:p xmlns:a="http://schemas.openxmlformats.org/drawingml/2006/main">
            <a:r>
              <a:t/>
            </a:r>
            <a:endParaRPr sz="1575" b="1">
              <a:solidFill>
                <a:srgbClr val="111827"/>
              </a:solidFill>
            </a:endParaRP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沙箱 + 权限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限制文件、网络和命令范围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9B8EDC39-FEBA-4E87-B941-8A422956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33625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拦住</a:t>
            </a:r>
          </a:p>
          <a:p xmlns:a="http://schemas.openxmlformats.org/drawingml/2006/main">
            <a:r>
              <a:t/>
            </a:r>
            <a:endParaRPr sz="1575" b="1">
              <a:solidFill>
                <a:srgbClr val="111827"/>
              </a:solidFill>
            </a:endParaRP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验证门禁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错误一出现就停止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1068C5B-0617-472A-B8D9-4D505C27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看清</a:t>
            </a:r>
          </a:p>
          <a:p xmlns:a="http://schemas.openxmlformats.org/drawingml/2006/main">
            <a:r>
              <a:t/>
            </a:r>
            <a:endParaRPr sz="1575" b="1">
              <a:solidFill>
                <a:srgbClr val="111827"/>
              </a:solidFill>
            </a:endParaRP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可观测性 + 来源记录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执行记录留下每一步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52DF948-9D0E-496B-BCCF-10722BC3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模型给能力；Harness 让能力不至于失控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9f32ac1d040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0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88fae6cf747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1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7127c53ec4a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1fef8b62a47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1249455-5706-40D3-AF3E-82EAB887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没有可靠 Harness，Loop 与 Graph 只会放大失败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42F91A5-3305-408D-876D-C6D49489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上层系统能扩大产能，却不能替下层补上授权、验证和记录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3018FF49-DD72-47C3-B309-9C253C63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673610BA-D279-440B-A046-5B1419F40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Loop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跨运行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放大反馈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E622211-9719-4DFB-8306-211A693D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667000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Graph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跨节点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显式路由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009B642-7F07-49BA-AA87-82DFCE86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67000"/>
            <a:ext cx="2762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Harness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每次执行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授权 · 检查 · 记录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681C5E9-D8CF-4787-B2FE-1EB74668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43375"/>
            <a:ext cx="9810750" cy="381000"/>
          </a:xfrm>
          <a:prstGeom xmlns:a="http://schemas.openxmlformats.org/drawingml/2006/main" prst="roundRect">
            <a:avLst>
              <a:gd name="adj" fmla="val 2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</a:rPr>
              <a:t>可靠节点不是“基础工作”，而是所有反馈和编排开始之前的前提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105161E-CC49-4F87-B339-05262149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F7FE365-305F-45D2-B9B4-EE77970F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模型可以提议工作图，但确定性检查器决定放行还是拒绝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1ECC1CD-A4ED-46C5-AC8C-03730527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D0D5DD"/>
                </a:solidFill>
              </a:defRPr>
            </a:pPr>
            <a:r>
              <a:rPr sz="1950" b="0">
                <a:solidFill>
                  <a:srgbClr val="D0D5DD"/>
                </a:solidFill>
              </a:rPr>
              <a:t>GraphARC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2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70c98931a40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7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af8ac022143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174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8d93b6961940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175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7137192ba43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6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2FEB96-F8F6-460C-BC74-0C89CA9C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安全事故证明：模型生成了一次调用，不等于系统已经授权</a:t>
            </a:r>
          </a:p>
        </p:txBody>
      </p:sp>
      <p:sp>
        <p:nvSpPr>
          <p:cNvPr id="61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A39AD1-24C0-4849-9237-B2644A23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Harness 的独立执行门禁，必须在真正动作发生前再次判断</a:t>
            </a:r>
          </a:p>
        </p:txBody>
      </p:sp>
      <p:sp>
        <p:nvSpPr>
          <p:cNvPr id="62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077C2C04-5DD0-4AE1-8D78-64D91E90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risk-step-1">
            <a:extLst xmlns:a="http://schemas.openxmlformats.org/drawingml/2006/main">
              <a:ext uri="{FF2B5EF4-FFF2-40B4-BE49-F238E27FC236}">
                <a16:creationId xmlns:a16="http://schemas.microsoft.com/office/drawing/2014/main" id="{6FDF9A51-EEC2-4C37-BAF6-A800AA6E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857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3A3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伪造出一条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“像真的”工具调用</a:t>
            </a:r>
          </a:p>
        </p:txBody>
      </p:sp>
      <p:sp>
        <p:nvSpPr>
          <p:cNvPr id="64" name="risk-number-1">
            <a:extLst xmlns:a="http://schemas.openxmlformats.org/drawingml/2006/main">
              <a:ext uri="{FF2B5EF4-FFF2-40B4-BE49-F238E27FC236}">
                <a16:creationId xmlns:a16="http://schemas.microsoft.com/office/drawing/2014/main" id="{C1151810-C340-4B65-87D3-7C552E4F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43150"/>
            <a:ext cx="4381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3A3A"/>
          </a:solidFill>
          <a:ln xmlns:a="http://schemas.openxmlformats.org/drawingml/2006/main" w="9525">
            <a:solidFill>
              <a:srgbClr val="B93A3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82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5" name="risk-step-2">
            <a:extLst xmlns:a="http://schemas.openxmlformats.org/drawingml/2006/main">
              <a:ext uri="{FF2B5EF4-FFF2-40B4-BE49-F238E27FC236}">
                <a16:creationId xmlns:a16="http://schemas.microsoft.com/office/drawing/2014/main" id="{9ECF0E25-1C67-43E9-99BA-FE178173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2857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3A3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执行端没有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独立检查</a:t>
            </a:r>
          </a:p>
        </p:txBody>
      </p:sp>
      <p:sp>
        <p:nvSpPr>
          <p:cNvPr id="66" name="risk-number-2">
            <a:extLst xmlns:a="http://schemas.openxmlformats.org/drawingml/2006/main">
              <a:ext uri="{FF2B5EF4-FFF2-40B4-BE49-F238E27FC236}">
                <a16:creationId xmlns:a16="http://schemas.microsoft.com/office/drawing/2014/main" id="{D170DFB2-B750-4566-99D3-E7F438F2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43150"/>
            <a:ext cx="4381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3A3A"/>
          </a:solidFill>
          <a:ln xmlns:a="http://schemas.openxmlformats.org/drawingml/2006/main" w="9525">
            <a:solidFill>
              <a:srgbClr val="B93A3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82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7" name="risk-step-3">
            <a:extLst xmlns:a="http://schemas.openxmlformats.org/drawingml/2006/main">
              <a:ext uri="{FF2B5EF4-FFF2-40B4-BE49-F238E27FC236}">
                <a16:creationId xmlns:a16="http://schemas.microsoft.com/office/drawing/2014/main" id="{63D2B7EE-B21F-4CC1-971D-6C811ACE7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857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9EDEE"/>
          </a:solidFill>
          <a:ln xmlns:a="http://schemas.openxmlformats.org/drawingml/2006/main" w="19050">
            <a:solidFill>
              <a:srgbClr val="B93A3A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工具照样运行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真实动作发生</a:t>
            </a:r>
          </a:p>
        </p:txBody>
      </p:sp>
      <p:sp>
        <p:nvSpPr>
          <p:cNvPr id="68" name="risk-number-3">
            <a:extLst xmlns:a="http://schemas.openxmlformats.org/drawingml/2006/main">
              <a:ext uri="{FF2B5EF4-FFF2-40B4-BE49-F238E27FC236}">
                <a16:creationId xmlns:a16="http://schemas.microsoft.com/office/drawing/2014/main" id="{C8A44B56-CA0F-4FB2-93AC-3614D54F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43815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3A3A"/>
          </a:solidFill>
          <a:ln xmlns:a="http://schemas.openxmlformats.org/drawingml/2006/main" w="9525">
            <a:solidFill>
              <a:srgbClr val="B93A3A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982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cxnSp>
        <p:nvCxnSpPr>
          <p:cNvPr id="185" name="Straight Arrow Connector 146"/>
          <p:cNvCxnSpPr>
            <a:stCxn xmlns:a="http://schemas.openxmlformats.org/drawingml/2006/main" id="63" idx="3"/>
            <a:endCxn xmlns:a="http://schemas.openxmlformats.org/drawingml/2006/main" id="65" idx="1"/>
          </p:cNvCxnSpPr>
          <p:nvPr/>
        </p:nvCxnSpPr>
        <p:spPr>
          <a:xfrm xmlns:a="http://schemas.openxmlformats.org/drawingml/2006/main">
            <a:off x="3619500" y="31337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93A3A"/>
            </a:solidFill>
            <a:prstDash val="solid"/>
            <a:tailEnd type="triangle" w="sm" len="sm"/>
          </a:ln>
        </p:spPr>
      </p:cxnSp>
      <p:cxnSp>
        <p:nvCxnSpPr>
          <p:cNvPr id="186" name="Straight Arrow Connector 147"/>
          <p:cNvCxnSpPr>
            <a:stCxn xmlns:a="http://schemas.openxmlformats.org/drawingml/2006/main" id="65" idx="3"/>
            <a:endCxn xmlns:a="http://schemas.openxmlformats.org/drawingml/2006/main" id="67" idx="1"/>
          </p:cNvCxnSpPr>
          <p:nvPr/>
        </p:nvCxnSpPr>
        <p:spPr>
          <a:xfrm xmlns:a="http://schemas.openxmlformats.org/drawingml/2006/main">
            <a:off x="7143750" y="31337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B93A3A"/>
            </a:solidFill>
            <a:prstDash val="solid"/>
            <a:tailEnd type="triangle" w="sm" len="sm"/>
          </a:ln>
        </p:spPr>
      </p:cxnSp>
      <p:sp>
        <p:nvSpPr>
          <p:cNvPr id="71" name="execution-gate-label">
            <a:extLst xmlns:a="http://schemas.openxmlformats.org/drawingml/2006/main">
              <a:ext uri="{FF2B5EF4-FFF2-40B4-BE49-F238E27FC236}">
                <a16:creationId xmlns:a16="http://schemas.microsoft.com/office/drawing/2014/main" id="{85F55C4D-2AB2-47EE-9226-4BCE600F1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1381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正确做法</a:t>
            </a:r>
          </a:p>
        </p:txBody>
      </p:sp>
      <p:sp>
        <p:nvSpPr>
          <p:cNvPr id="72" name="execution-gate">
            <a:extLst xmlns:a="http://schemas.openxmlformats.org/drawingml/2006/main">
              <a:ext uri="{FF2B5EF4-FFF2-40B4-BE49-F238E27FC236}">
                <a16:creationId xmlns:a16="http://schemas.microsoft.com/office/drawing/2014/main" id="{D0E5BD08-A13F-4F1C-BA28-A56E218F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81450"/>
            <a:ext cx="9001125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真正执行前再次检查：身份 · 权限 · 参数 · 目标</a:t>
            </a:r>
          </a:p>
        </p:txBody>
      </p:sp>
      <p:sp>
        <p:nvSpPr>
          <p:cNvPr id="73" name="quote-background">
            <a:extLst xmlns:a="http://schemas.openxmlformats.org/drawingml/2006/main">
              <a:ext uri="{FF2B5EF4-FFF2-40B4-BE49-F238E27FC236}">
                <a16:creationId xmlns:a16="http://schemas.microsoft.com/office/drawing/2014/main" id="{363DCF82-F62E-4ACF-A096-6E7CEBA4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07823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quote">
            <a:extLst xmlns:a="http://schemas.openxmlformats.org/drawingml/2006/main">
              <a:ext uri="{FF2B5EF4-FFF2-40B4-BE49-F238E27FC236}">
                <a16:creationId xmlns:a16="http://schemas.microsoft.com/office/drawing/2014/main" id="{F369B8D2-A2E8-4396-AC6F-CB009CF6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1014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“authorize at execution, not at generation”</a:t>
            </a:r>
          </a:p>
        </p:txBody>
      </p:sp>
      <p:sp>
        <p:nvSpPr>
          <p:cNvPr id="75" name="quote-source">
            <a:extLst xmlns:a="http://schemas.openxmlformats.org/drawingml/2006/main">
              <a:ext uri="{FF2B5EF4-FFF2-40B4-BE49-F238E27FC236}">
                <a16:creationId xmlns:a16="http://schemas.microsoft.com/office/drawing/2014/main" id="{55E0476E-B94B-4B63-8824-AC1101FF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1014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378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在执行点授权，而不是在生成时假定已经授权</a:t>
            </a:r>
          </a:p>
        </p:txBody>
      </p:sp>
      <p:sp>
        <p:nvSpPr>
          <p:cNvPr id="76" name="security-close">
            <a:extLst xmlns:a="http://schemas.openxmlformats.org/drawingml/2006/main">
              <a:ext uri="{FF2B5EF4-FFF2-40B4-BE49-F238E27FC236}">
                <a16:creationId xmlns:a16="http://schemas.microsoft.com/office/drawing/2014/main" id="{91456300-CFD3-4996-B719-4C302CAD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974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B93A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3A3A"/>
                </a:solidFill>
                <a:latin typeface="Arial"/>
                <a:ea typeface="Arial"/>
                <a:cs typeface="Arial"/>
              </a:rPr>
              <a:t>不要把“模型看起来听话”当作“系统已经授权”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9ebc0c40d24b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0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726a908e245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1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674cc98e214b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864c65ce74c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282E3534-000A-41C2-BFDD-913771C1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回到 OPC：不是要不要自建，而是你是否需要改变这条边界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F936B20-9373-4E58-89E8-40C4B880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先问业务是否越过产品公开的接入口，再决定继续借，还是获得改变能力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9F49991-4E10-415A-9DF4-82C4A83F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2E283376-8C62-4B6F-BDF2-42758DD5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05050"/>
            <a:ext cx="9239250" cy="400050"/>
          </a:xfrm>
          <a:prstGeom xmlns:a="http://schemas.openxmlformats.org/drawingml/2006/main" prst="roundRect">
            <a:avLst>
              <a:gd name="adj" fmla="val 1904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</a:rPr>
              <a:t>我是否需要改变模型、工具、执行世界、门禁或项目知识组织？</a:t>
            </a:r>
          </a:p>
        </p:txBody>
      </p:sp>
      <p:sp>
        <p:nvSpPr>
          <p:cNvPr id="9" name="Straight Connector 8">
            <a:extLst xmlns:a="http://schemas.openxmlformats.org/drawingml/2006/main">
              <a:ext uri="{FF2B5EF4-FFF2-40B4-BE49-F238E27FC236}">
                <a16:creationId xmlns:a16="http://schemas.microsoft.com/office/drawing/2014/main" id="{72430FA5-4932-4B8E-A21D-6644C065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429000"/>
            <a:ext cx="857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1E71C6D-3058-4C95-8B38-37059BB0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3380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667085"/>
                </a:solidFill>
              </a:defRPr>
            </a:pPr>
            <a:r>
              <a:rPr sz="1800" b="1">
                <a:solidFill>
                  <a:srgbClr val="667085"/>
                </a:solidFill>
              </a:rPr>
              <a:t>不需要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47B0D11-0FFA-4DA8-9203-5A2459F9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33800"/>
            <a:ext cx="28575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667085"/>
                </a:solidFill>
              </a:defRPr>
            </a:pPr>
            <a:r>
              <a:rPr sz="1950" b="1">
                <a:solidFill>
                  <a:srgbClr val="667085"/>
                </a:solidFill>
              </a:rPr>
              <a:t>需要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53869A1A-9FE2-4230-A11F-BDE2524A2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91000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借现成 Harness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把注意力留给业务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9FE1348-EC33-46AB-8867-7B239678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0"/>
            <a:ext cx="28575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拥有改变边界的能力</a:t>
            </a:r>
          </a:p>
          <a:p xmlns:a="http://schemas.openxmlformats.org/drawingml/2006/main">
            <a:pPr algn="ctr"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再谈灵活 Harness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C1F29330-048A-4C64-B757-A23780F04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81625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这不是工具偏好，而是业务差异化是否进入真实执行路径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b45efda0984d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9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f2c841c5d45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0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cb80d24b64a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1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72c8db34544d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144E2FD-1D95-432B-AE20-F9A54523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Codex、Claude Code 已经很强：大多数 OPC 应直接借用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4A9C809-92C9-4166-88E3-CEDF6585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成熟 Harness 已把模型变成能工作的产品，而不只是一个会生成代码的模型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DD3A680-8D53-4259-B68D-1407D0B4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4A20A4E-A5CD-4577-8A13-6890D3092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762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它们已经替你做好</a:t>
            </a:r>
          </a:p>
          <a:p xmlns:a="http://schemas.openxmlformats.org/drawingml/2006/main">
            <a:r>
              <a:t/>
            </a:r>
            <a:endParaRPr sz="1500" b="0">
              <a:solidFill>
                <a:srgbClr val="1F2937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工具调用与上下文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沙箱、权限与执行记录</a:t>
            </a:r>
          </a:p>
          <a:p xmlns:a="http://schemas.openxmlformats.org/drawingml/2006/main">
            <a:pPr>
              <a:defRPr sz="1800"/>
            </a:pPr>
            <a:r>
              <a:rPr sz="1800"/>
              <a:t>验证与持续检查</a:t>
            </a:r>
            <a:endParaRPr sz="1500" b="0">
              <a:solidFill>
                <a:srgbClr val="1F2937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4C74F72-D5A0-4C2D-93BC-A8561A9DF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76250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所以，默认选择应该是</a:t>
            </a:r>
          </a:p>
          <a:p xmlns:a="http://schemas.openxmlformats.org/drawingml/2006/main">
            <a:r>
              <a:t/>
            </a:r>
            <a:endParaRPr sz="1500" b="0">
              <a:solidFill>
                <a:srgbClr val="1F2937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直接借现成 Harness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把稀缺注意力留给业务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634F322-B193-4868-B7FE-1629D219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0A4873B-D054-49D6-B96F-7FEE498E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问题不是它们够不够强，而是业务要改变它们的边界时怎么办？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240D5A47-746F-4607-9B04-5576484A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9590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>
                <a:solidFill>
                  <a:srgbClr val="D0D5DD"/>
                </a:solidFill>
              </a:defRPr>
            </a:pPr>
            <a:r>
              <a:rPr sz="975" b="0">
                <a:solidFill>
                  <a:srgbClr val="D0D5DD"/>
                </a:solidFill>
              </a:rPr>
              <a:t>Anthropic · Start with the simplest viable system.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A6B61E2-FC28-4981-BB34-C8DAC702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真正的转折从这里开始：边界是不是已经变成业务的一部分？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5424ff2004f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48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e5fd86a9647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49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012af15e04e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50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4a4ffab0e4d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B8A9CB5B-0DDD-4CA0-817A-43295221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现成 Harness 很强，但它的边界由产品定义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D02A81A-B243-4755-9866-5CD24B30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只有业务差异化越过公开接入口，新的问题才出现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48310DA-ACF2-4AB9-B43C-4B378DBED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B820A077-C6FA-488C-9BB8-57581B04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7C2FC547-8F31-4540-8E91-16021169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9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这时要改的不是一句 prompt，而是 Harness 的运行合同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50A6173A-248C-4FBA-8E1A-E687370E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975" b="0">
                <a:solidFill>
                  <a:srgbClr val="D0D5DD"/>
                </a:solidFill>
              </a:rPr>
              <a:t>P14 的执行时授权，就是不能靠加一句 prompt 解决的例子</a:t>
            </a:r>
          </a:p>
        </p:txBody>
      </p:sp>
      <p:sp>
        <p:nvSpPr>
          <p:cNvPr id="27" name="need-1">
            <a:extLst xmlns:a="http://schemas.openxmlformats.org/drawingml/2006/main">
              <a:ext uri="{FF2B5EF4-FFF2-40B4-BE49-F238E27FC236}">
                <a16:creationId xmlns:a16="http://schemas.microsoft.com/office/drawing/2014/main" id="{89FC6DBC-2D89-45C3-8617-92775CB0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9530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need-number-1">
            <a:extLst xmlns:a="http://schemas.openxmlformats.org/drawingml/2006/main">
              <a:ext uri="{FF2B5EF4-FFF2-40B4-BE49-F238E27FC236}">
                <a16:creationId xmlns:a16="http://schemas.microsoft.com/office/drawing/2014/main" id="{EDEA05D4-D376-4EAB-828F-249E2E43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90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9" name="need-heading-1">
            <a:extLst xmlns:a="http://schemas.openxmlformats.org/drawingml/2006/main">
              <a:ext uri="{FF2B5EF4-FFF2-40B4-BE49-F238E27FC236}">
                <a16:creationId xmlns:a16="http://schemas.microsoft.com/office/drawing/2014/main" id="{F4BFF754-3EFF-464B-821F-11A8A864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33625"/>
            <a:ext cx="404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换模型 / 接内部工具</a:t>
            </a:r>
          </a:p>
        </p:txBody>
      </p:sp>
      <p:sp>
        <p:nvSpPr>
          <p:cNvPr id="30" name="need-body-1">
            <a:extLst xmlns:a="http://schemas.openxmlformats.org/drawingml/2006/main">
              <a:ext uri="{FF2B5EF4-FFF2-40B4-BE49-F238E27FC236}">
                <a16:creationId xmlns:a16="http://schemas.microsoft.com/office/drawing/2014/main" id="{F380BDDF-2DFD-4E61-99E7-1B3F31DA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76525"/>
            <a:ext cx="404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产品没有对应接入口</a:t>
            </a:r>
          </a:p>
        </p:txBody>
      </p:sp>
      <p:sp>
        <p:nvSpPr>
          <p:cNvPr id="31" name="need-2">
            <a:extLst xmlns:a="http://schemas.openxmlformats.org/drawingml/2006/main">
              <a:ext uri="{FF2B5EF4-FFF2-40B4-BE49-F238E27FC236}">
                <a16:creationId xmlns:a16="http://schemas.microsoft.com/office/drawing/2014/main" id="{15D2A963-B369-47FF-90F7-E226CF97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49530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need-number-2">
            <a:extLst xmlns:a="http://schemas.openxmlformats.org/drawingml/2006/main">
              <a:ext uri="{FF2B5EF4-FFF2-40B4-BE49-F238E27FC236}">
                <a16:creationId xmlns:a16="http://schemas.microsoft.com/office/drawing/2014/main" id="{77860BEE-0CE0-41BE-B30B-D2EE0B6C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907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3" name="need-heading-2">
            <a:extLst xmlns:a="http://schemas.openxmlformats.org/drawingml/2006/main">
              <a:ext uri="{FF2B5EF4-FFF2-40B4-BE49-F238E27FC236}">
                <a16:creationId xmlns:a16="http://schemas.microsoft.com/office/drawing/2014/main" id="{DF5C5F07-BEC1-4C51-AFAB-BF2E4335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33625"/>
            <a:ext cx="404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换执行世界</a:t>
            </a:r>
          </a:p>
        </p:txBody>
      </p:sp>
      <p:sp>
        <p:nvSpPr>
          <p:cNvPr id="34" name="need-body-2">
            <a:extLst xmlns:a="http://schemas.openxmlformats.org/drawingml/2006/main">
              <a:ext uri="{FF2B5EF4-FFF2-40B4-BE49-F238E27FC236}">
                <a16:creationId xmlns:a16="http://schemas.microsoft.com/office/drawing/2014/main" id="{2539F1D8-1368-475D-A7FD-16253FFB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76525"/>
            <a:ext cx="404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进入专用沙箱或集群</a:t>
            </a:r>
          </a:p>
        </p:txBody>
      </p:sp>
      <p:sp>
        <p:nvSpPr>
          <p:cNvPr id="35" name="need-3">
            <a:extLst xmlns:a="http://schemas.openxmlformats.org/drawingml/2006/main">
              <a:ext uri="{FF2B5EF4-FFF2-40B4-BE49-F238E27FC236}">
                <a16:creationId xmlns:a16="http://schemas.microsoft.com/office/drawing/2014/main" id="{97DACF7E-E6B0-4368-B836-8BBBE457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49530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need-number-3">
            <a:extLst xmlns:a="http://schemas.openxmlformats.org/drawingml/2006/main">
              <a:ext uri="{FF2B5EF4-FFF2-40B4-BE49-F238E27FC236}">
                <a16:creationId xmlns:a16="http://schemas.microsoft.com/office/drawing/2014/main" id="{094E60DB-8D0F-46C9-A39E-5E76D20A7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7" name="need-heading-3">
            <a:extLst xmlns:a="http://schemas.openxmlformats.org/drawingml/2006/main">
              <a:ext uri="{FF2B5EF4-FFF2-40B4-BE49-F238E27FC236}">
                <a16:creationId xmlns:a16="http://schemas.microsoft.com/office/drawing/2014/main" id="{8FD41C1F-D6A8-447F-B973-902AD6F6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571875"/>
            <a:ext cx="404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把项目规则变成门禁</a:t>
            </a:r>
          </a:p>
        </p:txBody>
      </p:sp>
      <p:sp>
        <p:nvSpPr>
          <p:cNvPr id="38" name="need-body-3">
            <a:extLst xmlns:a="http://schemas.openxmlformats.org/drawingml/2006/main">
              <a:ext uri="{FF2B5EF4-FFF2-40B4-BE49-F238E27FC236}">
                <a16:creationId xmlns:a16="http://schemas.microsoft.com/office/drawing/2014/main" id="{19BC0155-7919-457F-BF62-16F876EBC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914775"/>
            <a:ext cx="404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错误必须在执行前被拦住</a:t>
            </a:r>
          </a:p>
        </p:txBody>
      </p:sp>
      <p:sp>
        <p:nvSpPr>
          <p:cNvPr id="39" name="need-4">
            <a:extLst xmlns:a="http://schemas.openxmlformats.org/drawingml/2006/main">
              <a:ext uri="{FF2B5EF4-FFF2-40B4-BE49-F238E27FC236}">
                <a16:creationId xmlns:a16="http://schemas.microsoft.com/office/drawing/2014/main" id="{A70D9D8C-951C-4C71-8223-8AF35F59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495300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need-number-4">
            <a:extLst xmlns:a="http://schemas.openxmlformats.org/drawingml/2006/main">
              <a:ext uri="{FF2B5EF4-FFF2-40B4-BE49-F238E27FC236}">
                <a16:creationId xmlns:a16="http://schemas.microsoft.com/office/drawing/2014/main" id="{6CD96A03-C989-44BB-8459-F1363147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29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1" name="need-heading-4">
            <a:extLst xmlns:a="http://schemas.openxmlformats.org/drawingml/2006/main">
              <a:ext uri="{FF2B5EF4-FFF2-40B4-BE49-F238E27FC236}">
                <a16:creationId xmlns:a16="http://schemas.microsoft.com/office/drawing/2014/main" id="{1A46D5FA-00B7-4397-97AC-71A53B26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71875"/>
            <a:ext cx="4048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改变执行链控制点</a:t>
            </a:r>
          </a:p>
        </p:txBody>
      </p:sp>
      <p:sp>
        <p:nvSpPr>
          <p:cNvPr id="42" name="need-body-4">
            <a:extLst xmlns:a="http://schemas.openxmlformats.org/drawingml/2006/main">
              <a:ext uri="{FF2B5EF4-FFF2-40B4-BE49-F238E27FC236}">
                <a16:creationId xmlns:a16="http://schemas.microsoft.com/office/drawing/2014/main" id="{C01E49F0-CB81-4861-91FD-8D25BF9C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14775"/>
            <a:ext cx="404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工具运行前再次独立授权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615b798ff447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7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555984cbd49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18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3efe569c74c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19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0d609d0a440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5CEB4E19-CCCF-4ECF-ADBE-4FEE9618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新的问题：能不能既借现成，又拥有改变边界的能力？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E66E19C0-FC4F-462F-9C7B-D126292C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OPC 需要的不是从零造框架，而是一个可组合的 Harness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48BD26E-D634-4BE8-9AD8-D62AE7B6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78D5E44-595A-4E32-BFB4-8433FADC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572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保留现成的成熟</a:t>
            </a:r>
          </a:p>
          <a:p xmlns:a="http://schemas.openxmlformats.org/drawingml/2006/main">
            <a:r>
              <a:t/>
            </a:r>
            <a:endParaRPr sz="1500" b="0">
              <a:solidFill>
                <a:srgbClr val="1F2937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模型 adapter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工具与技能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已经验证过的部件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00BDBCA-2E82-427B-9617-179F5E66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38375"/>
            <a:ext cx="45720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装入自己的差异</a:t>
            </a:r>
          </a:p>
          <a:p xmlns:a="http://schemas.openxmlformats.org/drawingml/2006/main">
            <a:r>
              <a:t/>
            </a:r>
            <a:endParaRPr sz="1500" b="0">
              <a:solidFill>
                <a:srgbClr val="1F2937"/>
              </a:solidFill>
            </a:endParaRP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内部模型与工具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F2937"/>
                </a:solidFill>
              </a:defRPr>
            </a:pPr>
            <a:r>
              <a:rPr sz="1800" b="0">
                <a:solidFill>
                  <a:srgbClr val="1F2937"/>
                </a:solidFill>
              </a:rPr>
              <a:t>执行后端</a:t>
            </a:r>
          </a:p>
          <a:p xmlns:a="http://schemas.openxmlformats.org/drawingml/2006/main">
            <a:pPr>
              <a:defRPr sz="1800"/>
            </a:pPr>
            <a:r>
              <a:rPr sz="1800"/>
              <a:t>知识与可执行门禁</a:t>
            </a:r>
            <a:endParaRPr sz="1500" b="0">
              <a:solidFill>
                <a:srgbClr val="1F2937"/>
              </a:solidFill>
            </a:endParaR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1FD5C45-F997-468C-941A-4CA7C7A0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67050"/>
            <a:ext cx="1333500" cy="438150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+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2A82E34-0170-40C5-9066-748C7550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95875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这就是 DeepSeek Harness（DSH）被需要的原因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5dd5983854b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201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f99cd8e43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202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0165fede247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20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ae729220f4a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6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1187CB-8715-40B3-AED3-AE46773C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DeepSeek Harness（DSH）：把改变边界变成“换部件”</a:t>
            </a:r>
          </a:p>
        </p:txBody>
      </p:sp>
      <p:sp>
        <p:nvSpPr>
          <p:cNvPr id="6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34E57DF-34BA-4128-8EE0-88D40EF1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它不是替代 Codex / Claude Code，而是在边界必须可控时提供另一种选择</a:t>
            </a:r>
          </a:p>
        </p:txBody>
      </p:sp>
      <p:sp>
        <p:nvSpPr>
          <p:cNvPr id="68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9B24902F-B67E-4AFB-B4ED-7518A2E7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active-label">
            <a:extLst xmlns:a="http://schemas.openxmlformats.org/drawingml/2006/main">
              <a:ext uri="{FF2B5EF4-FFF2-40B4-BE49-F238E27FC236}">
                <a16:creationId xmlns:a16="http://schemas.microsoft.com/office/drawing/2014/main" id="{14E39DD4-AB8F-40A6-ADB0-CDA7C694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782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57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26A78"/>
                </a:solidFill>
                <a:latin typeface="Arial"/>
                <a:ea typeface="Arial"/>
                <a:cs typeface="Arial"/>
              </a:rPr>
              <a:t>当前装着什么：可以替换</a:t>
            </a:r>
          </a:p>
        </p:txBody>
      </p:sp>
      <p:sp>
        <p:nvSpPr>
          <p:cNvPr id="70" name="dsh-plugin-1">
            <a:extLst xmlns:a="http://schemas.openxmlformats.org/drawingml/2006/main">
              <a:ext uri="{FF2B5EF4-FFF2-40B4-BE49-F238E27FC236}">
                <a16:creationId xmlns:a16="http://schemas.microsoft.com/office/drawing/2014/main" id="{16FC36F2-5315-4DAC-B5AD-298CFF3A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333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模型 adapter</a:t>
            </a:r>
          </a:p>
        </p:txBody>
      </p:sp>
      <p:sp>
        <p:nvSpPr>
          <p:cNvPr id="71" name="dsh-plugin-2">
            <a:extLst xmlns:a="http://schemas.openxmlformats.org/drawingml/2006/main">
              <a:ext uri="{FF2B5EF4-FFF2-40B4-BE49-F238E27FC236}">
                <a16:creationId xmlns:a16="http://schemas.microsoft.com/office/drawing/2014/main" id="{E98323BA-19CE-40B8-AE10-19E47B74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57450"/>
            <a:ext cx="2333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工具 / 门禁</a:t>
            </a:r>
          </a:p>
        </p:txBody>
      </p:sp>
      <p:sp>
        <p:nvSpPr>
          <p:cNvPr id="72" name="dsh-plugin-3">
            <a:extLst xmlns:a="http://schemas.openxmlformats.org/drawingml/2006/main">
              <a:ext uri="{FF2B5EF4-FFF2-40B4-BE49-F238E27FC236}">
                <a16:creationId xmlns:a16="http://schemas.microsoft.com/office/drawing/2014/main" id="{17B1C388-9D63-4D6D-BBE3-3C7FB7B9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57450"/>
            <a:ext cx="2333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能力后端</a:t>
            </a:r>
          </a:p>
        </p:txBody>
      </p:sp>
      <p:sp>
        <p:nvSpPr>
          <p:cNvPr id="73" name="dsh-plugin-4">
            <a:extLst xmlns:a="http://schemas.openxmlformats.org/drawingml/2006/main">
              <a:ext uri="{FF2B5EF4-FFF2-40B4-BE49-F238E27FC236}">
                <a16:creationId xmlns:a16="http://schemas.microsoft.com/office/drawing/2014/main" id="{95DAEC01-B598-4925-A4AE-FBC66ECD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457450"/>
            <a:ext cx="2333625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0273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02737"/>
                </a:solidFill>
                <a:latin typeface="Arial"/>
                <a:ea typeface="Arial"/>
                <a:cs typeface="Arial"/>
              </a:rPr>
              <a:t>默认 Loop</a:t>
            </a:r>
          </a:p>
        </p:txBody>
      </p:sp>
      <p:sp>
        <p:nvSpPr>
          <p:cNvPr id="74" name="dsh-runtime">
            <a:extLst xmlns:a="http://schemas.openxmlformats.org/drawingml/2006/main">
              <a:ext uri="{FF2B5EF4-FFF2-40B4-BE49-F238E27FC236}">
                <a16:creationId xmlns:a16="http://schemas.microsoft.com/office/drawing/2014/main" id="{843F84F0-26B0-43FD-8447-B14D15E6A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33750"/>
            <a:ext cx="8763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DSH 运行时：把可替换能力按合同装进来</a:t>
            </a:r>
          </a:p>
        </p:txBody>
      </p:sp>
      <p:cxnSp>
        <p:nvCxnSpPr>
          <p:cNvPr id="213" name="Elbow Connector 166"/>
          <p:cNvCxnSpPr>
            <a:stCxn xmlns:a="http://schemas.openxmlformats.org/drawingml/2006/main" id="70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1947863" y="3009900"/>
            <a:ext cx="4148138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214" name="Elbow Connector 167"/>
          <p:cNvCxnSpPr>
            <a:stCxn xmlns:a="http://schemas.openxmlformats.org/drawingml/2006/main" id="71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4662488" y="3009900"/>
            <a:ext cx="1433513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215" name="Elbow Connector 168"/>
          <p:cNvCxnSpPr>
            <a:stCxn xmlns:a="http://schemas.openxmlformats.org/drawingml/2006/main" id="72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6096000" y="3009900"/>
            <a:ext cx="1281113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cxnSp>
        <p:nvCxnSpPr>
          <p:cNvPr id="216" name="Elbow Connector 169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 flipH="1">
            <a:off x="6096000" y="3009900"/>
            <a:ext cx="3995738" cy="323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B8BEC8"/>
            </a:solidFill>
            <a:prstDash val="solid"/>
            <a:tailEnd type="triangle" w="sm" len="sm"/>
          </a:ln>
        </p:spPr>
      </p:cxnSp>
      <p:sp>
        <p:nvSpPr>
          <p:cNvPr id="79" name="session-log">
            <a:extLst xmlns:a="http://schemas.openxmlformats.org/drawingml/2006/main">
              <a:ext uri="{FF2B5EF4-FFF2-40B4-BE49-F238E27FC236}">
                <a16:creationId xmlns:a16="http://schemas.microsoft.com/office/drawing/2014/main" id="{102CE0CD-E2BD-4796-B566-A676A78C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67200"/>
            <a:ext cx="7239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Session log：每一次行动发生了什么，仍按顺序留下</a:t>
            </a:r>
          </a:p>
        </p:txBody>
      </p:sp>
      <p:cxnSp>
        <p:nvCxnSpPr>
          <p:cNvPr id="218" name="Straight Arrow Connector 171"/>
          <p:cNvCxnSpPr>
            <a:stCxn xmlns:a="http://schemas.openxmlformats.org/drawingml/2006/main" id="74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6096000" y="3924300"/>
            <a:ext cx="0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sp>
        <p:nvSpPr>
          <p:cNvPr id="81" name="log-label">
            <a:extLst xmlns:a="http://schemas.openxmlformats.org/drawingml/2006/main">
              <a:ext uri="{FF2B5EF4-FFF2-40B4-BE49-F238E27FC236}">
                <a16:creationId xmlns:a16="http://schemas.microsoft.com/office/drawing/2014/main" id="{A336EA11-672E-4336-A7BF-B9F17DBF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06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626A78"/>
                </a:solidFill>
                <a:latin typeface="Arial"/>
                <a:ea typeface="Arial"/>
                <a:cs typeface="Arial"/>
              </a:rPr>
              <a:t>已经发生什么：只追加，不因换插件而重写</a:t>
            </a:r>
          </a:p>
        </p:txBody>
      </p:sp>
      <p:sp>
        <p:nvSpPr>
          <p:cNvPr id="82" name="quote-background">
            <a:extLst xmlns:a="http://schemas.openxmlformats.org/drawingml/2006/main">
              <a:ext uri="{FF2B5EF4-FFF2-40B4-BE49-F238E27FC236}">
                <a16:creationId xmlns:a16="http://schemas.microsoft.com/office/drawing/2014/main" id="{528257E1-D239-483E-A6F7-7F6C80B5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43500"/>
            <a:ext cx="107823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3" name="quote">
            <a:extLst xmlns:a="http://schemas.openxmlformats.org/drawingml/2006/main">
              <a:ext uri="{FF2B5EF4-FFF2-40B4-BE49-F238E27FC236}">
                <a16:creationId xmlns:a16="http://schemas.microsoft.com/office/drawing/2014/main" id="{E618B42D-B738-4920-8699-AF354EAEF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1014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对 OPC：成熟的继续借，差异化的装进去</a:t>
            </a:r>
          </a:p>
        </p:txBody>
      </p:sp>
      <p:sp>
        <p:nvSpPr>
          <p:cNvPr id="84" name="quote-source">
            <a:extLst xmlns:a="http://schemas.openxmlformats.org/drawingml/2006/main">
              <a:ext uri="{FF2B5EF4-FFF2-40B4-BE49-F238E27FC236}">
                <a16:creationId xmlns:a16="http://schemas.microsoft.com/office/drawing/2014/main" id="{8AD4E67F-723F-4B6C-AB99-91E95E77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00700"/>
            <a:ext cx="1014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378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DSH：活插件图与持久 Session log 分工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0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c82d060b3e49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61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ee622ba4d46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62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9c80dc61b41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63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aecb22173541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74F2BB-831F-400F-AFB8-05392464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DSH 的组合方式：每一种变化都有明确接入口</a:t>
            </a:r>
          </a:p>
        </p:txBody>
      </p:sp>
      <p:sp>
        <p:nvSpPr>
          <p:cNvPr id="40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56B6CEC-E271-45F3-AD5D-902B16BF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可组合，不是随便改代码；是自己的能接入，现成的能复用</a:t>
            </a:r>
          </a:p>
        </p:txBody>
      </p:sp>
      <p:sp>
        <p:nvSpPr>
          <p:cNvPr id="41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2AB38078-8304-4034-A9F5-F199B311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extension-1">
            <a:extLst xmlns:a="http://schemas.openxmlformats.org/drawingml/2006/main">
              <a:ext uri="{FF2B5EF4-FFF2-40B4-BE49-F238E27FC236}">
                <a16:creationId xmlns:a16="http://schemas.microsoft.com/office/drawing/2014/main" id="{1D8F1106-7DDA-4018-A32A-8805FD6D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5143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extension-heading-1">
            <a:extLst xmlns:a="http://schemas.openxmlformats.org/drawingml/2006/main">
              <a:ext uri="{FF2B5EF4-FFF2-40B4-BE49-F238E27FC236}">
                <a16:creationId xmlns:a16="http://schemas.microsoft.com/office/drawing/2014/main" id="{23E8B89B-53E5-435F-9003-473E2B0A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860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模型 → adapter</a:t>
            </a:r>
          </a:p>
        </p:txBody>
      </p:sp>
      <p:sp>
        <p:nvSpPr>
          <p:cNvPr id="44" name="extension-body-1">
            <a:extLst xmlns:a="http://schemas.openxmlformats.org/drawingml/2006/main">
              <a:ext uri="{FF2B5EF4-FFF2-40B4-BE49-F238E27FC236}">
                <a16:creationId xmlns:a16="http://schemas.microsoft.com/office/drawing/2014/main" id="{B29AF623-6CB7-45F1-B01C-DD10FCCB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9080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59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把不同模型协议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转换成统一接口</a:t>
            </a:r>
          </a:p>
        </p:txBody>
      </p:sp>
      <p:sp>
        <p:nvSpPr>
          <p:cNvPr id="45" name="extension-2">
            <a:extLst xmlns:a="http://schemas.openxmlformats.org/drawingml/2006/main">
              <a:ext uri="{FF2B5EF4-FFF2-40B4-BE49-F238E27FC236}">
                <a16:creationId xmlns:a16="http://schemas.microsoft.com/office/drawing/2014/main" id="{1ABF8853-5B4C-4788-87DB-13C89604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190750"/>
            <a:ext cx="5143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extension-heading-2">
            <a:extLst xmlns:a="http://schemas.openxmlformats.org/drawingml/2006/main">
              <a:ext uri="{FF2B5EF4-FFF2-40B4-BE49-F238E27FC236}">
                <a16:creationId xmlns:a16="http://schemas.microsoft.com/office/drawing/2014/main" id="{E519C0F9-DD9B-4265-93FF-6E82CF29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2860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工具 → tools registry</a:t>
            </a:r>
          </a:p>
        </p:txBody>
      </p:sp>
      <p:sp>
        <p:nvSpPr>
          <p:cNvPr id="47" name="extension-body-2">
            <a:extLst xmlns:a="http://schemas.openxmlformats.org/drawingml/2006/main">
              <a:ext uri="{FF2B5EF4-FFF2-40B4-BE49-F238E27FC236}">
                <a16:creationId xmlns:a16="http://schemas.microsoft.com/office/drawing/2014/main" id="{7DD9B057-2D38-497E-B6AC-B6B06F95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59080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59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登记后自动进入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模型可见的工具清单</a:t>
            </a:r>
          </a:p>
        </p:txBody>
      </p:sp>
      <p:sp>
        <p:nvSpPr>
          <p:cNvPr id="48" name="extension-3">
            <a:extLst xmlns:a="http://schemas.openxmlformats.org/drawingml/2006/main">
              <a:ext uri="{FF2B5EF4-FFF2-40B4-BE49-F238E27FC236}">
                <a16:creationId xmlns:a16="http://schemas.microsoft.com/office/drawing/2014/main" id="{171C104B-F5C6-4932-82DE-416138B3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5143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extension-heading-3">
            <a:extLst xmlns:a="http://schemas.openxmlformats.org/drawingml/2006/main">
              <a:ext uri="{FF2B5EF4-FFF2-40B4-BE49-F238E27FC236}">
                <a16:creationId xmlns:a16="http://schemas.microsoft.com/office/drawing/2014/main" id="{56CFAD58-4A89-4EFB-AA09-2093BEDC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4290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后端 → capability seam</a:t>
            </a:r>
          </a:p>
        </p:txBody>
      </p:sp>
      <p:sp>
        <p:nvSpPr>
          <p:cNvPr id="50" name="extension-body-3">
            <a:extLst xmlns:a="http://schemas.openxmlformats.org/drawingml/2006/main">
              <a:ext uri="{FF2B5EF4-FFF2-40B4-BE49-F238E27FC236}">
                <a16:creationId xmlns:a16="http://schemas.microsoft.com/office/drawing/2014/main" id="{6DA052A6-F726-477B-B831-5896DF6F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73380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59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调用方式不变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只换背后的实现</a:t>
            </a:r>
          </a:p>
        </p:txBody>
      </p:sp>
      <p:sp>
        <p:nvSpPr>
          <p:cNvPr id="51" name="extension-4">
            <a:extLst xmlns:a="http://schemas.openxmlformats.org/drawingml/2006/main">
              <a:ext uri="{FF2B5EF4-FFF2-40B4-BE49-F238E27FC236}">
                <a16:creationId xmlns:a16="http://schemas.microsoft.com/office/drawing/2014/main" id="{BE4F8065-BC3D-4C8F-843B-C08EDD53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33750"/>
            <a:ext cx="5143500" cy="9144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extension-heading-4">
            <a:extLst xmlns:a="http://schemas.openxmlformats.org/drawingml/2006/main">
              <a:ext uri="{FF2B5EF4-FFF2-40B4-BE49-F238E27FC236}">
                <a16:creationId xmlns:a16="http://schemas.microsoft.com/office/drawing/2014/main" id="{27E3E698-88E1-4048-AFB2-2B412083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29000"/>
            <a:ext cx="480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63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本次组合 → profile / plugin</a:t>
            </a:r>
          </a:p>
        </p:txBody>
      </p:sp>
      <p:sp>
        <p:nvSpPr>
          <p:cNvPr id="53" name="extension-body-4">
            <a:extLst xmlns:a="http://schemas.openxmlformats.org/drawingml/2006/main">
              <a:ext uri="{FF2B5EF4-FFF2-40B4-BE49-F238E27FC236}">
                <a16:creationId xmlns:a16="http://schemas.microsoft.com/office/drawing/2014/main" id="{1850AA84-52D3-4EB7-914D-BDF0CCAA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33800"/>
            <a:ext cx="4800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659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决定这次启动</a:t>
            </a:r>
          </a:p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实际装入什么</a:t>
            </a:r>
          </a:p>
        </p:txBody>
      </p:sp>
      <p:sp>
        <p:nvSpPr>
          <p:cNvPr id="54" name="own-vs-borrow">
            <a:extLst xmlns:a="http://schemas.openxmlformats.org/drawingml/2006/main">
              <a:ext uri="{FF2B5EF4-FFF2-40B4-BE49-F238E27FC236}">
                <a16:creationId xmlns:a16="http://schemas.microsoft.com/office/drawing/2014/main" id="{6070D37D-07A9-4D8A-A669-78151B9C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24375"/>
            <a:ext cx="9144000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装自己的：接入新的 adapter / provider       借现成的：复用兼容实现</a:t>
            </a:r>
          </a:p>
        </p:txBody>
      </p:sp>
      <p:sp>
        <p:nvSpPr>
          <p:cNvPr id="55" name="slide20-callout">
            <a:extLst xmlns:a="http://schemas.openxmlformats.org/drawingml/2006/main">
              <a:ext uri="{FF2B5EF4-FFF2-40B4-BE49-F238E27FC236}">
                <a16:creationId xmlns:a16="http://schemas.microsoft.com/office/drawing/2014/main" id="{5FEDAD16-19B4-4E7A-B0F9-540564C6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86375"/>
            <a:ext cx="107823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加模型、加工具、换后端，都不必重写默认 Loop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8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47ea4f86244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109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86cd367184b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110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612290acb46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111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ea798d48249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F084A818-FBCD-49FC-AACD-F5F79EE5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DSH 的另一层价值：把“写给人看的规则”变成真实执行门禁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C321B43-121A-40EB-B6FB-E019D34D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67085"/>
                </a:solidFill>
              </a:defRPr>
            </a:pPr>
            <a:r>
              <a:rPr sz="1725" b="0">
                <a:solidFill>
                  <a:srgbClr val="667085"/>
                </a:solidFill>
              </a:rPr>
              <a:t>文档指出正确道路；门禁负责在真实路径上阻止错误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0076CAB-7FB0-4589-8AE9-651B39D9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16611547-DB1F-439E-A41C-441873A7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782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A20A318D-C522-45D3-BC15-2946FC5D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52675"/>
            <a:ext cx="10144125" cy="323850"/>
          </a:xfrm>
          <a:prstGeom xmlns:a="http://schemas.openxmlformats.org/drawingml/2006/main" prst="roundRect">
            <a:avLst>
              <a:gd name="adj" fmla="val 235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“Agent 更可靠地遵守系统门禁，而不是文字约定。”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E825DE6-67C0-426E-A601-C48D617D3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10144125" cy="171450"/>
          </a:xfrm>
          <a:prstGeom xmlns:a="http://schemas.openxmlformats.org/drawingml/2006/main" prst="roundRect">
            <a:avLst>
              <a:gd name="adj" fmla="val 4444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D0D5DD"/>
                </a:solidFill>
              </a:defRPr>
            </a:pPr>
            <a:r>
              <a:rPr sz="975" b="0">
                <a:solidFill>
                  <a:srgbClr val="D0D5DD"/>
                </a:solidFill>
              </a:rPr>
              <a:t>DSH Harness philosophy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E7FA2AA6-F310-4EA7-82D5-D2205358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667125"/>
            <a:ext cx="2381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把规则写成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可检查的承诺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0DB9FCCE-D973-42B3-AC3A-5583AA29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667125"/>
            <a:ext cx="2381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检查失败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就阻止执行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7477249-8D3A-4A94-8DBB-371A1530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67125"/>
            <a:ext cx="2381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11827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接入 CI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进入真实执行路径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724FE35-1EF9-4451-A3CD-D3C88644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72000"/>
            <a:ext cx="8763000" cy="285750"/>
          </a:xfrm>
          <a:prstGeom xmlns:a="http://schemas.openxmlformats.org/drawingml/2006/main" prst="roundRect">
            <a:avLst>
              <a:gd name="adj" fmla="val 2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667085"/>
                </a:solidFill>
              </a:defRPr>
            </a:pPr>
            <a:r>
              <a:rPr sz="1800" b="0">
                <a:solidFill>
                  <a:srgbClr val="667085"/>
                </a:solidFill>
              </a:rPr>
              <a:t>先检查，再允许真正执行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BDD96AF-E6C1-499E-B2E8-C4A2DECE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38750"/>
            <a:ext cx="10782300" cy="41910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11827"/>
                </a:solidFill>
              </a:defRPr>
            </a:pPr>
            <a:r>
              <a:rPr sz="1950" b="1">
                <a:solidFill>
                  <a:srgbClr val="111827"/>
                </a:solidFill>
              </a:rPr>
              <a:t>这正是 OPC 需要掌握到 Harness 边界的原因</a:t>
            </a:r>
          </a:p>
        </p:txBody>
      </p:sp>
      <p:cxnSp>
        <p:nvCxnSpPr>
          <p:cNvPr id="123" name="Straight Arrow Connector 80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952875" y="397668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  <p:cxnSp>
        <p:nvCxnSpPr>
          <p:cNvPr id="124" name="Straight Arrow Connector 81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286625" y="397668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1423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1" name="图片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2484d71e7644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0" y="323850"/>
            <a:ext cx="1929575" cy="341376"/>
          </a:xfrm>
          <a:prstGeom xmlns:a="http://schemas.openxmlformats.org/drawingml/2006/main" prst="rect">
            <a:avLst/>
          </a:prstGeom>
        </p:spPr>
      </p:pic>
      <p:pic>
        <p:nvPicPr>
          <p:cNvPr id="72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9a09dc545841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257175"/>
            <a:ext cx="791210" cy="527622"/>
          </a:xfrm>
          <a:prstGeom xmlns:a="http://schemas.openxmlformats.org/drawingml/2006/main" prst="rect">
            <a:avLst/>
          </a:prstGeom>
        </p:spPr>
      </p:pic>
      <p:pic>
        <p:nvPicPr>
          <p:cNvPr id="7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61c1cdbce49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133350"/>
            <a:ext cx="1171702" cy="683641"/>
          </a:xfrm>
          <a:prstGeom xmlns:a="http://schemas.openxmlformats.org/drawingml/2006/main" prst="rect">
            <a:avLst/>
          </a:prstGeom>
        </p:spPr>
      </p:pic>
      <p:pic>
        <p:nvPicPr>
          <p:cNvPr id="74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0eadd719748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33350"/>
            <a:ext cx="838327" cy="1186371"/>
          </a:xfrm>
          <a:prstGeom xmlns:a="http://schemas.openxmlformats.org/drawingml/2006/main" prst="rect">
            <a:avLst/>
          </a:prstGeom>
        </p:spPr>
      </p:pic>
      <p:sp>
        <p:nvSpPr>
          <p:cNvPr id="4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DF017CF-FDBC-401D-AD5B-AF816ED4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7719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OPC 要掌握到哪一步？先借现成，直到业务要求你改变边界</a:t>
            </a:r>
          </a:p>
        </p:txBody>
      </p:sp>
      <p:sp>
        <p:nvSpPr>
          <p:cNvPr id="49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0B66B34-9DD2-4D98-A87A-6788DAA3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626A78"/>
                </a:solidFill>
                <a:latin typeface="Arial"/>
                <a:ea typeface="Arial"/>
                <a:cs typeface="Arial"/>
              </a:rPr>
              <a:t>五个 Engineering 让动作不断上移；Harness 决定动作能否可靠落地</a:t>
            </a:r>
          </a:p>
        </p:txBody>
      </p:sp>
      <p:sp>
        <p:nvSpPr>
          <p:cNvPr id="50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139CB90F-7221-4D9C-BF46-AF3C6E4D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64770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dsh-definition">
            <a:extLst xmlns:a="http://schemas.openxmlformats.org/drawingml/2006/main">
              <a:ext uri="{FF2B5EF4-FFF2-40B4-BE49-F238E27FC236}">
                <a16:creationId xmlns:a16="http://schemas.microsoft.com/office/drawing/2014/main" id="{543687FA-F963-4F9A-9768-B3B15700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10287000" cy="5905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DSH（DeepSeek Harness）= 把模型、工具、执行后端和门禁做成可替换组合的 Harness</a:t>
            </a:r>
          </a:p>
        </p:txBody>
      </p:sp>
      <p:sp>
        <p:nvSpPr>
          <p:cNvPr id="52" name="takeaway-1">
            <a:extLst xmlns:a="http://schemas.openxmlformats.org/drawingml/2006/main">
              <a:ext uri="{FF2B5EF4-FFF2-40B4-BE49-F238E27FC236}">
                <a16:creationId xmlns:a16="http://schemas.microsoft.com/office/drawing/2014/main" id="{0B691603-72B5-4062-8BD6-A4AB7671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takeaway-number-1">
            <a:extLst xmlns:a="http://schemas.openxmlformats.org/drawingml/2006/main">
              <a:ext uri="{FF2B5EF4-FFF2-40B4-BE49-F238E27FC236}">
                <a16:creationId xmlns:a16="http://schemas.microsoft.com/office/drawing/2014/main" id="{7AD8864A-D747-402A-9073-139FAD3E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4" name="takeaway-heading-1">
            <a:extLst xmlns:a="http://schemas.openxmlformats.org/drawingml/2006/main">
              <a:ext uri="{FF2B5EF4-FFF2-40B4-BE49-F238E27FC236}">
                <a16:creationId xmlns:a16="http://schemas.microsoft.com/office/drawing/2014/main" id="{D2402E29-395C-4DFA-820B-3379542F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先借现成</a:t>
            </a:r>
          </a:p>
        </p:txBody>
      </p:sp>
      <p:sp>
        <p:nvSpPr>
          <p:cNvPr id="55" name="takeaway-body-1">
            <a:extLst xmlns:a="http://schemas.openxmlformats.org/drawingml/2006/main">
              <a:ext uri="{FF2B5EF4-FFF2-40B4-BE49-F238E27FC236}">
                <a16:creationId xmlns:a16="http://schemas.microsoft.com/office/drawing/2014/main" id="{2B287E18-333E-4655-96FE-D9BE1E691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常见任务，复用成熟 Harness</a:t>
            </a:r>
          </a:p>
        </p:txBody>
      </p:sp>
      <p:sp>
        <p:nvSpPr>
          <p:cNvPr id="56" name="takeaway-2">
            <a:extLst xmlns:a="http://schemas.openxmlformats.org/drawingml/2006/main">
              <a:ext uri="{FF2B5EF4-FFF2-40B4-BE49-F238E27FC236}">
                <a16:creationId xmlns:a16="http://schemas.microsoft.com/office/drawing/2014/main" id="{5AA9A7F8-FF33-416C-8855-E26644308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takeaway-number-2">
            <a:extLst xmlns:a="http://schemas.openxmlformats.org/drawingml/2006/main">
              <a:ext uri="{FF2B5EF4-FFF2-40B4-BE49-F238E27FC236}">
                <a16:creationId xmlns:a16="http://schemas.microsoft.com/office/drawing/2014/main" id="{CEA2DDC5-2905-4DC7-AF90-2FDC27F0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8" name="takeaway-heading-2">
            <a:extLst xmlns:a="http://schemas.openxmlformats.org/drawingml/2006/main">
              <a:ext uri="{FF2B5EF4-FFF2-40B4-BE49-F238E27FC236}">
                <a16:creationId xmlns:a16="http://schemas.microsoft.com/office/drawing/2014/main" id="{47E6827D-F20D-4FDE-89F1-8315B2AF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看懂边界</a:t>
            </a:r>
          </a:p>
        </p:txBody>
      </p:sp>
      <p:sp>
        <p:nvSpPr>
          <p:cNvPr id="59" name="takeaway-body-2">
            <a:extLst xmlns:a="http://schemas.openxmlformats.org/drawingml/2006/main">
              <a:ext uri="{FF2B5EF4-FFF2-40B4-BE49-F238E27FC236}">
                <a16:creationId xmlns:a16="http://schemas.microsoft.com/office/drawing/2014/main" id="{9E1EC817-E921-4159-9B2F-0B994125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谁能做、谁检查、哪里留记录</a:t>
            </a:r>
          </a:p>
        </p:txBody>
      </p:sp>
      <p:sp>
        <p:nvSpPr>
          <p:cNvPr id="60" name="takeaway-3">
            <a:extLst xmlns:a="http://schemas.openxmlformats.org/drawingml/2006/main">
              <a:ext uri="{FF2B5EF4-FFF2-40B4-BE49-F238E27FC236}">
                <a16:creationId xmlns:a16="http://schemas.microsoft.com/office/drawing/2014/main" id="{9C0DFFCB-44AE-420E-8EA2-BE8ED7CE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43250"/>
            <a:ext cx="3429000" cy="1285875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8BEC8"/>
            </a:solidFill>
            <a:prstDash val="solid"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takeaway-number-3">
            <a:extLst xmlns:a="http://schemas.openxmlformats.org/drawingml/2006/main">
              <a:ext uri="{FF2B5EF4-FFF2-40B4-BE49-F238E27FC236}">
                <a16:creationId xmlns:a16="http://schemas.microsoft.com/office/drawing/2014/main" id="{96D7359F-3B33-47B8-8510-583890A4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2861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1423"/>
          </a:solidFill>
          <a:ln xmlns:a="http://schemas.openxmlformats.org/drawingml/2006/main" w="9525">
            <a:solidFill>
              <a:srgbClr val="0F1423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2" name="takeaway-heading-3">
            <a:extLst xmlns:a="http://schemas.openxmlformats.org/drawingml/2006/main">
              <a:ext uri="{FF2B5EF4-FFF2-40B4-BE49-F238E27FC236}">
                <a16:creationId xmlns:a16="http://schemas.microsoft.com/office/drawing/2014/main" id="{15ED2356-D226-4D09-BA9B-CCFC19F1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F142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F1423"/>
                </a:solidFill>
                <a:latin typeface="Arial"/>
                <a:ea typeface="Arial"/>
                <a:cs typeface="Arial"/>
              </a:rPr>
              <a:t>必要时改变</a:t>
            </a:r>
          </a:p>
        </p:txBody>
      </p:sp>
      <p:sp>
        <p:nvSpPr>
          <p:cNvPr id="63" name="takeaway-body-3">
            <a:extLst xmlns:a="http://schemas.openxmlformats.org/drawingml/2006/main">
              <a:ext uri="{FF2B5EF4-FFF2-40B4-BE49-F238E27FC236}">
                <a16:creationId xmlns:a16="http://schemas.microsoft.com/office/drawing/2014/main" id="{B26DC81A-2BCF-4AC4-98B0-0082D262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6766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626A78"/>
                </a:solidFill>
                <a:latin typeface="Arial"/>
                <a:ea typeface="Arial"/>
                <a:cs typeface="Arial"/>
              </a:defRPr>
            </a:pPr>
            <a:r>
              <a:rPr sz="1800">
                <a:solidFill>
                  <a:srgbClr val="626A78"/>
                </a:solidFill>
                <a:latin typeface="Arial"/>
                <a:ea typeface="Arial"/>
                <a:cs typeface="Arial"/>
              </a:rPr>
              <a:t>差异化进入执行链时，替换对应能力</a:t>
            </a:r>
          </a:p>
        </p:txBody>
      </p:sp>
      <p:sp>
        <p:nvSpPr>
          <p:cNvPr id="64" name="quote-background">
            <a:extLst xmlns:a="http://schemas.openxmlformats.org/drawingml/2006/main">
              <a:ext uri="{FF2B5EF4-FFF2-40B4-BE49-F238E27FC236}">
                <a16:creationId xmlns:a16="http://schemas.microsoft.com/office/drawing/2014/main" id="{6D4D03E7-156A-4CA8-AA6A-DE2B9B0C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57750"/>
            <a:ext cx="107823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0">
            <a:solidFill>
              <a:srgbClr val="0F142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quote">
            <a:extLst xmlns:a="http://schemas.openxmlformats.org/drawingml/2006/main">
              <a:ext uri="{FF2B5EF4-FFF2-40B4-BE49-F238E27FC236}">
                <a16:creationId xmlns:a16="http://schemas.microsoft.com/office/drawing/2014/main" id="{2FACF421-D639-40A9-A536-CD01564B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0"/>
            <a:ext cx="10144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“装自己的，借现成的”</a:t>
            </a:r>
          </a:p>
        </p:txBody>
      </p:sp>
      <p:sp>
        <p:nvSpPr>
          <p:cNvPr id="66" name="quote-source">
            <a:extLst xmlns:a="http://schemas.openxmlformats.org/drawingml/2006/main">
              <a:ext uri="{FF2B5EF4-FFF2-40B4-BE49-F238E27FC236}">
                <a16:creationId xmlns:a16="http://schemas.microsoft.com/office/drawing/2014/main" id="{9D161A0B-18A7-4F80-B028-3F446CF3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14950"/>
            <a:ext cx="10144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378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一人公司的 Harness 原则</a:t>
            </a:r>
          </a:p>
        </p:txBody>
      </p:sp>
    </p:spTree>
    <p:extLst>
      <p:ext uri="{BB962C8B-B14F-4D97-AF65-F5344CB8AC3E}">
        <p14:creationId xmlns:p14="http://schemas.microsoft.com/office/powerpoint/2010/main" val="945945948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c219e1c1240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5" y="0"/>
            <a:ext cx="12191365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FD37E421-4BCF-4EC7-B5A4-7F06A4971C3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51940" y="3279140"/>
            <a:ext cx="9144000" cy="960120"/>
          </a:xfrm>
        </p:spPr>
        <p:txBody>
          <a:bodyPr xmlns:a="http://schemas.openxmlformats.org/drawingml/2006/main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谢谢</a:t>
            </a:r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ctr">
              <a:buNone/>
              <a:defRPr sz="3450" b="1">
                <a:solidFill>
                  <a:srgbClr val="111827"/>
                </a:solidFill>
              </a:defRPr>
            </a:pPr>
            <a:r>
              <a:rPr sz="3450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装自己的，借现成的</a:t>
            </a:r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endParaRPr sz="5335">
              <a:solidFill>
                <a:srgbClr val="C00000"/>
              </a:solidFill>
              <a:latin typeface="+mj-ea"/>
              <a:ea typeface="+mj-ea"/>
              <a:cs typeface="+mj-ea"/>
            </a:endParaRPr>
          </a:p>
          <a:p xmlns:a="http://schemas.openxmlformats.org/drawingml/2006/main">
            <a:pPr algn="ctr">
              <a:buNone/>
              <a:defRPr sz="3450" b="1">
                <a:solidFill>
                  <a:srgbClr val="111827"/>
                </a:solidFill>
              </a:defRPr>
            </a:pPr>
            <a:r>
              <a:rPr sz="2200" b="1">
                <a:solidFill>
                  <a:srgbClr val="111827"/>
                </a:solidFill>
                <a:latin typeface="+mj-ea"/>
                <a:ea typeface="+mj-ea"/>
                <a:cs typeface="+mj-ea"/>
              </a:rPr>
              <a:t>Ethan Jiang</a:t>
            </a:r>
            <a:endParaRPr sz="2200">
              <a:solidFill>
                <a:srgbClr val="C00000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2" name="图片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70a84ad534b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92590" y="321310"/>
            <a:ext cx="2756535" cy="487680"/>
          </a:xfrm>
          <a:prstGeom xmlns:a="http://schemas.openxmlformats.org/drawingml/2006/main" prst="rect">
            <a:avLst/>
          </a:prstGeom>
        </p:spPr>
      </p:pic>
      <p:pic>
        <p:nvPicPr>
          <p:cNvPr id="13" name="图片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f2f8a8ab8045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5910" y="187960"/>
            <a:ext cx="1130300" cy="753745"/>
          </a:xfrm>
          <a:prstGeom xmlns:a="http://schemas.openxmlformats.org/drawingml/2006/main" prst="rect">
            <a:avLst/>
          </a:prstGeom>
        </p:spPr>
      </p:pic>
      <p:pic>
        <p:nvPicPr>
          <p:cNvPr id="14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7622138cf4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5560" y="76835"/>
            <a:ext cx="1673860" cy="976630"/>
          </a:xfrm>
          <a:prstGeom xmlns:a="http://schemas.openxmlformats.org/drawingml/2006/main" prst="rect">
            <a:avLst/>
          </a:prstGeom>
        </p:spPr>
      </p:pic>
      <p:pic>
        <p:nvPicPr>
          <p:cNvPr id="15" name="图片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f5f961ec541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551940" y="0"/>
            <a:ext cx="1197610" cy="16948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9286"/>
      </p:ext>
    </p:extLst>
  </p:cSld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2026-08-27T03:07:33.2700000Z</dcterms:created>
  <dcterms:modified xsi:type="dcterms:W3CDTF">2026-08-27T03:07:33.2700000Z</dcterms:modified>
</coreProperties>
</file>