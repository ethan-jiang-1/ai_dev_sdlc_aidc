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Replace agenda with the three questions the talk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One engine, five outcomes; do not imply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Introduce Harness without prematurely inserting the security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Recover the minimal harness from P5.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Storyline basis: talk-ai-coding-evolution/01_storyline/00-storyline-map.md.</a:t>
            </a:r>
          </a:p>
          <a:p>
            <a:r>
              <a:t>Knowledge Map basis: talk-ai-coding-evolution/_reference/rawdata_dsh-faq-on-digested/07_borrowing-harness-idea/answer.md.</a:t>
            </a:r>
          </a:p>
          <a:p>
            <a:endParaRPr/>
          </a:p>
          <a:p>
            <a:r>
              <a:t>The fourth verb extends reliability into professional understanding: make the domain map, ownership, and correct paths explicit instead of burying them in one large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Explain dependency without reverting to a geometric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The Hacker News, 'AWS, Google, and Vercel Agent Flaws Let Attackers Trigger Tools Without Running the Model,' 2026-08-06.</a:t>
            </a:r>
          </a:p>
          <a:p>
            <a:r>
              <a:t>https://thehackernews.com/2026/08/aws-google-and-vercel-patch-agent-flaws.html</a:t>
            </a:r>
          </a:p>
          <a:p>
            <a:r>
              <a:t>Local evidence summary: talk-ai-coding-evolution/_reference/rawdata_ai-coding-evolution-final/final_v4/03-2026-harness-era.md.</a:t>
            </a:r>
          </a:p>
          <a:p>
            <a:endParaRPr/>
          </a:p>
          <a:p>
            <a:r>
              <a:t>Concrete example: an authenticated caller could place a tool-use content block at the end of an Amazon Bedrock AgentCore InvokeHarness request. The event loop could dispatch that tool without a model turn. The managed service fix rejects caller-supplied tool-use blocks before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Narrative and OPC decision criterion are supplied by the user feedback and talk-ai-coding-evolution/01_storyline/00-storyline-map.md.</a:t>
            </a:r>
          </a:p>
          <a:p>
            <a:endParaRPr/>
          </a:p>
          <a:p>
            <a:r>
              <a:t>Ask for recognition before presenting the decision: tool sprawl, repeated switching, and scattered knowledge/practice are the pain that can make a shared Harness boundary economically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Fairly state the value of ready-made harnesses.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GitHub REST API, deepseek-ai/deepseek-harness, captured 2026-08-27: https://api.github.com/repos/deepseek-ai/deepseek-harness</a:t>
            </a:r>
          </a:p>
          <a:p>
            <a:r>
              <a:t>talk-ai-coding-evolution/_reference/rawdata_dsh-plugin-ecosystem-distribution/answer.md (2026-08-27 snapshot, 2,286 entries)</a:t>
            </a:r>
          </a:p>
          <a:p>
            <a:endParaRPr/>
          </a:p>
          <a:p>
            <a:r>
              <a:t>Read the stars and ecosystem count as attention and extensibility signals, not as plugin-quality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talk-ai-coding-evolution/_reference/rawdata_dsh-plugin-business-ladder/answer.md</a:t>
            </a:r>
          </a:p>
          <a:p>
            <a:endParaRPr/>
          </a:p>
          <a:p>
            <a:r>
              <a:t>For a self-using owner, the three benefits are: save manual effort, dare to delegate, and reuse proven combinations. Do not turn this into a market or enterprise-governance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talk-ai-coding-evolution/_reference/rawdata_dsh-digested/system/00-map.md</a:t>
            </a:r>
          </a:p>
          <a:p>
            <a:r>
              <a:t>talk-ai-coding-evolution/_reference/rawdata_dsh-faq-on-digested/01_repository-organization/answer.md</a:t>
            </a:r>
          </a:p>
          <a:p>
            <a:endParaRPr/>
          </a:p>
          <a:p>
            <a:r>
              <a:t>Everything-is-a-plugin does not mean the composition kernel, contracts, or event record disappear.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talk-ai-coding-evolution/_reference/rawdata_dsh-plugin-seam-maturity/answer.md</a:t>
            </a:r>
          </a:p>
          <a:p>
            <a:r>
              <a:t>talk-ai-coding-evolution/_reference/rawdata_dsh-digested/tools-prompt-llm/00-map.md</a:t>
            </a:r>
          </a:p>
          <a:p>
            <a:r>
              <a:t>talk-ai-coding-evolution/_reference/rawdata_dsh-digested/capability-seams/00-map.md</a:t>
            </a:r>
          </a:p>
          <a:p>
            <a:endParaRPr/>
          </a:p>
          <a:p>
            <a:r>
              <a:t>DSH native composition in this deck is adapter, tools registry, capability seam, gate, and session log; do not describe MCP as the native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talk-ai-coding-evolution/_reference/rawdata_dsh-faq-on-digested/07_borrowing-harness-idea/answer.md</a:t>
            </a:r>
          </a:p>
          <a:p>
            <a:r>
              <a:t>talk-ai-coding-evolution/_reference/rawdata_dsh-plugin-seam-maturity/answer.md</a:t>
            </a:r>
          </a:p>
          <a:p>
            <a:endParaRPr/>
          </a:p>
          <a:p>
            <a:r>
              <a:t>The four-part definition of final control (admit, replace, authorize, reconstruct) is this talk's synthesis. It does not mean self-building all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talk-ai-coding-evolution/01_storyline/00-storyline-map.md</a:t>
            </a:r>
          </a:p>
          <a:p>
            <a:r>
              <a:t>talk-ai-coding-evolution/_reference/rawdata_ai-coding-evolution-final/final_v4/06-five-layer-forward.md</a:t>
            </a:r>
          </a:p>
          <a:p>
            <a:endParaRPr/>
          </a:p>
          <a:p>
            <a:r>
              <a:t>The conclusion preserves the default: borrow mature Harnesses first. Final control applies only when the business requires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>
            <a:normAutofit/>
          </a:bodyPr>
          <a:lstStyle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>
            <a:normAutofit/>
          </a:bodyPr>
          <a:lstStyle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buNone/>
              <a:defRPr sz="36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263842"/>
            <a:ext cx="12191365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060" y="3212782"/>
            <a:ext cx="9144000" cy="960120"/>
          </a:xfrm>
        </p:spPr>
        <p:txBody>
          <a:bodyPr>
            <a:normAutofit fontScale="90000"/>
          </a:bodyPr>
          <a:lstStyle/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3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4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5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36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38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Coding 的五个 Engineering，先看全貌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它们不是新词清单，而是模型变强后，人要解决的问题不断上移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noGrp="1"/>
          </p:cNvSpPr>
          <p:nvPr/>
        </p:nvSpPr>
        <p:spPr>
          <a:xfrm>
            <a:off x="2143125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Prompt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noGrp="1"/>
          </p:cNvSpPr>
          <p:nvPr/>
        </p:nvSpPr>
        <p:spPr>
          <a:xfrm>
            <a:off x="77152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说什么？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noGrp="1"/>
          </p:cNvSpPr>
          <p:nvPr/>
        </p:nvSpPr>
        <p:spPr>
          <a:xfrm>
            <a:off x="4210050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noGrp="1"/>
          </p:cNvSpPr>
          <p:nvPr/>
        </p:nvSpPr>
        <p:spPr>
          <a:xfrm>
            <a:off x="2781300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Context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noGrp="1"/>
          </p:cNvSpPr>
          <p:nvPr/>
        </p:nvSpPr>
        <p:spPr>
          <a:xfrm>
            <a:off x="2838450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看什么？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noGrp="1"/>
          </p:cNvSpPr>
          <p:nvPr/>
        </p:nvSpPr>
        <p:spPr>
          <a:xfrm>
            <a:off x="6276975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noGrp="1"/>
          </p:cNvSpPr>
          <p:nvPr/>
        </p:nvSpPr>
        <p:spPr>
          <a:xfrm>
            <a:off x="484822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Harness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noGrp="1"/>
          </p:cNvSpPr>
          <p:nvPr/>
        </p:nvSpPr>
        <p:spPr>
          <a:xfrm>
            <a:off x="490537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在哪行动？</a:t>
            </a:r>
            <a:endParaRPr sz="975" b="0">
              <a:solidFill>
                <a:srgbClr val="667085"/>
              </a:solidFill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noGrp="1"/>
          </p:cNvSpPr>
          <p:nvPr/>
        </p:nvSpPr>
        <p:spPr>
          <a:xfrm>
            <a:off x="8343900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noGrp="1"/>
          </p:cNvSpPr>
          <p:nvPr/>
        </p:nvSpPr>
        <p:spPr>
          <a:xfrm>
            <a:off x="6915150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Loop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noGrp="1"/>
          </p:cNvSpPr>
          <p:nvPr/>
        </p:nvSpPr>
        <p:spPr>
          <a:xfrm>
            <a:off x="6972300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何时重试？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noGrp="1"/>
          </p:cNvSpPr>
          <p:nvPr/>
        </p:nvSpPr>
        <p:spPr>
          <a:xfrm>
            <a:off x="898207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Graph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noGrp="1"/>
          </p:cNvSpPr>
          <p:nvPr/>
        </p:nvSpPr>
        <p:spPr>
          <a:xfrm>
            <a:off x="903922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如何编排？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模型越强，人的动作越从亲手做，变成设计它怎样做</a:t>
            </a:r>
          </a:p>
        </p:txBody>
      </p:sp>
      <p:sp>
        <p:nvSpPr>
          <p:cNvPr id="30" name="anchor-quote-1">
            <a:extLst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noGrp="1"/>
          </p:cNvSpPr>
          <p:nvPr/>
        </p:nvSpPr>
        <p:spPr>
          <a:xfrm>
            <a:off x="933450" y="3838575"/>
            <a:ext cx="10144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说清任务  →  让动作可靠  →  把工作组织起来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3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4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5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后面每一层，都在回答前一层解决不了的问题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先看清五个对象，再沿着“为什么还不够”一路往下走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noGrp="1"/>
          </p:cNvSpPr>
          <p:nvPr/>
        </p:nvSpPr>
        <p:spPr>
          <a:xfrm>
            <a:off x="1714500" y="2428875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noGrp="1"/>
          </p:cNvSpPr>
          <p:nvPr/>
        </p:nvSpPr>
        <p:spPr>
          <a:xfrm>
            <a:off x="2647950" y="2219325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说清任务后，模型到底该看到哪些事实？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看见事实后，它怎样在真实世界安全地行动？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noGrp="1"/>
          </p:cNvSpPr>
          <p:nvPr/>
        </p:nvSpPr>
        <p:spPr>
          <a:xfrm>
            <a:off x="2647950" y="4219575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动作可靠后，何时该借现成，何时必须改边界？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最后用 DSH 看：怎样既借现成，又保留改边界的能力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65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66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67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模型越强，工程对象越从一句话往系统上移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五个 Engineering 由同一台发动机推动：模型变强，手工动作就得上移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428875" cy="161925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50%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可靠性任务长度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238375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noGrp="1"/>
          </p:cNvSpPr>
          <p:nvPr/>
        </p:nvSpPr>
        <p:spPr>
          <a:xfrm>
            <a:off x="3905250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模型能力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noGrp="1"/>
          </p:cNvSpPr>
          <p:nvPr/>
        </p:nvSpPr>
        <p:spPr>
          <a:xfrm>
            <a:off x="6143625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单次措辞优化</a:t>
            </a:r>
          </a:p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收益递减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工程杠杆</a:t>
            </a:r>
          </a:p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noGrp="1"/>
          </p:cNvSpPr>
          <p:nvPr/>
        </p:nvSpPr>
        <p:spPr>
          <a:xfrm>
            <a:off x="3905250" y="3714750"/>
            <a:ext cx="6667500" cy="428625"/>
          </a:xfrm>
          <a:prstGeom prst="roundRect">
            <a:avLst>
              <a:gd name="adj" fmla="val 1777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写清一次任务  →  设计一次行动  →  设计一套系统怎样工作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noGrp="1"/>
          </p:cNvSpPr>
          <p:nvPr/>
        </p:nvSpPr>
        <p:spPr>
          <a:xfrm>
            <a:off x="933450" y="4638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 dirty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noGrp="1"/>
          </p:cNvSpPr>
          <p:nvPr/>
        </p:nvSpPr>
        <p:spPr>
          <a:xfrm>
            <a:off x="704850" y="547687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不是替代，是叠加：旧问题仍在，新问题继续往上长</a:t>
            </a:r>
          </a:p>
        </p:txBody>
      </p:sp>
      <p:cxnSp>
        <p:nvCxnSpPr>
          <p:cNvPr id="181" name="Straight Arrow Connector 88"/>
          <p:cNvCxnSpPr>
            <a:stCxn id="10" idx="3"/>
            <a:endCxn id="12" idx="1"/>
          </p:cNvCxnSpPr>
          <p:nvPr/>
        </p:nvCxnSpPr>
        <p:spPr>
          <a:xfrm>
            <a:off x="5667375" y="3024188"/>
            <a:ext cx="4762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82" name="Straight Arrow Connector 89"/>
          <p:cNvCxnSpPr>
            <a:stCxn id="12" idx="3"/>
            <a:endCxn id="14" idx="1"/>
          </p:cNvCxnSpPr>
          <p:nvPr/>
        </p:nvCxnSpPr>
        <p:spPr>
          <a:xfrm>
            <a:off x="7905750" y="3024188"/>
            <a:ext cx="4762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与 Context Engineering：先说清，再看对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它们解决“说什么、看什么”，却还没解决“能不能安全地行动”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485775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Prompt Engineering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说清任务、约束和格式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局限：文字不能代替系统控制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noGrp="1"/>
          </p:cNvSpPr>
          <p:nvPr/>
        </p:nvSpPr>
        <p:spPr>
          <a:xfrm>
            <a:off x="6619875" y="2143125"/>
            <a:ext cx="485775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Context Engineering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挑出此刻需要的事实和状态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局限：材料越多，关键内容越容易被淹没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说对、看对之后，下一问是：它究竟能在什么边界里行动？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 dirty="0" err="1">
                <a:solidFill>
                  <a:srgbClr val="D0D5DD"/>
                </a:solidFill>
              </a:rPr>
              <a:t>这正是</a:t>
            </a:r>
            <a:r>
              <a:rPr sz="1400" b="0" dirty="0">
                <a:solidFill>
                  <a:srgbClr val="D0D5DD"/>
                </a:solidFill>
              </a:rPr>
              <a:t> Harness Engineering </a:t>
            </a:r>
            <a:r>
              <a:rPr sz="1400" b="0" dirty="0" err="1">
                <a:solidFill>
                  <a:srgbClr val="D0D5DD"/>
                </a:solidFill>
              </a:rPr>
              <a:t>出场的原因</a:t>
            </a:r>
            <a:endParaRPr sz="1400" b="0" dirty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Engineering：为每一次行动设下可靠边界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它回答的不是模型会不会想，而是它此刻能做什么、谁来检查、如何留下记录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noGrp="1"/>
          </p:cNvSpPr>
          <p:nvPr/>
        </p:nvSpPr>
        <p:spPr>
          <a:xfrm>
            <a:off x="1524000" y="2171700"/>
            <a:ext cx="9144000" cy="83820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noGrp="1"/>
          </p:cNvSpPr>
          <p:nvPr/>
        </p:nvSpPr>
        <p:spPr>
          <a:xfrm>
            <a:off x="9620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noGrp="1"/>
          </p:cNvSpPr>
          <p:nvPr/>
        </p:nvSpPr>
        <p:spPr>
          <a:xfrm>
            <a:off x="1143000" y="3857625"/>
            <a:ext cx="99060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权限、沙箱、工具、验证、执行记录、CI：模型之外让行动可交付的一切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noGrp="1"/>
          </p:cNvSpPr>
          <p:nvPr/>
        </p:nvSpPr>
        <p:spPr>
          <a:xfrm>
            <a:off x="1714500" y="4524375"/>
            <a:ext cx="8763000" cy="428625"/>
          </a:xfrm>
          <a:prstGeom prst="roundRect">
            <a:avLst>
              <a:gd name="adj" fmla="val 1777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一次动作可靠后，问题才变成：怎样把反馈连成 Loop、把任务组织成 Graph？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40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405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406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229" name="slide-title">
            <a:extLst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 与 Graph Engineering：让可靠行动持续发生</a:t>
            </a:r>
          </a:p>
        </p:txBody>
      </p:sp>
      <p:sp>
        <p:nvSpPr>
          <p:cNvPr id="230" name="slide-subtitle">
            <a:extLst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解决“怎样知错再改”；Graph 解决“谁先做、谁并行、何时汇合”</a:t>
            </a:r>
          </a:p>
        </p:txBody>
      </p:sp>
      <p:sp>
        <p:nvSpPr>
          <p:cNvPr id="231" name="section-rule">
            <a:extLst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loop-heading">
            <a:extLst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ENGINEERING：检验失败，就把反馈带回下一轮</a:t>
            </a:r>
          </a:p>
        </p:txBody>
      </p:sp>
      <p:sp>
        <p:nvSpPr>
          <p:cNvPr id="233" name="graph-heading">
            <a:extLst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 ENGINEERING：把复杂任务写成显式依赖</a:t>
            </a:r>
          </a:p>
        </p:txBody>
      </p:sp>
      <p:sp>
        <p:nvSpPr>
          <p:cNvPr id="234" name="graph-example">
            <a:extLst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0606"/>
          </a:bodyPr>
          <a:lstStyle/>
          <a:p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1190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noGrp="1"/>
          </p:cNvSpPr>
          <p:nvPr/>
        </p:nvSpPr>
        <p:spPr>
          <a:xfrm>
            <a:off x="2619375" y="3190875"/>
            <a:ext cx="1190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noGrp="1"/>
          </p:cNvSpPr>
          <p:nvPr/>
        </p:nvSpPr>
        <p:spPr>
          <a:xfrm>
            <a:off x="4400550" y="3105150"/>
            <a:ext cx="876300" cy="7239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1423"/>
            </a:solidFill>
            <a:prstDash val="solid"/>
          </a:ln>
        </p:spPr>
        <p:txBody>
          <a:bodyPr lIns="19050" tIns="19050" rIns="19050" bIns="19050" anchor="ctr">
            <a:normAutofit fontScale="59028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noGrp="1"/>
          </p:cNvSpPr>
          <p:nvPr/>
        </p:nvSpPr>
        <p:spPr>
          <a:xfrm>
            <a:off x="4838700" y="4179703"/>
            <a:ext cx="876300" cy="438150"/>
          </a:xfrm>
          <a:prstGeom prst="roundRect">
            <a:avLst>
              <a:gd name="adj" fmla="val 13043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7" name="Straight Arrow Connector 272"/>
          <p:cNvCxnSpPr>
            <a:stCxn id="235" idx="3"/>
            <a:endCxn id="236" idx="1"/>
          </p:cNvCxnSpPr>
          <p:nvPr/>
        </p:nvCxnSpPr>
        <p:spPr>
          <a:xfrm>
            <a:off x="2095500" y="3467100"/>
            <a:ext cx="52387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18" name="Straight Arrow Connector 273"/>
          <p:cNvCxnSpPr>
            <a:stCxn id="236" idx="3"/>
            <a:endCxn id="237" idx="1"/>
          </p:cNvCxnSpPr>
          <p:nvPr/>
        </p:nvCxnSpPr>
        <p:spPr>
          <a:xfrm>
            <a:off x="3810000" y="3467100"/>
            <a:ext cx="5905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19" name="Straight Arrow Connector 274"/>
          <p:cNvCxnSpPr>
            <a:stCxn id="237" idx="3"/>
            <a:endCxn id="238" idx="0"/>
          </p:cNvCxnSpPr>
          <p:nvPr/>
        </p:nvCxnSpPr>
        <p:spPr>
          <a:xfrm>
            <a:off x="5276850" y="3467100"/>
            <a:ext cx="0" cy="712603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20" name="Elbow Connector 275"/>
          <p:cNvCxnSpPr>
            <a:stCxn id="237" idx="2"/>
            <a:endCxn id="235" idx="2"/>
          </p:cNvCxnSpPr>
          <p:nvPr/>
        </p:nvCxnSpPr>
        <p:spPr>
          <a:xfrm rot="5400000" flipH="1">
            <a:off x="3126581" y="2116932"/>
            <a:ext cx="85725" cy="3338512"/>
          </a:xfrm>
          <a:prstGeom prst="bentConnector3">
            <a:avLst>
              <a:gd name="adj1" fmla="val -266667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noGrp="1"/>
          </p:cNvSpPr>
          <p:nvPr/>
        </p:nvSpPr>
        <p:spPr>
          <a:xfrm>
            <a:off x="4933950" y="3676650"/>
            <a:ext cx="342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121"/>
          </a:bodyPr>
          <a:lstStyle/>
          <a:p>
            <a:pPr algn="ctr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  <a:endParaRPr sz="1125" b="1">
              <a:solidFill>
                <a:srgbClr val="626A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loop-no">
            <a:extLst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noGrp="1"/>
          </p:cNvSpPr>
          <p:nvPr/>
        </p:nvSpPr>
        <p:spPr>
          <a:xfrm>
            <a:off x="2362200" y="40481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8182"/>
          </a:bodyPr>
          <a:lstStyle/>
          <a:p>
            <a:pPr algn="ctr">
              <a:buNone/>
              <a:defRPr sz="16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noGrp="1"/>
          </p:cNvSpPr>
          <p:nvPr/>
        </p:nvSpPr>
        <p:spPr>
          <a:xfrm>
            <a:off x="6524625" y="3209925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 fontScale="71198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noGrp="1"/>
          </p:cNvSpPr>
          <p:nvPr/>
        </p:nvSpPr>
        <p:spPr>
          <a:xfrm>
            <a:off x="7572375" y="3209925"/>
            <a:ext cx="895350" cy="495300"/>
          </a:xfrm>
          <a:prstGeom prst="roundRect">
            <a:avLst>
              <a:gd name="adj" fmla="val 11538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77448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noGrp="1"/>
          </p:cNvSpPr>
          <p:nvPr/>
        </p:nvSpPr>
        <p:spPr>
          <a:xfrm>
            <a:off x="8763000" y="381000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noGrp="1"/>
          </p:cNvSpPr>
          <p:nvPr/>
        </p:nvSpPr>
        <p:spPr>
          <a:xfrm>
            <a:off x="10001250" y="318135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noGrp="1"/>
          </p:cNvSpPr>
          <p:nvPr/>
        </p:nvSpPr>
        <p:spPr>
          <a:xfrm>
            <a:off x="11239500" y="3209925"/>
            <a:ext cx="685800" cy="495300"/>
          </a:xfrm>
          <a:prstGeom prst="roundRect">
            <a:avLst>
              <a:gd name="adj" fmla="val 11538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429" name="Straight Arrow Connector 284"/>
          <p:cNvCxnSpPr>
            <a:stCxn id="245" idx="3"/>
            <a:endCxn id="246" idx="1"/>
          </p:cNvCxnSpPr>
          <p:nvPr/>
        </p:nvCxnSpPr>
        <p:spPr>
          <a:xfrm>
            <a:off x="7362825" y="3457575"/>
            <a:ext cx="2095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30" name="Elbow Connector 285"/>
          <p:cNvCxnSpPr>
            <a:stCxn id="246" idx="3"/>
            <a:endCxn id="247" idx="1"/>
          </p:cNvCxnSpPr>
          <p:nvPr/>
        </p:nvCxnSpPr>
        <p:spPr>
          <a:xfrm flipV="1">
            <a:off x="8467725" y="3057525"/>
            <a:ext cx="295275" cy="4000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31" name="Elbow Connector 286"/>
          <p:cNvCxnSpPr>
            <a:stCxn id="246" idx="3"/>
            <a:endCxn id="248" idx="1"/>
          </p:cNvCxnSpPr>
          <p:nvPr/>
        </p:nvCxnSpPr>
        <p:spPr>
          <a:xfrm>
            <a:off x="8467725" y="3457575"/>
            <a:ext cx="295275" cy="6286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32" name="Elbow Connector 287"/>
          <p:cNvCxnSpPr>
            <a:stCxn id="247" idx="3"/>
            <a:endCxn id="249" idx="1"/>
          </p:cNvCxnSpPr>
          <p:nvPr/>
        </p:nvCxnSpPr>
        <p:spPr>
          <a:xfrm>
            <a:off x="9715500" y="3057525"/>
            <a:ext cx="285750" cy="4000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33" name="Elbow Connector 288"/>
          <p:cNvCxnSpPr>
            <a:stCxn id="248" idx="3"/>
            <a:endCxn id="249" idx="1"/>
          </p:cNvCxnSpPr>
          <p:nvPr/>
        </p:nvCxnSpPr>
        <p:spPr>
          <a:xfrm flipV="1">
            <a:off x="9715500" y="3457575"/>
            <a:ext cx="285750" cy="6286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34" name="Straight Arrow Connector 289"/>
          <p:cNvCxnSpPr>
            <a:stCxn id="249" idx="3"/>
            <a:endCxn id="250" idx="1"/>
          </p:cNvCxnSpPr>
          <p:nvPr/>
        </p:nvCxnSpPr>
        <p:spPr>
          <a:xfrm>
            <a:off x="10953750" y="3457575"/>
            <a:ext cx="2857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noGrp="1"/>
          </p:cNvSpPr>
          <p:nvPr/>
        </p:nvSpPr>
        <p:spPr>
          <a:xfrm>
            <a:off x="6572250" y="45148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5758"/>
          </a:bodyPr>
          <a:lstStyle/>
          <a:p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10782300" cy="476250"/>
          </a:xfrm>
          <a:prstGeom prst="roundRect">
            <a:avLst>
              <a:gd name="adj" fmla="val 12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先有可靠的单次行动，Loop 才不会放大失败，Graph 才不会组织混乱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6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6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6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 Engineering 同时活着，但各自回答不同的问题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这不是一座金字塔，而是一张“每个问题为何需要下一步”的关系图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ingle-call-label">
            <a:extLst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5758"/>
          </a:bodyPr>
          <a:lstStyle/>
          <a:p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noGrp="1"/>
          </p:cNvSpPr>
          <p:nvPr/>
        </p:nvSpPr>
        <p:spPr>
          <a:xfrm>
            <a:off x="904875" y="2619375"/>
            <a:ext cx="209550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6956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 Engineering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noGrp="1"/>
          </p:cNvSpPr>
          <p:nvPr/>
        </p:nvSpPr>
        <p:spPr>
          <a:xfrm>
            <a:off x="3714750" y="2619375"/>
            <a:ext cx="209550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5502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 Engineering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noGrp="1"/>
          </p:cNvSpPr>
          <p:nvPr/>
        </p:nvSpPr>
        <p:spPr>
          <a:xfrm>
            <a:off x="7000875" y="2457450"/>
            <a:ext cx="4238625" cy="9715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Engineering：形成可靠行动</a:t>
            </a:r>
          </a:p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noGrp="1"/>
          </p:cNvSpPr>
          <p:nvPr/>
        </p:nvSpPr>
        <p:spPr>
          <a:xfrm>
            <a:off x="904875" y="3905250"/>
            <a:ext cx="47625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 Engineering：反复同一行动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noGrp="1"/>
          </p:cNvSpPr>
          <p:nvPr/>
        </p:nvSpPr>
        <p:spPr>
          <a:xfrm>
            <a:off x="6524625" y="3905250"/>
            <a:ext cx="47625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 Engineering：编排多个行动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分工、分叉、汇合；部分节点可以运行 Loop</a:t>
            </a:r>
          </a:p>
        </p:txBody>
      </p:sp>
      <p:cxnSp>
        <p:nvCxnSpPr>
          <p:cNvPr id="179" name="Elbow Connector 90"/>
          <p:cNvCxnSpPr>
            <a:stCxn id="25" idx="2"/>
            <a:endCxn id="28" idx="0"/>
          </p:cNvCxnSpPr>
          <p:nvPr/>
        </p:nvCxnSpPr>
        <p:spPr>
          <a:xfrm flipH="1">
            <a:off x="3286125" y="3429000"/>
            <a:ext cx="5834063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180" name="Elbow Connector 91"/>
          <p:cNvCxnSpPr>
            <a:stCxn id="25" idx="2"/>
            <a:endCxn id="29" idx="0"/>
          </p:cNvCxnSpPr>
          <p:nvPr/>
        </p:nvCxnSpPr>
        <p:spPr>
          <a:xfrm flipH="1">
            <a:off x="8905875" y="3429000"/>
            <a:ext cx="214313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782300" cy="4572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无论上面怎样组织，每一次真实动作都要经过 Harness 的执行边界</a:t>
            </a:r>
          </a:p>
        </p:txBody>
      </p:sp>
      <p:cxnSp>
        <p:nvCxnSpPr>
          <p:cNvPr id="182" name="Straight Arrow Connector 93"/>
          <p:cNvCxnSpPr>
            <a:stCxn id="23" idx="3"/>
            <a:endCxn id="24" idx="1"/>
          </p:cNvCxnSpPr>
          <p:nvPr/>
        </p:nvCxnSpPr>
        <p:spPr>
          <a:xfrm>
            <a:off x="3000375" y="2943225"/>
            <a:ext cx="71437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83" name="Straight Arrow Connector 94"/>
          <p:cNvCxnSpPr>
            <a:stCxn id="24" idx="3"/>
            <a:endCxn id="25" idx="1"/>
          </p:cNvCxnSpPr>
          <p:nvPr/>
        </p:nvCxnSpPr>
        <p:spPr>
          <a:xfrm>
            <a:off x="5810250" y="2943225"/>
            <a:ext cx="119062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4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45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46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最值得看懂的不是最高层，而是真实动作穿过的边界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五层关系图推出来的结论：所有上层组织能力，都要落到一次可靠执行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noGrp="1"/>
          </p:cNvSpPr>
          <p:nvPr/>
        </p:nvSpPr>
        <p:spPr>
          <a:xfrm>
            <a:off x="1381125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noGrp="1"/>
          </p:cNvSpPr>
          <p:nvPr/>
        </p:nvSpPr>
        <p:spPr>
          <a:xfrm>
            <a:off x="5067300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noGrp="1"/>
          </p:cNvSpPr>
          <p:nvPr/>
        </p:nvSpPr>
        <p:spPr>
          <a:xfrm>
            <a:off x="8763000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结果进入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noGrp="1"/>
          </p:cNvSpPr>
          <p:nvPr/>
        </p:nvSpPr>
        <p:spPr>
          <a:xfrm>
            <a:off x="1381125" y="3857625"/>
            <a:ext cx="9429750" cy="533400"/>
          </a:xfrm>
          <a:prstGeom prst="roundRect">
            <a:avLst>
              <a:gd name="adj" fmla="val 14286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每一个 Loop、每一个 Graph 节点，最后都要经过能独立授权、检查、记录的执行边界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noGrp="1"/>
          </p:cNvSpPr>
          <p:nvPr/>
        </p:nvSpPr>
        <p:spPr>
          <a:xfrm>
            <a:off x="933450" y="492442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可靠性不是模型单独拥有的属性，而是 Model + Harness 的属性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 dirty="0" err="1">
                <a:solidFill>
                  <a:srgbClr val="D0D5DD"/>
                </a:solidFill>
              </a:rPr>
              <a:t>这就是</a:t>
            </a:r>
            <a:r>
              <a:rPr sz="1400" b="0" dirty="0">
                <a:solidFill>
                  <a:srgbClr val="D0D5DD"/>
                </a:solidFill>
              </a:rPr>
              <a:t> Harness </a:t>
            </a:r>
            <a:r>
              <a:rPr sz="1400" b="0" dirty="0" err="1">
                <a:solidFill>
                  <a:srgbClr val="D0D5DD"/>
                </a:solidFill>
              </a:rPr>
              <a:t>对</a:t>
            </a:r>
            <a:r>
              <a:rPr sz="1400" b="0" dirty="0">
                <a:solidFill>
                  <a:srgbClr val="D0D5DD"/>
                </a:solidFill>
              </a:rPr>
              <a:t> OPC </a:t>
            </a:r>
            <a:r>
              <a:rPr sz="1400" b="0" dirty="0" err="1">
                <a:solidFill>
                  <a:srgbClr val="D0D5DD"/>
                </a:solidFill>
              </a:rPr>
              <a:t>的临界意义</a:t>
            </a:r>
            <a:endParaRPr sz="1400" b="0" dirty="0">
              <a:solidFill>
                <a:srgbClr val="D0D5DD"/>
              </a:solidFill>
            </a:endParaRPr>
          </a:p>
        </p:txBody>
      </p:sp>
      <p:cxnSp>
        <p:nvCxnSpPr>
          <p:cNvPr id="157" name="Straight Arrow Connector 76"/>
          <p:cNvCxnSpPr>
            <a:stCxn id="8" idx="3"/>
            <a:endCxn id="9" idx="1"/>
          </p:cNvCxnSpPr>
          <p:nvPr/>
        </p:nvCxnSpPr>
        <p:spPr>
          <a:xfrm>
            <a:off x="3429000" y="3009900"/>
            <a:ext cx="16383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58" name="Straight Arrow Connector 77"/>
          <p:cNvCxnSpPr>
            <a:stCxn id="9" idx="3"/>
            <a:endCxn id="10" idx="1"/>
          </p:cNvCxnSpPr>
          <p:nvPr/>
        </p:nvCxnSpPr>
        <p:spPr>
          <a:xfrm>
            <a:off x="7115175" y="3009900"/>
            <a:ext cx="164782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5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6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从来不是裸模型：它一行动，Harness 就已经在场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模型给能力；Harness 把这份能力变成一次可以交付的行动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6858000" cy="85725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能力：Model   +   可靠性：Harness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noGrp="1"/>
          </p:cNvSpPr>
          <p:nvPr/>
        </p:nvSpPr>
        <p:spPr>
          <a:xfrm>
            <a:off x="26860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noGrp="1"/>
          </p:cNvSpPr>
          <p:nvPr/>
        </p:nvSpPr>
        <p:spPr>
          <a:xfrm>
            <a:off x="44196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noGrp="1"/>
          </p:cNvSpPr>
          <p:nvPr/>
        </p:nvSpPr>
        <p:spPr>
          <a:xfrm>
            <a:off x="78867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0F142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noGrp="1"/>
          </p:cNvSpPr>
          <p:nvPr/>
        </p:nvSpPr>
        <p:spPr>
          <a:xfrm>
            <a:off x="96202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noGrp="1"/>
          </p:cNvSpPr>
          <p:nvPr/>
        </p:nvSpPr>
        <p:spPr>
          <a:xfrm>
            <a:off x="1524000" y="4238625"/>
            <a:ext cx="91440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买到的是模型能力；能否稳定交付，取决于围绕它的一圈运行边界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最小的 agent 也不只是 prompt：它至少有工具，并要面对真实执行结果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 dirty="0" err="1">
                <a:solidFill>
                  <a:srgbClr val="D0D5DD"/>
                </a:solidFill>
              </a:rPr>
              <a:t>这就是</a:t>
            </a:r>
            <a:r>
              <a:rPr sz="1400" b="0" dirty="0">
                <a:solidFill>
                  <a:srgbClr val="D0D5DD"/>
                </a:solidFill>
              </a:rPr>
              <a:t> Harness Engineering </a:t>
            </a:r>
            <a:r>
              <a:rPr sz="1400" b="0" dirty="0" err="1">
                <a:solidFill>
                  <a:srgbClr val="D0D5DD"/>
                </a:solidFill>
              </a:rPr>
              <a:t>的起点</a:t>
            </a:r>
            <a:endParaRPr sz="1400" b="0" dirty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8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9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0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可靠性发生在两次：行动前约束，行动后反馈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事前引导（Guides）</a:t>
            </a: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行动前：允许哪些工具、必须通过什么检查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事后反馈（Sensors）</a:t>
            </a: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行动后：测试失败、用户拒绝、退出码非零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4857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确定性检查</a:t>
            </a:r>
          </a:p>
          <a:p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 / lint / 类型：可复现、可审计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noGrp="1"/>
          </p:cNvSpPr>
          <p:nvPr/>
        </p:nvSpPr>
        <p:spPr>
          <a:xfrm>
            <a:off x="6524625" y="3905250"/>
            <a:ext cx="4857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语义判断</a:t>
            </a:r>
          </a:p>
          <a:p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 review / 人工判断：必要，但可能出错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确定的事交给系统；需要理解语义时，才交给模型或人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不只让错误停下，也让模型进入专业领域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圈住伤害，拦住错误，看清过程，再借 Knowledge Map 明白专业领域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2524125" cy="2238375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圈住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 + 权限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限制能碰的范围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noGrp="1"/>
          </p:cNvSpPr>
          <p:nvPr/>
        </p:nvSpPr>
        <p:spPr>
          <a:xfrm>
            <a:off x="3457575" y="2286000"/>
            <a:ext cx="2524125" cy="2238375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拦住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验证门禁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错误一出现就停止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noGrp="1"/>
          </p:cNvSpPr>
          <p:nvPr/>
        </p:nvSpPr>
        <p:spPr>
          <a:xfrm>
            <a:off x="6210300" y="2286000"/>
            <a:ext cx="2524125" cy="2238375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看清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Trace + 来源记录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还原每一步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noGrp="1"/>
          </p:cNvSpPr>
          <p:nvPr/>
        </p:nvSpPr>
        <p:spPr>
          <a:xfrm>
            <a:off x="8963025" y="2286000"/>
            <a:ext cx="2524125" cy="2238375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明白</a:t>
            </a:r>
          </a:p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endParaRPr sz="1800" b="1">
              <a:solidFill>
                <a:srgbClr val="111827"/>
              </a:solidFill>
            </a:endParaRP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Knowledge Map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探索专业内容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找到归属与正确路径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没有可靠 Harness，Loop 与 Graph 只会放大失败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上层系统能扩大产能，却不能替下层补上授权、验证和记录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跨运行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Graph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跨节点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noGrp="1"/>
          </p:cNvSpPr>
          <p:nvPr/>
        </p:nvSpPr>
        <p:spPr>
          <a:xfrm>
            <a:off x="8477250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每次执行</a:t>
            </a:r>
          </a:p>
          <a:p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noGrp="1"/>
          </p:cNvSpPr>
          <p:nvPr/>
        </p:nvSpPr>
        <p:spPr>
          <a:xfrm>
            <a:off x="1190625" y="4143375"/>
            <a:ext cx="981075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可靠节点不是“基础工作”，而是所有反馈和编排开始之前的前提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模型可以提议工作图，但确定性检查器决定放行还是拒绝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 dirty="0" err="1">
                <a:solidFill>
                  <a:srgbClr val="D0D5DD"/>
                </a:solidFill>
              </a:rPr>
              <a:t>GraphARC</a:t>
            </a:r>
            <a:endParaRPr sz="1400" b="0" dirty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11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60" name="slide-title">
            <a:extLst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真实事故：伪造工具调用，无需模型也能触发真实动作</a:t>
            </a:r>
          </a:p>
        </p:txBody>
      </p:sp>
      <p:sp>
        <p:nvSpPr>
          <p:cNvPr id="61" name="slide-subtitle">
            <a:extLst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Amazon Bedrock AgentCore InvokeHarness · CVE-2026-18830</a:t>
            </a:r>
          </a:p>
        </p:txBody>
      </p:sp>
      <p:sp>
        <p:nvSpPr>
          <p:cNvPr id="62" name="section-rule">
            <a:extLst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isk-step-1">
            <a:extLst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请求末尾塞入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伪造的 tool-use 块</a:t>
            </a:r>
          </a:p>
        </p:txBody>
      </p:sp>
      <p:sp>
        <p:nvSpPr>
          <p:cNvPr id="64" name="risk-number-1">
            <a:extLst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 fontScale="98209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事件循环信任形状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跳过模型回合</a:t>
            </a:r>
          </a:p>
        </p:txBody>
      </p:sp>
      <p:sp>
        <p:nvSpPr>
          <p:cNvPr id="66" name="risk-number-2">
            <a:extLst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noGrp="1"/>
          </p:cNvSpPr>
          <p:nvPr/>
        </p:nvSpPr>
        <p:spPr>
          <a:xfrm>
            <a:off x="440055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 fontScale="98209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9EDEE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指定工具被直接执行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noGrp="1"/>
          </p:cNvSpPr>
          <p:nvPr/>
        </p:nvSpPr>
        <p:spPr>
          <a:xfrm>
            <a:off x="792480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 fontScale="98209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23" name="Straight Arrow Connector 146"/>
          <p:cNvCxnSpPr>
            <a:stCxn id="63" idx="3"/>
            <a:endCxn id="65" idx="1"/>
          </p:cNvCxnSpPr>
          <p:nvPr/>
        </p:nvCxnSpPr>
        <p:spPr>
          <a:xfrm>
            <a:off x="3619500" y="3133725"/>
            <a:ext cx="666750" cy="0"/>
          </a:xfrm>
          <a:prstGeom prst="straightConnector1">
            <a:avLst/>
          </a:prstGeom>
          <a:ln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224" name="Straight Arrow Connector 147"/>
          <p:cNvCxnSpPr>
            <a:stCxn id="65" idx="3"/>
            <a:endCxn id="67" idx="1"/>
          </p:cNvCxnSpPr>
          <p:nvPr/>
        </p:nvCxnSpPr>
        <p:spPr>
          <a:xfrm>
            <a:off x="7143750" y="3133725"/>
            <a:ext cx="666750" cy="0"/>
          </a:xfrm>
          <a:prstGeom prst="straightConnector1">
            <a:avLst/>
          </a:prstGeom>
          <a:ln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1381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72" name="execution-gate">
            <a:extLst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noGrp="1"/>
          </p:cNvSpPr>
          <p:nvPr/>
        </p:nvSpPr>
        <p:spPr>
          <a:xfrm>
            <a:off x="2143125" y="3981450"/>
            <a:ext cx="9001125" cy="438150"/>
          </a:xfrm>
          <a:prstGeom prst="roundRect">
            <a:avLst>
              <a:gd name="adj" fmla="val 13043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执行端拒绝伪造的 tool-use 块；工具运行前独立授权</a:t>
            </a:r>
          </a:p>
        </p:txBody>
      </p:sp>
      <p:sp>
        <p:nvSpPr>
          <p:cNvPr id="73" name="quote-background">
            <a:extLst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quote">
            <a:extLst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noGrp="1"/>
          </p:cNvSpPr>
          <p:nvPr/>
        </p:nvSpPr>
        <p:spPr>
          <a:xfrm>
            <a:off x="943292" y="4974044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833" lnSpcReduction="10000"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6" name="security-close">
            <a:extLst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8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9744"/>
          </a:bodyPr>
          <a:lstStyle/>
          <a:p>
            <a:pPr algn="ctr">
              <a:buNone/>
              <a:defRPr sz="1950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事故根因：执行时授权缺失，不是 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回到 OPC：你是否已经被工具切换和知识分散拖慢？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工具越多、切换越频繁，知识与实践越散，协作成本就越像经营问题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noGrp="1"/>
          </p:cNvSpPr>
          <p:nvPr/>
        </p:nvSpPr>
        <p:spPr>
          <a:xfrm>
            <a:off x="1476375" y="2266950"/>
            <a:ext cx="9239250" cy="60960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F2937"/>
                </a:solidFill>
              </a:defRPr>
            </a:pPr>
            <a:r>
              <a:rPr sz="2250" b="1">
                <a:solidFill>
                  <a:srgbClr val="1F2937"/>
                </a:solidFill>
              </a:rPr>
              <a:t>工具多   ·   老切换   ·   知识散   ·   实践散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noGrp="1"/>
          </p:cNvSpPr>
          <p:nvPr/>
        </p:nvSpPr>
        <p:spPr>
          <a:xfrm>
            <a:off x="1809750" y="3429000"/>
            <a:ext cx="8572500" cy="9525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noGrp="1"/>
          </p:cNvSpPr>
          <p:nvPr/>
        </p:nvSpPr>
        <p:spPr>
          <a:xfrm>
            <a:off x="2000250" y="3733800"/>
            <a:ext cx="2857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还没有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noGrp="1"/>
          </p:cNvSpPr>
          <p:nvPr/>
        </p:nvSpPr>
        <p:spPr>
          <a:xfrm>
            <a:off x="7334250" y="3733800"/>
            <a:ext cx="2857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已经有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noGrp="1"/>
          </p:cNvSpPr>
          <p:nvPr/>
        </p:nvSpPr>
        <p:spPr>
          <a:xfrm>
            <a:off x="1809750" y="41910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继续借现成 Harness</a:t>
            </a:r>
          </a:p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noGrp="1"/>
          </p:cNvSpPr>
          <p:nvPr/>
        </p:nvSpPr>
        <p:spPr>
          <a:xfrm>
            <a:off x="7524750" y="41910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需要统一入口与边界</a:t>
            </a:r>
          </a:p>
          <a:p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再谈灵活 Harness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noGrp="1"/>
          </p:cNvSpPr>
          <p:nvPr/>
        </p:nvSpPr>
        <p:spPr>
          <a:xfrm>
            <a:off x="704850" y="538162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真正的判断：这些摩擦是否已经进入每天的真实交付路径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9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0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1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Codex、Claude Code 已经很强：大多数 OPC 应直接借用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成熟 Harness 已把模型变成能工作的产品，而不只是一个会生成代码的模型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2286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它们已经替你做好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工具调用与上下文</a:t>
            </a: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沙箱、权限与执行记录</a:t>
            </a:r>
          </a:p>
          <a:p>
            <a:pPr>
              <a:buNone/>
              <a:defRPr sz="1800"/>
            </a:pPr>
            <a:r>
              <a:rPr sz="1800"/>
              <a:t>验证与持续检查</a:t>
            </a:r>
            <a:endParaRPr sz="1500" b="0">
              <a:solidFill>
                <a:srgbClr val="1F2937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2286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所以，默认选择应该是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直接借现成 Harness</a:t>
            </a:r>
          </a:p>
          <a:p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把稀缺注意力留给业务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noGrp="1"/>
          </p:cNvSpPr>
          <p:nvPr/>
        </p:nvSpPr>
        <p:spPr>
          <a:xfrm>
            <a:off x="933450" y="492442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问题不是它们够不够强，而是业务要改变它们的边界时怎么办？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 dirty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noGrp="1"/>
          </p:cNvSpPr>
          <p:nvPr/>
        </p:nvSpPr>
        <p:spPr>
          <a:xfrm>
            <a:off x="704850" y="561975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真正的转折从这里开始：边界是不是已经变成业务的一部分？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48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49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50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 dirty="0">
                <a:solidFill>
                  <a:srgbClr val="111827"/>
                </a:solidFill>
              </a:rPr>
              <a:t>14 </a:t>
            </a:r>
            <a:r>
              <a:rPr sz="2850" b="1" dirty="0" err="1">
                <a:solidFill>
                  <a:srgbClr val="111827"/>
                </a:solidFill>
              </a:rPr>
              <a:t>天，DSH</a:t>
            </a:r>
            <a:r>
              <a:rPr lang="en-US" altLang="zh-CN" sz="2850" b="1" dirty="0">
                <a:solidFill>
                  <a:srgbClr val="111827"/>
                </a:solidFill>
              </a:rPr>
              <a:t>(</a:t>
            </a:r>
            <a:r>
              <a:rPr lang="en-US" altLang="zh-CN" sz="2850" b="1" dirty="0" err="1">
                <a:solidFill>
                  <a:srgbClr val="111827"/>
                </a:solidFill>
              </a:rPr>
              <a:t>Deepseek</a:t>
            </a:r>
            <a:r>
              <a:rPr lang="en-US" altLang="zh-CN" sz="2850" b="1" dirty="0">
                <a:solidFill>
                  <a:srgbClr val="111827"/>
                </a:solidFill>
              </a:rPr>
              <a:t> Harness)</a:t>
            </a:r>
            <a:r>
              <a:rPr sz="2850" b="1" dirty="0">
                <a:solidFill>
                  <a:srgbClr val="111827"/>
                </a:solidFill>
              </a:rPr>
              <a:t> </a:t>
            </a:r>
            <a:r>
              <a:rPr sz="2850" b="1" dirty="0" err="1">
                <a:solidFill>
                  <a:srgbClr val="111827"/>
                </a:solidFill>
              </a:rPr>
              <a:t>在</a:t>
            </a:r>
            <a:r>
              <a:rPr sz="2850" b="1" dirty="0">
                <a:solidFill>
                  <a:srgbClr val="111827"/>
                </a:solidFill>
              </a:rPr>
              <a:t> GitHub </a:t>
            </a:r>
            <a:r>
              <a:rPr sz="2850" b="1" dirty="0" err="1">
                <a:solidFill>
                  <a:srgbClr val="111827"/>
                </a:solidFill>
              </a:rPr>
              <a:t>冲到近</a:t>
            </a:r>
            <a:r>
              <a:rPr sz="2850" b="1" dirty="0">
                <a:solidFill>
                  <a:srgbClr val="111827"/>
                </a:solidFill>
              </a:rPr>
              <a:t> 20 </a:t>
            </a:r>
            <a:r>
              <a:rPr sz="2850" b="1" dirty="0" err="1">
                <a:solidFill>
                  <a:srgbClr val="111827"/>
                </a:solidFill>
              </a:rPr>
              <a:t>万</a:t>
            </a:r>
            <a:r>
              <a:rPr sz="2850" b="1" dirty="0">
                <a:solidFill>
                  <a:srgbClr val="111827"/>
                </a:solidFill>
              </a:rPr>
              <a:t> star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公开后，开发者 attention 与扩展尝试同时涌入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noGrp="1"/>
          </p:cNvSpPr>
          <p:nvPr/>
        </p:nvSpPr>
        <p:spPr>
          <a:xfrm>
            <a:off x="943292" y="51720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爆发说明 attention 与扩展面，不等于成熟、可信或值得无差别安装</a:t>
            </a:r>
          </a:p>
        </p:txBody>
      </p:sp>
      <p:sp>
        <p:nvSpPr>
          <p:cNvPr id="27" name="need-1">
            <a:extLst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28" name="need-number-1">
            <a:extLst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noGrp="1"/>
          </p:cNvSpPr>
          <p:nvPr/>
        </p:nvSpPr>
        <p:spPr>
          <a:xfrm>
            <a:off x="990600" y="239077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need-heading-1">
            <a:extLst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noGrp="1"/>
          </p:cNvSpPr>
          <p:nvPr/>
        </p:nvSpPr>
        <p:spPr>
          <a:xfrm>
            <a:off x="1543050" y="233362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GitHub attention</a:t>
            </a:r>
          </a:p>
        </p:txBody>
      </p:sp>
      <p:sp>
        <p:nvSpPr>
          <p:cNvPr id="30" name="need-body-1">
            <a:extLst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noGrp="1"/>
          </p:cNvSpPr>
          <p:nvPr/>
        </p:nvSpPr>
        <p:spPr>
          <a:xfrm>
            <a:off x="1543050" y="267652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2500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近 20 万 stars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14 天快照</a:t>
            </a:r>
          </a:p>
        </p:txBody>
      </p:sp>
      <p:sp>
        <p:nvSpPr>
          <p:cNvPr id="31" name="need-2">
            <a:extLst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32" name="need-number-2">
            <a:extLst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noGrp="1"/>
          </p:cNvSpPr>
          <p:nvPr/>
        </p:nvSpPr>
        <p:spPr>
          <a:xfrm>
            <a:off x="6324600" y="239077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need-heading-2">
            <a:extLst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noGrp="1"/>
          </p:cNvSpPr>
          <p:nvPr/>
        </p:nvSpPr>
        <p:spPr>
          <a:xfrm>
            <a:off x="6877050" y="233362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快速分叉</a:t>
            </a:r>
          </a:p>
        </p:txBody>
      </p:sp>
      <p:sp>
        <p:nvSpPr>
          <p:cNvPr id="34" name="need-body-2">
            <a:extLst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noGrp="1"/>
          </p:cNvSpPr>
          <p:nvPr/>
        </p:nvSpPr>
        <p:spPr>
          <a:xfrm>
            <a:off x="6877050" y="267652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2500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22,820 forks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2026-08-27</a:t>
            </a:r>
          </a:p>
        </p:txBody>
      </p:sp>
      <p:sp>
        <p:nvSpPr>
          <p:cNvPr id="35" name="need-3">
            <a:extLst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36" name="need-number-3">
            <a:extLst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noGrp="1"/>
          </p:cNvSpPr>
          <p:nvPr/>
        </p:nvSpPr>
        <p:spPr>
          <a:xfrm>
            <a:off x="990600" y="362902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need-heading-3">
            <a:extLst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noGrp="1"/>
          </p:cNvSpPr>
          <p:nvPr/>
        </p:nvSpPr>
        <p:spPr>
          <a:xfrm>
            <a:off x="1543050" y="357187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生态开始涌入</a:t>
            </a:r>
          </a:p>
        </p:txBody>
      </p:sp>
      <p:sp>
        <p:nvSpPr>
          <p:cNvPr id="38" name="need-body-3">
            <a:extLst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noGrp="1"/>
          </p:cNvSpPr>
          <p:nvPr/>
        </p:nvSpPr>
        <p:spPr>
          <a:xfrm>
            <a:off x="1543050" y="391477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2500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桥 · 渠 · 窗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2,286 条快照</a:t>
            </a:r>
          </a:p>
        </p:txBody>
      </p:sp>
      <p:sp>
        <p:nvSpPr>
          <p:cNvPr id="39" name="need-4">
            <a:extLst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0" name="need-number-4">
            <a:extLst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noGrp="1"/>
          </p:cNvSpPr>
          <p:nvPr/>
        </p:nvSpPr>
        <p:spPr>
          <a:xfrm>
            <a:off x="6324600" y="362902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" name="need-heading-4">
            <a:extLst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noGrp="1"/>
          </p:cNvSpPr>
          <p:nvPr/>
        </p:nvSpPr>
        <p:spPr>
          <a:xfrm>
            <a:off x="6877050" y="357187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但别误读</a:t>
            </a:r>
          </a:p>
        </p:txBody>
      </p:sp>
      <p:sp>
        <p:nvSpPr>
          <p:cNvPr id="42" name="need-body-4">
            <a:extLst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2500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爆发 != 成熟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或可信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7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7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7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48" name="slide-title">
            <a:extLst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对 OPC，价值不在装得多，而在少盯、敢放、能复制</a:t>
            </a:r>
          </a:p>
        </p:txBody>
      </p:sp>
      <p:sp>
        <p:nvSpPr>
          <p:cNvPr id="49" name="slide-subtitle">
            <a:extLst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生态不是你的生意；它的价值是别人已经替你踩过路</a:t>
            </a:r>
          </a:p>
        </p:txBody>
      </p:sp>
      <p:sp>
        <p:nvSpPr>
          <p:cNvPr id="50" name="section-rule">
            <a:extLst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sh-definition">
            <a:extLst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590550"/>
          </a:xfrm>
          <a:prstGeom prst="roundRect">
            <a:avLst>
              <a:gd name="adj" fmla="val 967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生态的价值：把已经验证过的能力借进来</a:t>
            </a:r>
          </a:p>
        </p:txBody>
      </p:sp>
      <p:sp>
        <p:nvSpPr>
          <p:cNvPr id="52" name="takeaway-1">
            <a:extLst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3" name="takeaway-number-1">
            <a:extLst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noGrp="1"/>
          </p:cNvSpPr>
          <p:nvPr/>
        </p:nvSpPr>
        <p:spPr>
          <a:xfrm>
            <a:off x="86677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noGrp="1"/>
          </p:cNvSpPr>
          <p:nvPr/>
        </p:nvSpPr>
        <p:spPr>
          <a:xfrm>
            <a:off x="140017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省手</a:t>
            </a:r>
          </a:p>
        </p:txBody>
      </p:sp>
      <p:sp>
        <p:nvSpPr>
          <p:cNvPr id="55" name="takeaway-body-1">
            <a:extLst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noGrp="1"/>
          </p:cNvSpPr>
          <p:nvPr/>
        </p:nvSpPr>
        <p:spPr>
          <a:xfrm>
            <a:off x="140017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换本地 / 云端底座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不重写调用</a:t>
            </a:r>
          </a:p>
        </p:txBody>
      </p:sp>
      <p:sp>
        <p:nvSpPr>
          <p:cNvPr id="56" name="takeaway-2">
            <a:extLst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noGrp="1"/>
          </p:cNvSpPr>
          <p:nvPr/>
        </p:nvSpPr>
        <p:spPr>
          <a:xfrm>
            <a:off x="4381500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7" name="takeaway-number-2">
            <a:extLst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noGrp="1"/>
          </p:cNvSpPr>
          <p:nvPr/>
        </p:nvSpPr>
        <p:spPr>
          <a:xfrm>
            <a:off x="4533900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noGrp="1"/>
          </p:cNvSpPr>
          <p:nvPr/>
        </p:nvSpPr>
        <p:spPr>
          <a:xfrm>
            <a:off x="5067300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敢放手</a:t>
            </a:r>
          </a:p>
        </p:txBody>
      </p:sp>
      <p:sp>
        <p:nvSpPr>
          <p:cNvPr id="59" name="takeaway-body-2">
            <a:extLst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noGrp="1"/>
          </p:cNvSpPr>
          <p:nvPr/>
        </p:nvSpPr>
        <p:spPr>
          <a:xfrm>
            <a:off x="5067300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审批 fail-closed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发生过的事可重建</a:t>
            </a:r>
          </a:p>
        </p:txBody>
      </p:sp>
      <p:sp>
        <p:nvSpPr>
          <p:cNvPr id="60" name="takeaway-3">
            <a:extLst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61" name="takeaway-number-3">
            <a:extLst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noGrp="1"/>
          </p:cNvSpPr>
          <p:nvPr/>
        </p:nvSpPr>
        <p:spPr>
          <a:xfrm>
            <a:off x="820102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noGrp="1"/>
          </p:cNvSpPr>
          <p:nvPr/>
        </p:nvSpPr>
        <p:spPr>
          <a:xfrm>
            <a:off x="873442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可复用</a:t>
            </a:r>
          </a:p>
        </p:txBody>
      </p:sp>
      <p:sp>
        <p:nvSpPr>
          <p:cNvPr id="63" name="takeaway-body-3">
            <a:extLst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noGrp="1"/>
          </p:cNvSpPr>
          <p:nvPr/>
        </p:nvSpPr>
        <p:spPr>
          <a:xfrm>
            <a:off x="873442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验证过的组合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带到下个项目 / 小团队</a:t>
            </a:r>
          </a:p>
        </p:txBody>
      </p:sp>
      <p:sp>
        <p:nvSpPr>
          <p:cNvPr id="64" name="quote-background">
            <a:extLst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quote">
            <a:extLst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1014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750"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少回到手工，敢把真活交出去</a:t>
            </a:r>
          </a:p>
        </p:txBody>
      </p:sp>
      <p:sp>
        <p:nvSpPr>
          <p:cNvPr id="66" name="quote-source">
            <a:extLst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1014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59524"/>
          </a:bodyPr>
          <a:lstStyle/>
          <a:p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OPC 的生产力底座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4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4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4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66" name="slide-title">
            <a:extLst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到底是什么？不是商店，也不是一个更强的 Loop</a:t>
            </a:r>
          </a:p>
        </p:txBody>
      </p:sp>
      <p:sp>
        <p:nvSpPr>
          <p:cNvPr id="67" name="slide-subtitle">
            <a:extLst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插件爆发发生在它之上；DSH 本身是一套可组合的 Harness runtime</a:t>
            </a:r>
          </a:p>
        </p:txBody>
      </p:sp>
      <p:sp>
        <p:nvSpPr>
          <p:cNvPr id="68" name="section-rule">
            <a:extLst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active-label">
            <a:extLst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5758"/>
          </a:bodyPr>
          <a:lstStyle/>
          <a:p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先澄清定位</a:t>
            </a:r>
          </a:p>
        </p:txBody>
      </p:sp>
      <p:sp>
        <p:nvSpPr>
          <p:cNvPr id="70" name="dsh-plugin-1">
            <a:extLst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不是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插件商店</a:t>
            </a:r>
          </a:p>
        </p:txBody>
      </p:sp>
      <p:sp>
        <p:nvSpPr>
          <p:cNvPr id="71" name="dsh-plugin-2">
            <a:extLst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noGrp="1"/>
          </p:cNvSpPr>
          <p:nvPr/>
        </p:nvSpPr>
        <p:spPr>
          <a:xfrm>
            <a:off x="3495675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不是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Agent 成品</a:t>
            </a:r>
          </a:p>
        </p:txBody>
      </p:sp>
      <p:sp>
        <p:nvSpPr>
          <p:cNvPr id="72" name="dsh-plugin-3">
            <a:extLst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noGrp="1"/>
          </p:cNvSpPr>
          <p:nvPr/>
        </p:nvSpPr>
        <p:spPr>
          <a:xfrm>
            <a:off x="6210300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不是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更强 Loop</a:t>
            </a:r>
          </a:p>
        </p:txBody>
      </p:sp>
      <p:sp>
        <p:nvSpPr>
          <p:cNvPr id="73" name="dsh-plugin-4">
            <a:extLst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noGrp="1"/>
          </p:cNvSpPr>
          <p:nvPr/>
        </p:nvSpPr>
        <p:spPr>
          <a:xfrm>
            <a:off x="8924925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 fontScale="80704"/>
          </a:bodyPr>
          <a:lstStyle/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而是</a:t>
            </a:r>
          </a:p>
          <a:p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可组合 Harness</a:t>
            </a:r>
          </a:p>
        </p:txBody>
      </p:sp>
      <p:sp>
        <p:nvSpPr>
          <p:cNvPr id="74" name="dsh-runtime">
            <a:extLst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noGrp="1"/>
          </p:cNvSpPr>
          <p:nvPr/>
        </p:nvSpPr>
        <p:spPr>
          <a:xfrm>
            <a:off x="1714500" y="3333750"/>
            <a:ext cx="8763000" cy="590550"/>
          </a:xfrm>
          <a:prstGeom prst="roundRect">
            <a:avLst>
              <a:gd name="adj" fmla="val 967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runtime：让模型、工具、后端、规则与 Loop 围绕同一合同装配</a:t>
            </a:r>
          </a:p>
        </p:txBody>
      </p:sp>
      <p:cxnSp>
        <p:nvCxnSpPr>
          <p:cNvPr id="259" name="Elbow Connector 166"/>
          <p:cNvCxnSpPr>
            <a:stCxn id="70" idx="2"/>
            <a:endCxn id="74" idx="0"/>
          </p:cNvCxnSpPr>
          <p:nvPr/>
        </p:nvCxnSpPr>
        <p:spPr>
          <a:xfrm>
            <a:off x="1947863" y="3009900"/>
            <a:ext cx="4148138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60" name="Elbow Connector 167"/>
          <p:cNvCxnSpPr>
            <a:stCxn id="71" idx="2"/>
            <a:endCxn id="74" idx="0"/>
          </p:cNvCxnSpPr>
          <p:nvPr/>
        </p:nvCxnSpPr>
        <p:spPr>
          <a:xfrm>
            <a:off x="4662488" y="3009900"/>
            <a:ext cx="1433513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61" name="Elbow Connector 168"/>
          <p:cNvCxnSpPr>
            <a:stCxn id="72" idx="2"/>
            <a:endCxn id="74" idx="0"/>
          </p:cNvCxnSpPr>
          <p:nvPr/>
        </p:nvCxnSpPr>
        <p:spPr>
          <a:xfrm flipH="1">
            <a:off x="6096000" y="3009900"/>
            <a:ext cx="1281113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62" name="Elbow Connector 169"/>
          <p:cNvCxnSpPr>
            <a:stCxn id="73" idx="2"/>
            <a:endCxn id="74" idx="0"/>
          </p:cNvCxnSpPr>
          <p:nvPr/>
        </p:nvCxnSpPr>
        <p:spPr>
          <a:xfrm flipH="1">
            <a:off x="6096000" y="3009900"/>
            <a:ext cx="3995738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noGrp="1"/>
          </p:cNvSpPr>
          <p:nvPr/>
        </p:nvSpPr>
        <p:spPr>
          <a:xfrm>
            <a:off x="2476500" y="4267200"/>
            <a:ext cx="7239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Session log：每一次行动发生了什么，仍按顺序留下</a:t>
            </a:r>
          </a:p>
        </p:txBody>
      </p:sp>
      <p:cxnSp>
        <p:nvCxnSpPr>
          <p:cNvPr id="264" name="Straight Arrow Connector 171"/>
          <p:cNvCxnSpPr>
            <a:stCxn id="74" idx="2"/>
            <a:endCxn id="79" idx="0"/>
          </p:cNvCxnSpPr>
          <p:nvPr/>
        </p:nvCxnSpPr>
        <p:spPr>
          <a:xfrm>
            <a:off x="6096000" y="3924300"/>
            <a:ext cx="0" cy="34290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已经发生什么：只追加，不因换插件而重写</a:t>
            </a:r>
          </a:p>
        </p:txBody>
      </p:sp>
      <p:sp>
        <p:nvSpPr>
          <p:cNvPr id="82" name="quote-background">
            <a:extLst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quote">
            <a:extLst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noGrp="1"/>
          </p:cNvSpPr>
          <p:nvPr/>
        </p:nvSpPr>
        <p:spPr>
          <a:xfrm>
            <a:off x="943292" y="5372100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2593" lnSpcReduction="10000"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插件围绕 Harness 工作；它们不能替代 Harness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61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6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6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39" name="slide-title">
            <a:extLst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只有插件不够：能装，还必须能管</a:t>
            </a:r>
          </a:p>
        </p:txBody>
      </p:sp>
      <p:sp>
        <p:nvSpPr>
          <p:cNvPr id="40" name="slide-subtitle">
            <a:extLst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能力进入模型可见面或真实执行路径，就会改变系统的责任边界</a:t>
            </a:r>
          </a:p>
        </p:txBody>
      </p:sp>
      <p:sp>
        <p:nvSpPr>
          <p:cNvPr id="41" name="section-rule">
            <a:extLst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extension-1">
            <a:extLst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3" name="extension-heading-1">
            <a:extLst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noGrp="1"/>
          </p:cNvSpPr>
          <p:nvPr/>
        </p:nvSpPr>
        <p:spPr>
          <a:xfrm>
            <a:off x="885825" y="2286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6389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</a:t>
            </a:r>
          </a:p>
        </p:txBody>
      </p:sp>
      <p:sp>
        <p:nvSpPr>
          <p:cNvPr id="44" name="extension-body-1">
            <a:extLst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noGrp="1"/>
          </p:cNvSpPr>
          <p:nvPr/>
        </p:nvSpPr>
        <p:spPr>
          <a:xfrm>
            <a:off x="885825" y="2590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5972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谁能把新能力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带进模型可见面？</a:t>
            </a:r>
          </a:p>
        </p:txBody>
      </p:sp>
      <p:sp>
        <p:nvSpPr>
          <p:cNvPr id="45" name="extension-2">
            <a:extLst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noGrp="1"/>
          </p:cNvSpPr>
          <p:nvPr/>
        </p:nvSpPr>
        <p:spPr>
          <a:xfrm>
            <a:off x="6143625" y="2190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6" name="extension-heading-2">
            <a:extLst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noGrp="1"/>
          </p:cNvSpPr>
          <p:nvPr/>
        </p:nvSpPr>
        <p:spPr>
          <a:xfrm>
            <a:off x="6315075" y="2286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6389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替换</a:t>
            </a:r>
          </a:p>
        </p:txBody>
      </p:sp>
      <p:sp>
        <p:nvSpPr>
          <p:cNvPr id="47" name="extension-body-2">
            <a:extLst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noGrp="1"/>
          </p:cNvSpPr>
          <p:nvPr/>
        </p:nvSpPr>
        <p:spPr>
          <a:xfrm>
            <a:off x="6315075" y="2590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5972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谁能换模型、工具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和执行世界？</a:t>
            </a:r>
          </a:p>
        </p:txBody>
      </p:sp>
      <p:sp>
        <p:nvSpPr>
          <p:cNvPr id="48" name="extension-3">
            <a:extLst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9" name="extension-heading-3">
            <a:extLst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noGrp="1"/>
          </p:cNvSpPr>
          <p:nvPr/>
        </p:nvSpPr>
        <p:spPr>
          <a:xfrm>
            <a:off x="885825" y="3429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6389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放行</a:t>
            </a:r>
          </a:p>
        </p:txBody>
      </p:sp>
      <p:sp>
        <p:nvSpPr>
          <p:cNvPr id="50" name="extension-body-3">
            <a:extLst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noGrp="1"/>
          </p:cNvSpPr>
          <p:nvPr/>
        </p:nvSpPr>
        <p:spPr>
          <a:xfrm>
            <a:off x="885825" y="3733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5972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谁能在真实执行前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拒绝它？</a:t>
            </a:r>
          </a:p>
        </p:txBody>
      </p:sp>
      <p:sp>
        <p:nvSpPr>
          <p:cNvPr id="51" name="extension-4">
            <a:extLst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noGrp="1"/>
          </p:cNvSpPr>
          <p:nvPr/>
        </p:nvSpPr>
        <p:spPr>
          <a:xfrm>
            <a:off x="6143625" y="3333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2" name="extension-heading-4">
            <a:extLst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noGrp="1"/>
          </p:cNvSpPr>
          <p:nvPr/>
        </p:nvSpPr>
        <p:spPr>
          <a:xfrm>
            <a:off x="6315075" y="3429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6389"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重建</a:t>
            </a:r>
          </a:p>
        </p:txBody>
      </p:sp>
      <p:sp>
        <p:nvSpPr>
          <p:cNvPr id="53" name="extension-body-4">
            <a:extLst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noGrp="1"/>
          </p:cNvSpPr>
          <p:nvPr/>
        </p:nvSpPr>
        <p:spPr>
          <a:xfrm>
            <a:off x="6315075" y="3733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5972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谁能说清它</a:t>
            </a:r>
          </a:p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究竟做过什么？</a:t>
            </a:r>
          </a:p>
        </p:txBody>
      </p:sp>
      <p:sp>
        <p:nvSpPr>
          <p:cNvPr id="54" name="own-vs-borrow">
            <a:extLst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9144000" cy="419100"/>
          </a:xfrm>
          <a:prstGeom prst="roundRect">
            <a:avLst>
              <a:gd name="adj" fmla="val 13636"/>
            </a:avLst>
          </a:prstGeom>
          <a:solidFill>
            <a:srgbClr val="F1F3F5"/>
          </a:solidFill>
          <a:ln w="9525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adapter / capability seam / enforced gate / session log</a:t>
            </a:r>
          </a:p>
        </p:txBody>
      </p:sp>
      <p:sp>
        <p:nvSpPr>
          <p:cNvPr id="55" name="slide20-callout">
            <a:extLst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782300" cy="4572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installable 不等于 trustworthy；插件化也不等于安全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51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5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5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必须在手：部件可借，最终决定权不能外包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在手不是全栈自建，而是 owner 对运行边界有 final say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noGrp="1"/>
          </p:cNvSpPr>
          <p:nvPr/>
        </p:nvSpPr>
        <p:spPr>
          <a:xfrm>
            <a:off x="933450" y="2352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“Agent 更可靠地遵守系统门禁，而不是文字约定。”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 dirty="0">
                <a:solidFill>
                  <a:srgbClr val="D0D5DD"/>
                </a:solidFill>
              </a:rPr>
              <a:t>DSH Harness philosophy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noGrp="1"/>
          </p:cNvSpPr>
          <p:nvPr/>
        </p:nvSpPr>
        <p:spPr>
          <a:xfrm>
            <a:off x="157162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接入</a:t>
            </a:r>
          </a:p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我决定什么进来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noGrp="1"/>
          </p:cNvSpPr>
          <p:nvPr/>
        </p:nvSpPr>
        <p:spPr>
          <a:xfrm>
            <a:off x="490537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放行</a:t>
            </a:r>
          </a:p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我决定什么执行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noGrp="1"/>
          </p:cNvSpPr>
          <p:nvPr/>
        </p:nvSpPr>
        <p:spPr>
          <a:xfrm>
            <a:off x="823912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替换 / 重建</a:t>
            </a:r>
          </a:p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我决定怎么运行、如何追溯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模型、工具、后端都可借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部件可借；Harness 的最终决定权不能外包</a:t>
            </a:r>
          </a:p>
        </p:txBody>
      </p:sp>
      <p:cxnSp>
        <p:nvCxnSpPr>
          <p:cNvPr id="165" name="Straight Arrow Connector 80"/>
          <p:cNvCxnSpPr>
            <a:stCxn id="11" idx="3"/>
            <a:endCxn id="12" idx="1"/>
          </p:cNvCxnSpPr>
          <p:nvPr/>
        </p:nvCxnSpPr>
        <p:spPr>
          <a:xfrm>
            <a:off x="3952875" y="3976688"/>
            <a:ext cx="9525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66" name="Straight Arrow Connector 81"/>
          <p:cNvCxnSpPr>
            <a:stCxn id="12" idx="3"/>
            <a:endCxn id="13" idx="1"/>
          </p:cNvCxnSpPr>
          <p:nvPr/>
        </p:nvCxnSpPr>
        <p:spPr>
          <a:xfrm>
            <a:off x="7286625" y="3976688"/>
            <a:ext cx="9525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7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7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7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48" name="slide-title">
            <a:extLst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OPC 要掌握到哪一步？先借现成，最终控制权在手</a:t>
            </a:r>
          </a:p>
        </p:txBody>
      </p:sp>
      <p:sp>
        <p:nvSpPr>
          <p:cNvPr id="49" name="slide-subtitle">
            <a:extLst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72464"/>
          </a:bodyPr>
          <a:lstStyle/>
          <a:p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五个 Engineering 让动作不断上移；Harness 决定动作能否可靠落地</a:t>
            </a:r>
          </a:p>
        </p:txBody>
      </p:sp>
      <p:sp>
        <p:nvSpPr>
          <p:cNvPr id="50" name="section-rule">
            <a:extLst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sh-definition">
            <a:extLst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590550"/>
          </a:xfrm>
          <a:prstGeom prst="roundRect">
            <a:avLst>
              <a:gd name="adj" fmla="val 967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= 可替换组合的 Harness</a:t>
            </a:r>
          </a:p>
        </p:txBody>
      </p:sp>
      <p:sp>
        <p:nvSpPr>
          <p:cNvPr id="52" name="takeaway-1">
            <a:extLst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3" name="takeaway-number-1">
            <a:extLst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noGrp="1"/>
          </p:cNvSpPr>
          <p:nvPr/>
        </p:nvSpPr>
        <p:spPr>
          <a:xfrm>
            <a:off x="86677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noGrp="1"/>
          </p:cNvSpPr>
          <p:nvPr/>
        </p:nvSpPr>
        <p:spPr>
          <a:xfrm>
            <a:off x="140017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先借现成</a:t>
            </a:r>
          </a:p>
        </p:txBody>
      </p:sp>
      <p:sp>
        <p:nvSpPr>
          <p:cNvPr id="55" name="takeaway-body-1">
            <a:extLst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noGrp="1"/>
          </p:cNvSpPr>
          <p:nvPr/>
        </p:nvSpPr>
        <p:spPr>
          <a:xfrm>
            <a:off x="140017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常见任务，复用成熟 Harness</a:t>
            </a:r>
          </a:p>
        </p:txBody>
      </p:sp>
      <p:sp>
        <p:nvSpPr>
          <p:cNvPr id="56" name="takeaway-2">
            <a:extLst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noGrp="1"/>
          </p:cNvSpPr>
          <p:nvPr/>
        </p:nvSpPr>
        <p:spPr>
          <a:xfrm>
            <a:off x="4381500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7" name="takeaway-number-2">
            <a:extLst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noGrp="1"/>
          </p:cNvSpPr>
          <p:nvPr/>
        </p:nvSpPr>
        <p:spPr>
          <a:xfrm>
            <a:off x="4533900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noGrp="1"/>
          </p:cNvSpPr>
          <p:nvPr/>
        </p:nvSpPr>
        <p:spPr>
          <a:xfrm>
            <a:off x="5067300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看懂边界</a:t>
            </a:r>
          </a:p>
        </p:txBody>
      </p:sp>
      <p:sp>
        <p:nvSpPr>
          <p:cNvPr id="59" name="takeaway-body-2">
            <a:extLst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noGrp="1"/>
          </p:cNvSpPr>
          <p:nvPr/>
        </p:nvSpPr>
        <p:spPr>
          <a:xfrm>
            <a:off x="5067300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0278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谁能做、谁检查、哪里留记录</a:t>
            </a:r>
          </a:p>
        </p:txBody>
      </p:sp>
      <p:sp>
        <p:nvSpPr>
          <p:cNvPr id="60" name="takeaway-3">
            <a:extLst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61" name="takeaway-number-3">
            <a:extLst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noGrp="1"/>
          </p:cNvSpPr>
          <p:nvPr/>
        </p:nvSpPr>
        <p:spPr>
          <a:xfrm>
            <a:off x="820102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noGrp="1"/>
          </p:cNvSpPr>
          <p:nvPr/>
        </p:nvSpPr>
        <p:spPr>
          <a:xfrm>
            <a:off x="873442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最终控制权在手</a:t>
            </a:r>
          </a:p>
        </p:txBody>
      </p:sp>
      <p:sp>
        <p:nvSpPr>
          <p:cNvPr id="63" name="takeaway-body-3">
            <a:extLst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noGrp="1"/>
          </p:cNvSpPr>
          <p:nvPr/>
        </p:nvSpPr>
        <p:spPr>
          <a:xfrm>
            <a:off x="873442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8510"/>
          </a:bodyPr>
          <a:lstStyle/>
          <a:p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差异化进入执行链时，决定接入、替换、放行与重建</a:t>
            </a:r>
          </a:p>
        </p:txBody>
      </p:sp>
      <p:sp>
        <p:nvSpPr>
          <p:cNvPr id="64" name="quote-background">
            <a:extLst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5" name="quote">
            <a:extLst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1014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750"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“装自己的，借现成的”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40" y="3279140"/>
            <a:ext cx="9144000" cy="960120"/>
          </a:xfrm>
        </p:spPr>
        <p:txBody>
          <a:bodyPr>
            <a:normAutofit fontScale="90000"/>
          </a:bodyPr>
          <a:lstStyle/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谢谢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装自己的，借现成的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3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4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5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1926</Words>
  <Application>Microsoft Macintosh PowerPoint</Application>
  <DocSecurity>0</DocSecurity>
  <PresentationFormat>Widescreen</PresentationFormat>
  <Paragraphs>411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Arial Black</vt:lpstr>
      <vt:lpstr>WPS​​</vt:lpstr>
      <vt:lpstr>OPC 航海指南 一个人，AI Coding 要掌握到多深？  Ethan Jiang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谢谢 装自己的，借现成的  Ethan Jiang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yizhen jiang</cp:lastModifiedBy>
  <cp:revision>1</cp:revision>
  <dcterms:created xsi:type="dcterms:W3CDTF">2026-08-27T16:07:58Z</dcterms:created>
  <dcterms:modified xsi:type="dcterms:W3CDTF">2026-08-27T16:15:45Z</dcterms:modified>
</cp:coreProperties>
</file>