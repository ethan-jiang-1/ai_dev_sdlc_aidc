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8a1a979624888" /><Relationship Type="http://schemas.openxmlformats.org/officeDocument/2006/relationships/extended-properties" Target="/docProps/app.xml" Id="R30c7edea76464099" /><Relationship Type="http://schemas.openxmlformats.org/officeDocument/2006/relationships/officeDocument" Target="/ppt/presentation.xml" Id="R9aaf0fcebb72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703c641a34455"/>
  </p:sldMasterIdLst>
  <p:notesMasterIdLst>
    <p:notesMasterId xmlns:r="http://schemas.openxmlformats.org/officeDocument/2006/relationships" r:id="R6d402c46b4cb492d"/>
  </p:notesMasterIdLst>
  <p:sldIdLst>
    <p:sldId xmlns:r="http://schemas.openxmlformats.org/officeDocument/2006/relationships" id="256" r:id="R20e11901e336459d"/>
    <p:sldId xmlns:r="http://schemas.openxmlformats.org/officeDocument/2006/relationships" id="257" r:id="R28dc9f5bd10d48d6"/>
    <p:sldId xmlns:r="http://schemas.openxmlformats.org/officeDocument/2006/relationships" id="258" r:id="R91ea349d9af244a5"/>
    <p:sldId xmlns:r="http://schemas.openxmlformats.org/officeDocument/2006/relationships" id="259" r:id="Rfefd0d5460ee4cbe"/>
    <p:sldId xmlns:r="http://schemas.openxmlformats.org/officeDocument/2006/relationships" id="260" r:id="R68cf8f2b3bd64457"/>
    <p:sldId xmlns:r="http://schemas.openxmlformats.org/officeDocument/2006/relationships" id="261" r:id="Rec2f5d77e3294498"/>
    <p:sldId xmlns:r="http://schemas.openxmlformats.org/officeDocument/2006/relationships" id="262" r:id="R84a34e92ba6b48e7"/>
    <p:sldId xmlns:r="http://schemas.openxmlformats.org/officeDocument/2006/relationships" id="263" r:id="Racda5a07df68416b"/>
    <p:sldId xmlns:r="http://schemas.openxmlformats.org/officeDocument/2006/relationships" id="264" r:id="R48aaa5c850514c9e"/>
    <p:sldId xmlns:r="http://schemas.openxmlformats.org/officeDocument/2006/relationships" id="265" r:id="R3dabee007f8c468a"/>
    <p:sldId xmlns:r="http://schemas.openxmlformats.org/officeDocument/2006/relationships" id="266" r:id="R531a30739951478c"/>
    <p:sldId xmlns:r="http://schemas.openxmlformats.org/officeDocument/2006/relationships" id="267" r:id="Rc37b72b7d91445b3"/>
    <p:sldId xmlns:r="http://schemas.openxmlformats.org/officeDocument/2006/relationships" id="268" r:id="R4f019f4efd7a4fef"/>
    <p:sldId xmlns:r="http://schemas.openxmlformats.org/officeDocument/2006/relationships" id="269" r:id="Ra17365cce1f6460c"/>
    <p:sldId xmlns:r="http://schemas.openxmlformats.org/officeDocument/2006/relationships" id="270" r:id="Rb73c2f4f417e4c49"/>
    <p:sldId xmlns:r="http://schemas.openxmlformats.org/officeDocument/2006/relationships" id="271" r:id="R164bd6020e204a6a"/>
    <p:sldId xmlns:r="http://schemas.openxmlformats.org/officeDocument/2006/relationships" id="272" r:id="R0337f65494b64384"/>
    <p:sldId xmlns:r="http://schemas.openxmlformats.org/officeDocument/2006/relationships" id="273" r:id="R00ebceee19334062"/>
    <p:sldId xmlns:r="http://schemas.openxmlformats.org/officeDocument/2006/relationships" id="274" r:id="Rc0a25f2f01bf4353"/>
    <p:sldId xmlns:r="http://schemas.openxmlformats.org/officeDocument/2006/relationships" id="275" r:id="R77cbbfde4a0c4f49"/>
    <p:sldId xmlns:r="http://schemas.openxmlformats.org/officeDocument/2006/relationships" id="276" r:id="R69a74c531af04205"/>
    <p:sldId xmlns:r="http://schemas.openxmlformats.org/officeDocument/2006/relationships" id="277" r:id="R337adbfcc59a4d27"/>
    <p:sldId xmlns:r="http://schemas.openxmlformats.org/officeDocument/2006/relationships" id="278" r:id="Rf0018eda18ca42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3e35af45a4be9" /><Relationship Type="http://schemas.openxmlformats.org/officeDocument/2006/relationships/slideMaster" Target="/ppt/slideMasters/slideMaster1.xml" Id="Rab6703c641a34455" /><Relationship Type="http://schemas.openxmlformats.org/officeDocument/2006/relationships/notesMaster" Target="/ppt/notesMasters/notesMaster1.xml" Id="R6d402c46b4cb492d" /><Relationship Type="http://schemas.openxmlformats.org/officeDocument/2006/relationships/presProps" Target="/ppt/presProps.xml" Id="Raf315178116d4e8d" /><Relationship Type="http://schemas.openxmlformats.org/officeDocument/2006/relationships/viewProps" Target="/ppt/viewProps.xml" Id="Raba2230c849e4e74" /><Relationship Type="http://schemas.openxmlformats.org/officeDocument/2006/relationships/tableStyles" Target="/ppt/tableStyles.xml" Id="Rcd2e8e080fc44af7" /><Relationship Type="http://schemas.openxmlformats.org/officeDocument/2006/relationships/slide" Target="/ppt/slides/slide1.xml" Id="R20e11901e336459d" /><Relationship Type="http://schemas.openxmlformats.org/officeDocument/2006/relationships/slide" Target="/ppt/slides/slide2.xml" Id="R28dc9f5bd10d48d6" /><Relationship Type="http://schemas.openxmlformats.org/officeDocument/2006/relationships/slide" Target="/ppt/slides/slide3.xml" Id="R91ea349d9af244a5" /><Relationship Type="http://schemas.openxmlformats.org/officeDocument/2006/relationships/slide" Target="/ppt/slides/slide4.xml" Id="Rfefd0d5460ee4cbe" /><Relationship Type="http://schemas.openxmlformats.org/officeDocument/2006/relationships/slide" Target="/ppt/slides/slide5.xml" Id="R68cf8f2b3bd64457" /><Relationship Type="http://schemas.openxmlformats.org/officeDocument/2006/relationships/slide" Target="/ppt/slides/slide6.xml" Id="Rec2f5d77e3294498" /><Relationship Type="http://schemas.openxmlformats.org/officeDocument/2006/relationships/slide" Target="/ppt/slides/slide7.xml" Id="R84a34e92ba6b48e7" /><Relationship Type="http://schemas.openxmlformats.org/officeDocument/2006/relationships/slide" Target="/ppt/slides/slide8.xml" Id="Racda5a07df68416b" /><Relationship Type="http://schemas.openxmlformats.org/officeDocument/2006/relationships/slide" Target="/ppt/slides/slide9.xml" Id="R48aaa5c850514c9e" /><Relationship Type="http://schemas.openxmlformats.org/officeDocument/2006/relationships/slide" Target="/ppt/slides/slide10.xml" Id="R3dabee007f8c468a" /><Relationship Type="http://schemas.openxmlformats.org/officeDocument/2006/relationships/slide" Target="/ppt/slides/slide11.xml" Id="R531a30739951478c" /><Relationship Type="http://schemas.openxmlformats.org/officeDocument/2006/relationships/slide" Target="/ppt/slides/slide12.xml" Id="Rc37b72b7d91445b3" /><Relationship Type="http://schemas.openxmlformats.org/officeDocument/2006/relationships/slide" Target="/ppt/slides/slide13.xml" Id="R4f019f4efd7a4fef" /><Relationship Type="http://schemas.openxmlformats.org/officeDocument/2006/relationships/slide" Target="/ppt/slides/slide14.xml" Id="Ra17365cce1f6460c" /><Relationship Type="http://schemas.openxmlformats.org/officeDocument/2006/relationships/slide" Target="/ppt/slides/slide15.xml" Id="Rb73c2f4f417e4c49" /><Relationship Type="http://schemas.openxmlformats.org/officeDocument/2006/relationships/slide" Target="/ppt/slides/slide16.xml" Id="R164bd6020e204a6a" /><Relationship Type="http://schemas.openxmlformats.org/officeDocument/2006/relationships/slide" Target="/ppt/slides/slide17.xml" Id="R0337f65494b64384" /><Relationship Type="http://schemas.openxmlformats.org/officeDocument/2006/relationships/slide" Target="/ppt/slides/slide18.xml" Id="R00ebceee19334062" /><Relationship Type="http://schemas.openxmlformats.org/officeDocument/2006/relationships/slide" Target="/ppt/slides/slide19.xml" Id="Rc0a25f2f01bf4353" /><Relationship Type="http://schemas.openxmlformats.org/officeDocument/2006/relationships/slide" Target="/ppt/slides/slide20.xml" Id="R77cbbfde4a0c4f49" /><Relationship Type="http://schemas.openxmlformats.org/officeDocument/2006/relationships/slide" Target="/ppt/slides/slide21.xml" Id="R69a74c531af04205" /><Relationship Type="http://schemas.openxmlformats.org/officeDocument/2006/relationships/slide" Target="/ppt/slides/slide22.xml" Id="R337adbfcc59a4d27" /><Relationship Type="http://schemas.openxmlformats.org/officeDocument/2006/relationships/slide" Target="/ppt/slides/slide23.xml" Id="Rf0018eda18ca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5280bdd73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b4c8048a7490c" /><Relationship Type="http://schemas.openxmlformats.org/officeDocument/2006/relationships/notesMaster" Target="/ppt/notesMasters/notesMaster1.xml" Id="Rea11ff9060e549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d40653114346ad" /><Relationship Type="http://schemas.openxmlformats.org/officeDocument/2006/relationships/notesMaster" Target="/ppt/notesMasters/notesMaster1.xml" Id="R22c6abd76a9345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c0747e91734537" /><Relationship Type="http://schemas.openxmlformats.org/officeDocument/2006/relationships/notesMaster" Target="/ppt/notesMasters/notesMaster1.xml" Id="Rcadd909484034f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31b9708524fc0" /><Relationship Type="http://schemas.openxmlformats.org/officeDocument/2006/relationships/notesMaster" Target="/ppt/notesMasters/notesMaster1.xml" Id="Rf7486ef561be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aefd470bb4aa0" /><Relationship Type="http://schemas.openxmlformats.org/officeDocument/2006/relationships/notesMaster" Target="/ppt/notesMasters/notesMaster1.xml" Id="R88b6f25dda9540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1f748f1f8442c" /><Relationship Type="http://schemas.openxmlformats.org/officeDocument/2006/relationships/notesMaster" Target="/ppt/notesMasters/notesMaster1.xml" Id="R1390541ea75f48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8f3cb3ff2d4f0d" /><Relationship Type="http://schemas.openxmlformats.org/officeDocument/2006/relationships/notesMaster" Target="/ppt/notesMasters/notesMaster1.xml" Id="R5d9480e157eb47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e538b0b8194f88" /><Relationship Type="http://schemas.openxmlformats.org/officeDocument/2006/relationships/notesMaster" Target="/ppt/notesMasters/notesMaster1.xml" Id="R0f70b60f408249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7cfc9cc2ff4f97" /><Relationship Type="http://schemas.openxmlformats.org/officeDocument/2006/relationships/notesMaster" Target="/ppt/notesMasters/notesMaster1.xml" Id="R8a3c85a05d9e49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e7dff41754b1d" /><Relationship Type="http://schemas.openxmlformats.org/officeDocument/2006/relationships/notesMaster" Target="/ppt/notesMasters/notesMaster1.xml" Id="R764f34be021c4e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310d8b021341a6" /><Relationship Type="http://schemas.openxmlformats.org/officeDocument/2006/relationships/notesMaster" Target="/ppt/notesMasters/notesMaster1.xml" Id="R1472c66f679b45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4446122a8f4a80" /><Relationship Type="http://schemas.openxmlformats.org/officeDocument/2006/relationships/notesMaster" Target="/ppt/notesMasters/notesMaster1.xml" Id="R5a3f23a2765d46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954a7e7e5f45b4" /><Relationship Type="http://schemas.openxmlformats.org/officeDocument/2006/relationships/notesMaster" Target="/ppt/notesMasters/notesMaster1.xml" Id="Rbe89c68acfd84b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8330d3bfcc4d37" /><Relationship Type="http://schemas.openxmlformats.org/officeDocument/2006/relationships/notesMaster" Target="/ppt/notesMasters/notesMaster1.xml" Id="R44e4d3241f2b4c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27a9c57c664e77" /><Relationship Type="http://schemas.openxmlformats.org/officeDocument/2006/relationships/notesMaster" Target="/ppt/notesMasters/notesMaster1.xml" Id="Rc8330381357a41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0658f7ada7450e" /><Relationship Type="http://schemas.openxmlformats.org/officeDocument/2006/relationships/notesMaster" Target="/ppt/notesMasters/notesMaster1.xml" Id="Rcab1b6faafed4a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159afbede840d1" /><Relationship Type="http://schemas.openxmlformats.org/officeDocument/2006/relationships/notesMaster" Target="/ppt/notesMasters/notesMaster1.xml" Id="Rde66b585f6184d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1fd1f657354b89" /><Relationship Type="http://schemas.openxmlformats.org/officeDocument/2006/relationships/notesMaster" Target="/ppt/notesMasters/notesMaster1.xml" Id="R1ff240ea57714c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2ab6fc1d8f4e2a" /><Relationship Type="http://schemas.openxmlformats.org/officeDocument/2006/relationships/notesMaster" Target="/ppt/notesMasters/notesMaster1.xml" Id="Rbb02327c08e14b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a9ecc120914db9" /><Relationship Type="http://schemas.openxmlformats.org/officeDocument/2006/relationships/notesMaster" Target="/ppt/notesMasters/notesMaster1.xml" Id="Rde1f0f62900945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db1a4c22c04ba6" /><Relationship Type="http://schemas.openxmlformats.org/officeDocument/2006/relationships/notesMaster" Target="/ppt/notesMasters/notesMaster1.xml" Id="Rad7fae5a671a43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9b0bdacce343db" /><Relationship Type="http://schemas.openxmlformats.org/officeDocument/2006/relationships/notesMaster" Target="/ppt/notesMasters/notesMaster1.xml" Id="Rfbeb21444bea47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338e31412c447b" /><Relationship Type="http://schemas.openxmlformats.org/officeDocument/2006/relationships/notesMaster" Target="/ppt/notesMasters/notesMaster1.xml" Id="Re3b7cb2ce8b2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Opening: introduce the question carried through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Three anchors establish Harness, Loop, and Graph before the role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Replace agenda with the three questions the talk resolves.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METR, Measuring AI Ability to Complete Long Tasks, 2025-03-19: https://metr.org/blog/2025-03-19-measuring-ai-ability-to-complete-long-tasks/</a:t>
            </a:r>
          </a:p>
          <a:p xmlns:a="http://schemas.openxmlformats.org/drawingml/2006/main">
            <a:r>
              <a:t>Anthropic, Effective context engineering for AI agents: https://www.anthropic.com/engineering/effective-context-engineering-for-ai-agents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uses these sources for model capability growth and the declining value of prompt-level micromanagement. The five-layer stacking interpretation is this talk's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Prompt/Context slide; show Lost in the Middle curve without introducing claims beyond supplied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Agent = Model + Harness. Harness refers to the surrounding system that supplies tools, permissions, validation, execution boundaries, and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Use distinct temporal-loop and spatial-graph structures.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Relationship diagram, not a pyramid; Harness is the reliable execution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Pivot from the relationship map to the reliability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Recover the minimal harness from P5.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Core harness mechanism: retain full Guides/Sensors and deterministic/probabilistic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Storyline basis: talk-ai-coding-evolution/01_storyline/00-storyline-map.md.</a:t>
            </a:r>
          </a:p>
          <a:p xmlns:a="http://schemas.openxmlformats.org/drawingml/2006/main">
            <a:r>
              <a:t>Knowledge Map basis: talk-ai-coding-evolution/_reference/rawdata_dsh-faq-on-digested/07_borrowing-harness-idea/answer.md.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The fourth verb extends reliability into professional understanding: make the domain map, ownership, and correct paths explicit instead of burying them in one large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GraphARC: https://github.com/CodeGraphContext/GraphARC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slide's sequencing is the talk's conclusion: deterministic admission gates belong before a proposed Loop or Graph action becomes a real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Hacker News, 'AWS, Google, and Vercel Agent Flaws Let Attackers Trigger Tools Without Running the Model,' 2026-08-06.</a:t>
            </a:r>
          </a:p>
          <a:p xmlns:a="http://schemas.openxmlformats.org/drawingml/2006/main">
            <a:r>
              <a:t>https://thehackernews.com/2026/08/aws-google-and-vercel-patch-agent-flaws.html</a:t>
            </a:r>
          </a:p>
          <a:p xmlns:a="http://schemas.openxmlformats.org/drawingml/2006/main">
            <a:r>
              <a:t>Local evidence summary: talk-ai-coding-evolution/_reference/rawdata_ai-coding-evolution-final/final_v4/03-2026-harness-era.md.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Concrete example: an authenticated caller could place a tool-use content block at the end of an Amazon Bedrock AgentCore InvokeHarness request. The event loop could dispatch that tool without a model turn. The managed service fix rejects caller-supplied tool-use blocks before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Narrative and OPC decision criterion are supplied by the user feedback and talk-ai-coding-evolution/01_storyline/00-storyline-map.md.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Ask for recognition before presenting the decision: tool sprawl, repeated switching, and scattered knowledge/practice are the pain that can make a shared Harness boundary economically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Fairly state the value of ready-made harnesses.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GitHub REST API, deepseek-ai/deepseek-harness: https://api.github.com/repos/deepseek-ai/deepseek-harness</a:t>
            </a:r>
          </a:p>
          <a:p xmlns:a="http://schemas.openxmlformats.org/drawingml/2006/main">
            <a:r>
              <a:t>Captured 2026-08-27: created 2026-08-13, 199,846 stars, 22,820 forks.</a:t>
            </a:r>
          </a:p>
          <a:p xmlns:a="http://schemas.openxmlformats.org/drawingml/2006/main">
            <a:r>
              <a:t>talk-ai-coding-evolution/_reference/rawdata_dsh-plugin-ecosystem-distribution/answer.md (2026-08-27 snapshot, 2,286 entries)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these numbers only as attention and extensibility signals. They do not certify maturity, quality, security, or trustworthiness.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talk-ai-coding-evolution/_reference/rawdata_dsh-plugin-business-ladder/answer.md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For a self-using owner, the three benefits are saving manual effort, daring to delegate, and reusing combinations the owner has independently verified. External exploration is not external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talk-ai-coding-evolution/_reference/rawdata_dsh-digested/system/00-map.md</a:t>
            </a:r>
          </a:p>
          <a:p xmlns:a="http://schemas.openxmlformats.org/drawingml/2006/main">
            <a:r>
              <a:t>talk-ai-coding-evolution/_reference/rawdata_dsh-faq-on-digested/01_repository-organization/answer.md</a:t>
            </a:r>
          </a:p>
          <a:p xmlns:a="http://schemas.openxmlformats.org/drawingml/2006/main">
            <a:r>
              <a:t>talk-ai-coding-evolution/_reference/rawdata_dsh-plugin-seam-maturity/answer.md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DSH is presented as a composable Harness runtime: inputs vary around shared contracts, while the append-only session log preserves ordered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>talk-ai-coding-evolution/_reference/rawdata_dsh-digested/tools-prompt-llm/00-map.md</a:t>
            </a:r>
          </a:p>
          <a:p xmlns:a="http://schemas.openxmlformats.org/drawingml/2006/main">
            <a:r>
              <a:t>talk-ai-coding-evolution/_reference/rawdata_dsh-digested/capability-seams/00-map.md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Mechanism mapping used in the talk: admission -&gt; registry; replacement -&gt; adapter + capability seam; release -&gt; enforced gate; fact reconstruction -&gt; session log. Installability alone is not a trust or safety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talk-ai-coding-evolution/_reference/rawdata_dsh-faq-on-digested/07_borrowing-harness-idea/answer.md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four-part definition of final authority (admit, replace, release, reconstruct facts) is this talk's synthesis, not an official DSH quotation. It does not require the owner to build every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talk-ai-coding-evolution/01_storyline/00-storyline-map.md</a:t>
            </a:r>
          </a:p>
          <a:p xmlns:a="http://schemas.openxmlformats.org/drawingml/2006/main">
            <a:r>
              <a:t>talk-ai-coding-evolution/_reference/rawdata_ai-coding-evolution-final/final_v4/06-five-layer-forward.md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operating principle is: borrow mature components first, understand the boundary, and retain final authority only where differentiation enters the real execution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Close on the reusable choice principle.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498a2cbe74f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95edc70494b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925f64c0744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aaf2b902744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cf7d439824d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d04200e2c4b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fe484b6ef474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373bf353148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234add3a34cf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2cb05cb2d423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2AE11E3-EFEF-4EEA-AA89-18A57D8D948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F45372E-CC10-4D98-9D95-90F3E1212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781074B-108D-4C7F-9E3B-3D43BA2A7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662EE3-119E-444B-8134-7D848C87A2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8ADC448-3193-4AF7-855A-E1F74AE45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380BA0-8406-49B3-9B37-900883CA3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6F0F48-2682-496C-A91E-8928A92DBF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83ACE5-E1ED-4889-A8F7-CB90819B5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64AFB6-97E9-4D9B-AFE3-53EECFB36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8125FB-23F7-4FBE-B80F-29FCB35ED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F2DB45-72E3-4D78-AB1A-2F5FE6DEF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F86F43A-E5AD-4CE0-9F1E-9CFE3C9F3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C6BF131-3545-4083-B1FB-54FA58D2A7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8ED3A7-C4AA-4CD7-9BFE-4AFFC2C80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E591F5-8D6C-404A-9389-5A39B22B30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9A8F55-B68A-483A-A53E-540C8818B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8D2A801-E694-4FD7-8E63-D698BB9765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258DE2C-8D98-42FC-A500-7B2E315084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5F15505-D19D-43F6-9A27-C998016E2E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B7D99E7-E8CA-4210-97C8-0C2668054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366801E-F48B-4B7B-B57D-EFEC492F4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24C8D2-906A-44E5-94E9-FC88BBF57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8DB727-2083-4D48-B0DA-48037014C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1B5D8E6-CA19-4745-A6A7-8A82CBC0F3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98F709-ED1B-4E0E-8E20-10F17B6EA6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5326E8-0675-4AFF-8B2C-FDF0B6FF55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6E60D0-2B7E-4A5C-92EA-EEB167C46D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F28AEA3-6DC2-44DF-B9FA-1BBFB21EF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6D67F99-B855-4824-B004-A06206B6B5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CA199B-58F5-4BDA-8028-60E6D95E4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9440F6-C9F7-4464-B7E3-B581F57636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448F65-3888-4EE7-A08A-925768F191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F899AC-020B-46CD-AB6B-94B04616BF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066AB12-1CE8-4DA0-A617-37071C3B6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56422C5-6BBF-4F98-9C93-3313CDB9AC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B909A89-EB44-461A-BD20-BF7EFEE36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FEE799-ECDE-41F7-ACC2-A028E98354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DA67F8A-B568-4E81-9C42-D7B77B6773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8CBE4A5-37F9-4B46-8FDF-C8E7B9A6F4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F1D540-B4F7-4549-937A-B756E1F72E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03B651-75B4-48C9-B5A6-E469B4F3E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6F890E-88E4-4880-9B9C-2A1F10435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32F8484-7F20-4C6C-B6DF-0AD102880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D0FE67F-3E6A-4258-9DFC-CBB476B701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5F01BB-9F73-4DB1-BB7F-5433E75C0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98CDA-FD51-482A-AFC0-A439663F9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A15723-FE64-402B-B376-BA673F9FB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56EC72-DCFB-4AFD-AB36-AC613FA581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93EF8AF-A9E5-4CED-9332-EFF831DF4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3B065D7-EB36-4528-A358-4812AF9E5A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66EC56A-B5FD-4CC7-AF64-F85A6FED3B8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7fa4e2b08645ce" /><Relationship Type="http://schemas.openxmlformats.org/officeDocument/2006/relationships/slideLayout" Target="/ppt/slideLayouts/slideLayout1.xml" Id="R8610ba6354dd4e25" /><Relationship Type="http://schemas.openxmlformats.org/officeDocument/2006/relationships/slideLayout" Target="/ppt/slideLayouts/slideLayout2.xml" Id="R888ef64a459c4343" /><Relationship Type="http://schemas.openxmlformats.org/officeDocument/2006/relationships/slideLayout" Target="/ppt/slideLayouts/slideLayout3.xml" Id="R62fe89989d484273" /><Relationship Type="http://schemas.openxmlformats.org/officeDocument/2006/relationships/slideLayout" Target="/ppt/slideLayouts/slideLayout4.xml" Id="Raf03a88dc8594fbc" /><Relationship Type="http://schemas.openxmlformats.org/officeDocument/2006/relationships/slideLayout" Target="/ppt/slideLayouts/slideLayout5.xml" Id="R83ce011d751f40a8" /><Relationship Type="http://schemas.openxmlformats.org/officeDocument/2006/relationships/slideLayout" Target="/ppt/slideLayouts/slideLayout6.xml" Id="Rce5f1cecf9094b2e" /><Relationship Type="http://schemas.openxmlformats.org/officeDocument/2006/relationships/slideLayout" Target="/ppt/slideLayouts/slideLayout7.xml" Id="R5681196296fa443b" /><Relationship Type="http://schemas.openxmlformats.org/officeDocument/2006/relationships/slideLayout" Target="/ppt/slideLayouts/slideLayout8.xml" Id="R3d526c6d4a724569" /><Relationship Type="http://schemas.openxmlformats.org/officeDocument/2006/relationships/slideLayout" Target="/ppt/slideLayouts/slideLayout9.xml" Id="Rd01cfe2c55234b62" /><Relationship Type="http://schemas.openxmlformats.org/officeDocument/2006/relationships/slideLayout" Target="/ppt/slideLayouts/slideLayout10.xml" Id="Raa75bb0f2ac8447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A19B4D4-75CE-4A17-AED6-20D968EC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2E0814-64EC-45B2-81E7-F0B0371D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2CEEE8-4DEC-4F89-865E-5AE4C6F437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BD3693-0FFB-4137-8FCD-2FA59D951F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2BAACC-6271-4091-AD55-B49135007F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10ba6354dd4e25"/>
    <p:sldLayoutId xmlns:r="http://schemas.openxmlformats.org/officeDocument/2006/relationships" id="2147483650" r:id="R888ef64a459c4343"/>
    <p:sldLayoutId xmlns:r="http://schemas.openxmlformats.org/officeDocument/2006/relationships" id="2147483651" r:id="R62fe89989d484273"/>
    <p:sldLayoutId xmlns:r="http://schemas.openxmlformats.org/officeDocument/2006/relationships" id="2147483652" r:id="Raf03a88dc8594fbc"/>
    <p:sldLayoutId xmlns:r="http://schemas.openxmlformats.org/officeDocument/2006/relationships" id="2147483653" r:id="R83ce011d751f40a8"/>
    <p:sldLayoutId xmlns:r="http://schemas.openxmlformats.org/officeDocument/2006/relationships" id="2147483654" r:id="Rce5f1cecf9094b2e"/>
    <p:sldLayoutId xmlns:r="http://schemas.openxmlformats.org/officeDocument/2006/relationships" id="2147483655" r:id="R5681196296fa443b"/>
    <p:sldLayoutId xmlns:r="http://schemas.openxmlformats.org/officeDocument/2006/relationships" id="2147483656" r:id="R3d526c6d4a724569"/>
    <p:sldLayoutId xmlns:r="http://schemas.openxmlformats.org/officeDocument/2006/relationships" id="2147483657" r:id="Rd01cfe2c55234b62"/>
    <p:sldLayoutId xmlns:r="http://schemas.openxmlformats.org/officeDocument/2006/relationships" id="2147483658" r:id="Raa75bb0f2ac8447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fc9863a7c4f63" /><Relationship Type="http://schemas.openxmlformats.org/officeDocument/2006/relationships/image" Target="/ppt/media/image.jpeg" Id="Rdea03419d8db4f00" /><Relationship Type="http://schemas.openxmlformats.org/officeDocument/2006/relationships/image" Target="/ppt/media/image.png" Id="R7c69b19f7185488a" /><Relationship Type="http://schemas.openxmlformats.org/officeDocument/2006/relationships/image" Target="/ppt/media/image2.png" Id="Rc044db1645544576" /><Relationship Type="http://schemas.openxmlformats.org/officeDocument/2006/relationships/image" Target="/ppt/media/image3.png" Id="R012739ed439243cb" /><Relationship Type="http://schemas.openxmlformats.org/officeDocument/2006/relationships/image" Target="/ppt/media/image4.png" Id="R12b4b51c68c14b4a" /><Relationship Type="http://schemas.openxmlformats.org/officeDocument/2006/relationships/notesSlide" Target="/ppt/notesSlides/notesSlide1.xml" Id="Rb67465c8c6ed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924b3417641af" /><Relationship Type="http://schemas.openxmlformats.org/officeDocument/2006/relationships/image" Target="/ppt/media/image.png" Id="R2158e14398e64673" /><Relationship Type="http://schemas.openxmlformats.org/officeDocument/2006/relationships/image" Target="/ppt/media/image2.png" Id="R5b4c4defd4964319" /><Relationship Type="http://schemas.openxmlformats.org/officeDocument/2006/relationships/image" Target="/ppt/media/image3.png" Id="Rfcf9abf0ac8443ad" /><Relationship Type="http://schemas.openxmlformats.org/officeDocument/2006/relationships/image" Target="/ppt/media/image4.png" Id="Rbc7c7280153845da" /><Relationship Type="http://schemas.openxmlformats.org/officeDocument/2006/relationships/notesSlide" Target="/ppt/notesSlides/notesSlide2.xml" Id="R2c40b777b12346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b76c1a8db4d33" /><Relationship Type="http://schemas.openxmlformats.org/officeDocument/2006/relationships/image" Target="/ppt/media/image.png" Id="Rcdd1040f80014e97" /><Relationship Type="http://schemas.openxmlformats.org/officeDocument/2006/relationships/image" Target="/ppt/media/image2.png" Id="R5adcfb04afa248d9" /><Relationship Type="http://schemas.openxmlformats.org/officeDocument/2006/relationships/image" Target="/ppt/media/image3.png" Id="R3af2859e67ad4e04" /><Relationship Type="http://schemas.openxmlformats.org/officeDocument/2006/relationships/image" Target="/ppt/media/image4.png" Id="Rd05ee2495d934cb8" /><Relationship Type="http://schemas.openxmlformats.org/officeDocument/2006/relationships/notesSlide" Target="/ppt/notesSlides/notesSlide3.xml" Id="R05d298ecf74f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13a60249042b9" /><Relationship Type="http://schemas.openxmlformats.org/officeDocument/2006/relationships/image" Target="/ppt/media/image.png" Id="Rd81ae71a32204f54" /><Relationship Type="http://schemas.openxmlformats.org/officeDocument/2006/relationships/image" Target="/ppt/media/image2.png" Id="Rf1b175507bba4116" /><Relationship Type="http://schemas.openxmlformats.org/officeDocument/2006/relationships/image" Target="/ppt/media/image3.png" Id="Rfb3c700968f348ad" /><Relationship Type="http://schemas.openxmlformats.org/officeDocument/2006/relationships/image" Target="/ppt/media/image4.png" Id="R20952fe062464310" /><Relationship Type="http://schemas.openxmlformats.org/officeDocument/2006/relationships/notesSlide" Target="/ppt/notesSlides/notesSlide4.xml" Id="R1b44dabe3f5547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00a3bccb4121" /><Relationship Type="http://schemas.openxmlformats.org/officeDocument/2006/relationships/image" Target="/ppt/media/image.png" Id="Rba6ab3b99e83448d" /><Relationship Type="http://schemas.openxmlformats.org/officeDocument/2006/relationships/image" Target="/ppt/media/image2.png" Id="R2a5f67e429c945ae" /><Relationship Type="http://schemas.openxmlformats.org/officeDocument/2006/relationships/image" Target="/ppt/media/image3.png" Id="Rcbe5db33d1aa4526" /><Relationship Type="http://schemas.openxmlformats.org/officeDocument/2006/relationships/image" Target="/ppt/media/image4.png" Id="Re1c2f97160344a49" /><Relationship Type="http://schemas.openxmlformats.org/officeDocument/2006/relationships/notesSlide" Target="/ppt/notesSlides/notesSlide5.xml" Id="R44a7ae1da3774a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1db11fba4c95" /><Relationship Type="http://schemas.openxmlformats.org/officeDocument/2006/relationships/image" Target="/ppt/media/image.png" Id="R535e31b0c6d048d3" /><Relationship Type="http://schemas.openxmlformats.org/officeDocument/2006/relationships/image" Target="/ppt/media/image2.png" Id="R2a549fee40c64d4d" /><Relationship Type="http://schemas.openxmlformats.org/officeDocument/2006/relationships/image" Target="/ppt/media/image3.png" Id="Rc3ce3021b1a34783" /><Relationship Type="http://schemas.openxmlformats.org/officeDocument/2006/relationships/image" Target="/ppt/media/image4.png" Id="Ra4df9195df6f4ee7" /><Relationship Type="http://schemas.openxmlformats.org/officeDocument/2006/relationships/notesSlide" Target="/ppt/notesSlides/notesSlide6.xml" Id="R03e48255bc7948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a5d795fc04172" /><Relationship Type="http://schemas.openxmlformats.org/officeDocument/2006/relationships/image" Target="/ppt/media/image.png" Id="Re6c2698daf924c63" /><Relationship Type="http://schemas.openxmlformats.org/officeDocument/2006/relationships/image" Target="/ppt/media/image2.png" Id="Ra4bb3d6aeba845f0" /><Relationship Type="http://schemas.openxmlformats.org/officeDocument/2006/relationships/image" Target="/ppt/media/image3.png" Id="Rc12c49834f79455c" /><Relationship Type="http://schemas.openxmlformats.org/officeDocument/2006/relationships/image" Target="/ppt/media/image4.png" Id="R8394f726a05642eb" /><Relationship Type="http://schemas.openxmlformats.org/officeDocument/2006/relationships/notesSlide" Target="/ppt/notesSlides/notesSlide7.xml" Id="Re4d6167367ac49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13d0c68d24372" /><Relationship Type="http://schemas.openxmlformats.org/officeDocument/2006/relationships/image" Target="/ppt/media/image.png" Id="Rb297e1efd033484e" /><Relationship Type="http://schemas.openxmlformats.org/officeDocument/2006/relationships/image" Target="/ppt/media/image2.png" Id="Rc24067ede0d1421a" /><Relationship Type="http://schemas.openxmlformats.org/officeDocument/2006/relationships/image" Target="/ppt/media/image3.png" Id="R0c71fb838b3c4350" /><Relationship Type="http://schemas.openxmlformats.org/officeDocument/2006/relationships/image" Target="/ppt/media/image4.png" Id="Reb90a59001b74170" /><Relationship Type="http://schemas.openxmlformats.org/officeDocument/2006/relationships/notesSlide" Target="/ppt/notesSlides/notesSlide8.xml" Id="R5730c47e173749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f1aaf2034b00" /><Relationship Type="http://schemas.openxmlformats.org/officeDocument/2006/relationships/image" Target="/ppt/media/image.png" Id="R5c9482577d254b71" /><Relationship Type="http://schemas.openxmlformats.org/officeDocument/2006/relationships/image" Target="/ppt/media/image2.png" Id="R6bbb152b0e654d3c" /><Relationship Type="http://schemas.openxmlformats.org/officeDocument/2006/relationships/image" Target="/ppt/media/image3.png" Id="R6e6d35a5e7db4b80" /><Relationship Type="http://schemas.openxmlformats.org/officeDocument/2006/relationships/image" Target="/ppt/media/image4.png" Id="R3dd9dc1b2bdf4614" /><Relationship Type="http://schemas.openxmlformats.org/officeDocument/2006/relationships/notesSlide" Target="/ppt/notesSlides/notesSlide9.xml" Id="R0f070cc9134847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7a2b4db9e4804" /><Relationship Type="http://schemas.openxmlformats.org/officeDocument/2006/relationships/image" Target="/ppt/media/image.png" Id="R67a526e73b524329" /><Relationship Type="http://schemas.openxmlformats.org/officeDocument/2006/relationships/image" Target="/ppt/media/image2.png" Id="Rac65740d5c8c43ad" /><Relationship Type="http://schemas.openxmlformats.org/officeDocument/2006/relationships/image" Target="/ppt/media/image3.png" Id="Re38ff7d6184149c1" /><Relationship Type="http://schemas.openxmlformats.org/officeDocument/2006/relationships/image" Target="/ppt/media/image4.png" Id="R126f59691a494f43" /><Relationship Type="http://schemas.openxmlformats.org/officeDocument/2006/relationships/notesSlide" Target="/ppt/notesSlides/notesSlide10.xml" Id="R430ce649a6b146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bb1102ec643a2" /><Relationship Type="http://schemas.openxmlformats.org/officeDocument/2006/relationships/image" Target="/ppt/media/image.png" Id="R537010654cf04cf2" /><Relationship Type="http://schemas.openxmlformats.org/officeDocument/2006/relationships/image" Target="/ppt/media/image2.png" Id="Ref3baa28ea274ad7" /><Relationship Type="http://schemas.openxmlformats.org/officeDocument/2006/relationships/image" Target="/ppt/media/image3.png" Id="Rac2fc01ccb464ecf" /><Relationship Type="http://schemas.openxmlformats.org/officeDocument/2006/relationships/image" Target="/ppt/media/image4.png" Id="R43eb16241bf74e1d" /><Relationship Type="http://schemas.openxmlformats.org/officeDocument/2006/relationships/notesSlide" Target="/ppt/notesSlides/notesSlide11.xml" Id="Rbebc3da1d32c4d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c4d8af1c14898" /><Relationship Type="http://schemas.openxmlformats.org/officeDocument/2006/relationships/image" Target="/ppt/media/image.png" Id="R0f216d774aa54304" /><Relationship Type="http://schemas.openxmlformats.org/officeDocument/2006/relationships/image" Target="/ppt/media/image2.png" Id="Rc34dbd2ab7ae4808" /><Relationship Type="http://schemas.openxmlformats.org/officeDocument/2006/relationships/image" Target="/ppt/media/image3.png" Id="Rcfe8a219979e49dc" /><Relationship Type="http://schemas.openxmlformats.org/officeDocument/2006/relationships/image" Target="/ppt/media/image4.png" Id="R6aa22493d26f4e7b" /><Relationship Type="http://schemas.openxmlformats.org/officeDocument/2006/relationships/notesSlide" Target="/ppt/notesSlides/notesSlide12.xml" Id="R9814168ef11f40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bcaafefdf4ed1" /><Relationship Type="http://schemas.openxmlformats.org/officeDocument/2006/relationships/image" Target="/ppt/media/image.png" Id="R14aae598581047ea" /><Relationship Type="http://schemas.openxmlformats.org/officeDocument/2006/relationships/image" Target="/ppt/media/image2.png" Id="R04031a4f48914dc4" /><Relationship Type="http://schemas.openxmlformats.org/officeDocument/2006/relationships/image" Target="/ppt/media/image3.png" Id="R2b7b73881f134b61" /><Relationship Type="http://schemas.openxmlformats.org/officeDocument/2006/relationships/image" Target="/ppt/media/image4.png" Id="R5c3b902165a04b80" /><Relationship Type="http://schemas.openxmlformats.org/officeDocument/2006/relationships/notesSlide" Target="/ppt/notesSlides/notesSlide13.xml" Id="Rb495e65e084f48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f57dc5a4a45fd" /><Relationship Type="http://schemas.openxmlformats.org/officeDocument/2006/relationships/image" Target="/ppt/media/image.png" Id="R4e7d681a43564095" /><Relationship Type="http://schemas.openxmlformats.org/officeDocument/2006/relationships/image" Target="/ppt/media/image2.png" Id="R6a30d5680d5f43c7" /><Relationship Type="http://schemas.openxmlformats.org/officeDocument/2006/relationships/image" Target="/ppt/media/image3.png" Id="R786fa21ae9a84f4f" /><Relationship Type="http://schemas.openxmlformats.org/officeDocument/2006/relationships/image" Target="/ppt/media/image4.png" Id="R5bc9877664dc4c23" /><Relationship Type="http://schemas.openxmlformats.org/officeDocument/2006/relationships/notesSlide" Target="/ppt/notesSlides/notesSlide14.xml" Id="R94741c169b3b4a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0f193aee349e8" /><Relationship Type="http://schemas.openxmlformats.org/officeDocument/2006/relationships/image" Target="/ppt/media/image.png" Id="Rc64d15cf68654104" /><Relationship Type="http://schemas.openxmlformats.org/officeDocument/2006/relationships/image" Target="/ppt/media/image2.png" Id="R53d85ce06bb0410d" /><Relationship Type="http://schemas.openxmlformats.org/officeDocument/2006/relationships/image" Target="/ppt/media/image3.png" Id="R644d9fdb75014806" /><Relationship Type="http://schemas.openxmlformats.org/officeDocument/2006/relationships/image" Target="/ppt/media/image4.png" Id="R1ae6aec1e1584f0f" /><Relationship Type="http://schemas.openxmlformats.org/officeDocument/2006/relationships/notesSlide" Target="/ppt/notesSlides/notesSlide15.xml" Id="R805366efa30e48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47bc115a4694" /><Relationship Type="http://schemas.openxmlformats.org/officeDocument/2006/relationships/image" Target="/ppt/media/image.png" Id="R5c00600025f74c9e" /><Relationship Type="http://schemas.openxmlformats.org/officeDocument/2006/relationships/image" Target="/ppt/media/image2.png" Id="R2b27a5a584234ac2" /><Relationship Type="http://schemas.openxmlformats.org/officeDocument/2006/relationships/image" Target="/ppt/media/image3.png" Id="Rd2371c2abeb741ac" /><Relationship Type="http://schemas.openxmlformats.org/officeDocument/2006/relationships/image" Target="/ppt/media/image4.png" Id="R9b75b39a2e7a4e49" /><Relationship Type="http://schemas.openxmlformats.org/officeDocument/2006/relationships/notesSlide" Target="/ppt/notesSlides/notesSlide16.xml" Id="R67eb2d7e5e194e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30fcca5094b4d" /><Relationship Type="http://schemas.openxmlformats.org/officeDocument/2006/relationships/image" Target="/ppt/media/image.png" Id="Reda5ab9454a04435" /><Relationship Type="http://schemas.openxmlformats.org/officeDocument/2006/relationships/image" Target="/ppt/media/image2.png" Id="Rb8e9de8ae66a487c" /><Relationship Type="http://schemas.openxmlformats.org/officeDocument/2006/relationships/image" Target="/ppt/media/image3.png" Id="R447939ff202b4ddf" /><Relationship Type="http://schemas.openxmlformats.org/officeDocument/2006/relationships/image" Target="/ppt/media/image4.png" Id="R3c071860524245c2" /><Relationship Type="http://schemas.openxmlformats.org/officeDocument/2006/relationships/notesSlide" Target="/ppt/notesSlides/notesSlide17.xml" Id="Ra02b9b4b51a940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33e24cff949c6" /><Relationship Type="http://schemas.openxmlformats.org/officeDocument/2006/relationships/image" Target="/ppt/media/image.png" Id="Re14bf32e0cab430f" /><Relationship Type="http://schemas.openxmlformats.org/officeDocument/2006/relationships/image" Target="/ppt/media/image2.png" Id="R2e46a67dcbc94d9d" /><Relationship Type="http://schemas.openxmlformats.org/officeDocument/2006/relationships/image" Target="/ppt/media/image3.png" Id="R39ee5478903d47bd" /><Relationship Type="http://schemas.openxmlformats.org/officeDocument/2006/relationships/image" Target="/ppt/media/image4.png" Id="Rd2bf5d40d03a42ba" /><Relationship Type="http://schemas.openxmlformats.org/officeDocument/2006/relationships/notesSlide" Target="/ppt/notesSlides/notesSlide18.xml" Id="Ree713dd4730f4e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2d8dd4d32431d" /><Relationship Type="http://schemas.openxmlformats.org/officeDocument/2006/relationships/image" Target="/ppt/media/image.png" Id="R8f33f20caa524a4b" /><Relationship Type="http://schemas.openxmlformats.org/officeDocument/2006/relationships/image" Target="/ppt/media/image2.png" Id="R8c3b11283a7a4d11" /><Relationship Type="http://schemas.openxmlformats.org/officeDocument/2006/relationships/image" Target="/ppt/media/image3.png" Id="R2b4da983cada485a" /><Relationship Type="http://schemas.openxmlformats.org/officeDocument/2006/relationships/image" Target="/ppt/media/image4.png" Id="Ree0b51cadd7d485c" /><Relationship Type="http://schemas.openxmlformats.org/officeDocument/2006/relationships/notesSlide" Target="/ppt/notesSlides/notesSlide19.xml" Id="Rcef38a9cb39641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ba4ff64a5418e" /><Relationship Type="http://schemas.openxmlformats.org/officeDocument/2006/relationships/image" Target="/ppt/media/image.png" Id="Rd048bf37a13544a8" /><Relationship Type="http://schemas.openxmlformats.org/officeDocument/2006/relationships/image" Target="/ppt/media/image2.png" Id="Rd760871ebb414083" /><Relationship Type="http://schemas.openxmlformats.org/officeDocument/2006/relationships/image" Target="/ppt/media/image3.png" Id="Ra52e3581ec504ef5" /><Relationship Type="http://schemas.openxmlformats.org/officeDocument/2006/relationships/image" Target="/ppt/media/image4.png" Id="R4136bbcd052e4483" /><Relationship Type="http://schemas.openxmlformats.org/officeDocument/2006/relationships/notesSlide" Target="/ppt/notesSlides/notesSlide20.xml" Id="R1f956bbad90d40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edb45eaad4371" /><Relationship Type="http://schemas.openxmlformats.org/officeDocument/2006/relationships/image" Target="/ppt/media/image.png" Id="Rb12f9243ab7f474d" /><Relationship Type="http://schemas.openxmlformats.org/officeDocument/2006/relationships/image" Target="/ppt/media/image2.png" Id="R9ba6ba8abc324987" /><Relationship Type="http://schemas.openxmlformats.org/officeDocument/2006/relationships/image" Target="/ppt/media/image3.png" Id="Rcbcc74426d5845a4" /><Relationship Type="http://schemas.openxmlformats.org/officeDocument/2006/relationships/image" Target="/ppt/media/image4.png" Id="Rc4a6943114dc4b27" /><Relationship Type="http://schemas.openxmlformats.org/officeDocument/2006/relationships/notesSlide" Target="/ppt/notesSlides/notesSlide21.xml" Id="R661f45fd2a3946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e41303aff4e27" /><Relationship Type="http://schemas.openxmlformats.org/officeDocument/2006/relationships/image" Target="/ppt/media/image.png" Id="Rcf2b071378a04ed8" /><Relationship Type="http://schemas.openxmlformats.org/officeDocument/2006/relationships/image" Target="/ppt/media/image2.png" Id="R6a5c882278614373" /><Relationship Type="http://schemas.openxmlformats.org/officeDocument/2006/relationships/image" Target="/ppt/media/image3.png" Id="Rdb0dcb3ef5c449b3" /><Relationship Type="http://schemas.openxmlformats.org/officeDocument/2006/relationships/image" Target="/ppt/media/image4.png" Id="R11f4b94e06134652" /><Relationship Type="http://schemas.openxmlformats.org/officeDocument/2006/relationships/notesSlide" Target="/ppt/notesSlides/notesSlide22.xml" Id="R2be4a709c65646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58c3363b44dd9" /><Relationship Type="http://schemas.openxmlformats.org/officeDocument/2006/relationships/image" Target="/ppt/media/image.jpeg" Id="R761c7b8b478b41b5" /><Relationship Type="http://schemas.openxmlformats.org/officeDocument/2006/relationships/image" Target="/ppt/media/image.png" Id="Rdb8495f113d041ae" /><Relationship Type="http://schemas.openxmlformats.org/officeDocument/2006/relationships/image" Target="/ppt/media/image2.png" Id="R654c4da73f264532" /><Relationship Type="http://schemas.openxmlformats.org/officeDocument/2006/relationships/image" Target="/ppt/media/image3.png" Id="R44950ee01f144154" /><Relationship Type="http://schemas.openxmlformats.org/officeDocument/2006/relationships/image" Target="/ppt/media/image4.png" Id="R64af5e0c139d4628" /><Relationship Type="http://schemas.openxmlformats.org/officeDocument/2006/relationships/notesSlide" Target="/ppt/notesSlides/notesSlide23.xml" Id="R970878e219304c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03419d8db4f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263842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96060" y="3212782"/>
            <a:ext cx="9144000" cy="96012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OPC 航海指南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一个人，AI Coding 要掌握到多深？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9b19f718548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4db164554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739ed439243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4b51c68c14b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e14398e6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3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c4defd496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3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9abf0ac8443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3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c7280153845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1A407E-D2C9-4203-B4D2-E12A286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Coding 的五个 Engineering，先看全貌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BB8FB4C-6C74-41EC-BF16-4722B864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它们不是新词清单，而是模型变强后，人要解决的问题不断上移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89083B-5006-4CC6-A882-DB046EC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1492ABF-6BB6-4F22-AD30-85E0FF5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D81693-2E76-42F9-A885-DCA348B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Prompt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510426-2387-4FE6-840F-49A7897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说什么？</a:t>
            </a:r>
          </a:p>
        </p:txBody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51653769-22E0-496E-A149-6AE3ED0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2874CA6-1353-4DA2-BFDF-73E5DB4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Context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1256396-50AB-475E-A069-5C8BBC9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看什么？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E650C15-8399-4B83-892D-2642D50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FE8E040-7CB2-4D54-864C-B5B888E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A278214-E7A2-4F96-B186-650F6F3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在哪行动？</a:t>
            </a:r>
            <a:endParaRPr sz="975" b="0">
              <a:solidFill>
                <a:srgbClr val="667085"/>
              </a:solidFill>
            </a:endParaRP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66474467-ADDD-4315-8505-17E7475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AB04E20-5400-460D-A6D9-47731EB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9999E6-10ED-4189-87F7-29546F1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何时重试？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DB55F7A-248A-40CA-8CE5-455A202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002F2A2-D07C-4443-A0B9-E6829C3F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如何编排？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5E4F42B-8422-49EE-B313-5F72FEC4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DD3C5AC-30F1-4A79-AA53-AC3716C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模型越强，人的动作越从亲手做，变成设计它怎样做</a:t>
            </a:r>
          </a:p>
        </p:txBody>
      </p:sp>
      <p:sp>
        <p:nvSpPr>
          <p:cNvPr id="30" name="anchor-quote-1">
            <a:extLst xmlns:a="http://schemas.openxmlformats.org/drawingml/2006/main">
              <a:ext uri="{FF2B5EF4-FFF2-40B4-BE49-F238E27FC236}">
                <a16:creationId xmlns:a16="http://schemas.microsoft.com/office/drawing/2014/main" id="{2AD90136-AE97-4DD2-A346-01839E5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1014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说清任务  →  让动作可靠  →  把工作组织起来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1040f80014e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cfb04afa2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2859e67ad4e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ee2495d93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04F9D81-5232-4606-8300-65ADA55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后面每一层，都在回答前一层解决不了的问题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169C003-9073-4973-BE77-C65D433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先看清五个对象，再沿着“为什么还不够”一路往下走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DE8197-2EBD-4CED-8BC9-2D620FB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50BF025-E5E7-415D-A6C5-D8C2EFB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01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C378FC25-E79A-4587-A32F-46F969B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16EC273-D0EA-45E5-979E-1DA9822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说清任务后，模型到底该看到哪些事实？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B4609F3-6E0B-4429-BBAA-C48647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02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B766B5D-D049-469D-A35D-A52389E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FFB3FA8-DD1E-446A-A821-C321AADD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看见事实后，它怎样在真实世界安全地行动？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CC39AA-27BC-49F0-88E2-65615130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03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7CE820D4-A3FA-4DEC-A74C-F5D9D5E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223016-6B36-4D94-8696-808D8CE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957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动作可靠后，何时该借现成，何时必须改边界？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2807CD9-BC07-4AE4-8944-B83A9666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最后用 DSH 看：怎样既借现成，又保留改边界的能力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ae71a3220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1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175507bba4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c700968f3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52fe062464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F3EF70F-6A2F-4775-901D-DFCB9C6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模型越强，工程对象越从一句话往系统上移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2A83F3A-7BD3-44B3-90DB-6DCECC7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五个 Engineering 由同一台发动机推动：模型变强，手工动作就得上移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4E5BB30-6870-4753-A2B2-9B89DE6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311D89E-7B3F-4DF9-8C68-228D9C5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50%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可靠性任务长度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约每 7 个月翻倍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CB7FAAA-8DC9-49F8-8022-7DC7EDA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3837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METR · 独立评估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3875FF-C192-43DD-B050-09BEDA5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模型能力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更强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FC2EB7A-F936-4DBF-B4FC-B130535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单次措辞优化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收益递减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E069AF-6D0A-4854-842C-94B0085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工程杠杆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向上移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069BAC9-A158-4E12-BE96-33236D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6675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写清一次任务  →  设计一次行动  →  设计一套系统怎样工作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F26EC6-5B2B-4115-A76B-9DB843E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4F4C65-F849-4A4D-A1CC-8FB5B3AC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“prompt 的精确措辞，越来越不重要”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BE7D3E2-0A14-4FA5-8C6C-76246E2A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Anthropic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F09C2AC-5E70-4970-8C00-0DE53EC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不是替代，是叠加：旧问题仍在，新问题继续往上长</a:t>
            </a:r>
          </a:p>
        </p:txBody>
      </p:sp>
      <p:cxnSp>
        <p:nvCxnSpPr>
          <p:cNvPr id="227" name="Straight Arrow Connector 88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28" name="Straight Arrow Connector 89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0575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b3b99e8344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f67e429c945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5db33d1aa4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2f97160344a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5EC674-98A9-4B04-BDED-A42D7DA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Prompt Engineering 与 Context Engineering：先说清，再看对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3184A62-B99F-45C2-B5A2-14D0C221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它们解决“说什么、看什么”，却还没解决“能不能安全地行动”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F79838D-BC20-4A43-B584-7DD3DFD3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4C2F4C9-07FE-48CD-8AD1-640BEA7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Prompt Engineering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说清任务、约束和格式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局限：文字不能代替系统控制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AD2A75-C3E1-403C-B7CA-BD993BF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Context Engineering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挑出此刻需要的事实和状态</a:t>
            </a:r>
          </a:p>
          <a:p xmlns:a="http://schemas.openxmlformats.org/drawingml/2006/main"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局限：材料越多，关键内容越容易被淹没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FE4156B-B97E-452C-B03C-4C933C4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6824014-65BE-4B6B-9890-EA5CC8C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说对、看对之后，下一问是：它究竟能在什么边界里行动？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BC2CDA1-95FE-4AD9-8F88-296BE60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这正是</a:t>
            </a:r>
            <a:r>
              <a:rPr sz="1400" b="0">
                <a:solidFill>
                  <a:srgbClr val="D0D5DD"/>
                </a:solidFill>
              </a:rPr>
              <a:t> Harness Engineering </a:t>
            </a:r>
            <a:r>
              <a:rPr sz="1400" b="0">
                <a:solidFill>
                  <a:srgbClr val="D0D5DD"/>
                </a:solidFill>
              </a:rPr>
              <a:t>出场的原因</a:t>
            </a:r>
            <a:endParaRPr sz="1400" b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e31b0c6d048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49fee40c64d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e3021b1a3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f9195df6f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2A5A23-641A-49E3-8354-8CEAA4A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Engineering：为每一次行动设下可靠边界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9020DAA-B098-44AD-904F-CB11931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它回答的不是模型会不会想，而是它此刻能做什么、谁来检查、如何留下记录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46F6231-D683-4262-966E-29280E1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647CF74-EF65-49BA-AFEF-2F0E7E73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914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 = Model + 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978D20-623F-4E2D-84C6-2D0C7A9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5148654-B48B-4CB3-B7F0-F015772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8909F3-4C75-41E0-86BA-93F6D2C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5BF741-B9E2-4CEF-AD6B-D6B128D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D5B70C7-149B-4810-9730-137BD1F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DC10DCC-A51D-4BF0-8645-D2EC8181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CI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D74D192-638A-4D1E-AD0E-C401026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权限、沙箱、工具、验证、执行记录、CI：模型之外让行动可交付的一切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1D394D1-C03C-4A2C-943A-A2B1681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一次动作可靠后，问题才变成：怎样把反馈连成 Loop、把任务组织成 Graph？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2698daf92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7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b3d6aeba845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7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c49834f7945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47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4f726a056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2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6AE55A-6E7B-44AE-B491-6CCE11E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 与 Graph Engineering：让可靠行动持续发生</a:t>
            </a:r>
          </a:p>
        </p:txBody>
      </p:sp>
      <p:sp>
        <p:nvSpPr>
          <p:cNvPr id="23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A431B4-1651-4618-B6FF-2980D9E9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Loop 解决“怎样知错再改”；Graph 解决“谁先做、谁并行、何时汇合”</a:t>
            </a:r>
          </a:p>
        </p:txBody>
      </p:sp>
      <p:sp>
        <p:nvSpPr>
          <p:cNvPr id="23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A13F1A5-1823-433E-81E9-1A7BB6B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2" name="loop-heading">
            <a:extLst xmlns:a="http://schemas.openxmlformats.org/drawingml/2006/main">
              <a:ext uri="{FF2B5EF4-FFF2-40B4-BE49-F238E27FC236}">
                <a16:creationId xmlns:a16="http://schemas.microsoft.com/office/drawing/2014/main" id="{44EEF591-D66F-49B6-915F-BA53287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ENGINEERING：检验失败，就把反馈带回下一轮</a:t>
            </a:r>
          </a:p>
        </p:txBody>
      </p:sp>
      <p:sp>
        <p:nvSpPr>
          <p:cNvPr id="233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258B3783-0DD5-44CC-9446-CDE353C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GRAPH ENGINEERING：把复杂任务写成显式依赖</a:t>
            </a:r>
          </a:p>
        </p:txBody>
      </p:sp>
      <p:sp>
        <p:nvSpPr>
          <p:cNvPr id="234" name="graph-example">
            <a:extLst xmlns:a="http://schemas.openxmlformats.org/drawingml/2006/main">
              <a:ext uri="{FF2B5EF4-FFF2-40B4-BE49-F238E27FC236}">
                <a16:creationId xmlns:a16="http://schemas.microsoft.com/office/drawing/2014/main" id="{CF4626DC-CEF6-49AA-947E-D2FB5A7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例：修复登录故障</a:t>
            </a:r>
          </a:p>
        </p:txBody>
      </p:sp>
      <p:sp>
        <p:nvSpPr>
          <p:cNvPr id="235" name="loop-execute">
            <a:extLst xmlns:a="http://schemas.openxmlformats.org/drawingml/2006/main">
              <a:ext uri="{FF2B5EF4-FFF2-40B4-BE49-F238E27FC236}">
                <a16:creationId xmlns:a16="http://schemas.microsoft.com/office/drawing/2014/main" id="{A13B57F0-FAA1-482A-A809-C56D4C4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36" name="loop-verify">
            <a:extLst xmlns:a="http://schemas.openxmlformats.org/drawingml/2006/main">
              <a:ext uri="{FF2B5EF4-FFF2-40B4-BE49-F238E27FC236}">
                <a16:creationId xmlns:a16="http://schemas.microsoft.com/office/drawing/2014/main" id="{93ABF9DB-57C6-4D30-ABCA-E90D479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</a:t>
            </a:r>
          </a:p>
        </p:txBody>
      </p:sp>
      <p:sp>
        <p:nvSpPr>
          <p:cNvPr id="237" name="loop-decision">
            <a:extLst xmlns:a="http://schemas.openxmlformats.org/drawingml/2006/main">
              <a:ext uri="{FF2B5EF4-FFF2-40B4-BE49-F238E27FC236}">
                <a16:creationId xmlns:a16="http://schemas.microsoft.com/office/drawing/2014/main" id="{62F73BA2-F304-404D-AFB3-06B2D53D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8763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59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通过？</a:t>
            </a:r>
          </a:p>
        </p:txBody>
      </p:sp>
      <p:sp>
        <p:nvSpPr>
          <p:cNvPr id="238" name="loop-done">
            <a:extLst xmlns:a="http://schemas.openxmlformats.org/drawingml/2006/main">
              <a:ext uri="{FF2B5EF4-FFF2-40B4-BE49-F238E27FC236}">
                <a16:creationId xmlns:a16="http://schemas.microsoft.com/office/drawing/2014/main" id="{1F57E71C-2C64-4D06-8CE4-373AA25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9703"/>
            <a:ext cx="8763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9" name="Straight Arrow Connector 272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2095500" y="3467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90" name="Straight Arrow Connector 273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3810000" y="34671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91" name="Straight Arrow Connector 274"/>
          <p:cNvCxnSpPr>
            <a:stCxn xmlns:a="http://schemas.openxmlformats.org/drawingml/2006/main" id="237" idx="3"/>
            <a:endCxn xmlns:a="http://schemas.openxmlformats.org/drawingml/2006/main" id="238" idx="0"/>
          </p:cNvCxnSpPr>
          <p:nvPr/>
        </p:nvCxnSpPr>
        <p:spPr>
          <a:xfrm xmlns:a="http://schemas.openxmlformats.org/drawingml/2006/main">
            <a:off x="5276850" y="3467100"/>
            <a:ext cx="0" cy="71260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492" name="Elbow Connector 275"/>
          <p:cNvCxnSpPr>
            <a:stCxn xmlns:a="http://schemas.openxmlformats.org/drawingml/2006/main" id="237" idx="2"/>
            <a:endCxn xmlns:a="http://schemas.openxmlformats.org/drawingml/2006/main" id="235" idx="2"/>
          </p:cNvCxnSpPr>
          <p:nvPr/>
        </p:nvCxnSpPr>
        <p:spPr>
          <a:xfrm xmlns:a="http://schemas.openxmlformats.org/drawingml/2006/main" rot="5400000" flipH="1">
            <a:off x="3126581" y="2116932"/>
            <a:ext cx="85725" cy="3338512"/>
          </a:xfrm>
          <a:prstGeom xmlns:a="http://schemas.openxmlformats.org/drawingml/2006/main" prst="bentConnector3">
            <a:avLst>
              <a:gd name="adj1" fmla="val -266667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43" name="loop-yes">
            <a:extLst xmlns:a="http://schemas.openxmlformats.org/drawingml/2006/main">
              <a:ext uri="{FF2B5EF4-FFF2-40B4-BE49-F238E27FC236}">
                <a16:creationId xmlns:a16="http://schemas.microsoft.com/office/drawing/2014/main" id="{255DA673-F0C3-423D-AEC6-1E1AB83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是</a:t>
            </a:r>
            <a:endParaRPr sz="1125" b="1">
              <a:solidFill>
                <a:srgbClr val="626A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loop-no">
            <a:extLst xmlns:a="http://schemas.openxmlformats.org/drawingml/2006/main">
              <a:ext uri="{FF2B5EF4-FFF2-40B4-BE49-F238E27FC236}">
                <a16:creationId xmlns:a16="http://schemas.microsoft.com/office/drawing/2014/main" id="{65030EF4-7B8D-46B6-894D-382540E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否：反馈下一轮</a:t>
            </a:r>
          </a:p>
        </p:txBody>
      </p:sp>
      <p:sp>
        <p:nvSpPr>
          <p:cNvPr id="245" name="dag-incident">
            <a:extLst xmlns:a="http://schemas.openxmlformats.org/drawingml/2006/main">
              <a:ext uri="{FF2B5EF4-FFF2-40B4-BE49-F238E27FC236}">
                <a16:creationId xmlns:a16="http://schemas.microsoft.com/office/drawing/2014/main" id="{7DB82A42-B812-4016-A876-DA2FC10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09925"/>
            <a:ext cx="8382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1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收到故障</a:t>
            </a:r>
          </a:p>
        </p:txBody>
      </p:sp>
      <p:sp>
        <p:nvSpPr>
          <p:cNvPr id="246" name="dag-reproduce">
            <a:extLst xmlns:a="http://schemas.openxmlformats.org/drawingml/2006/main">
              <a:ext uri="{FF2B5EF4-FFF2-40B4-BE49-F238E27FC236}">
                <a16:creationId xmlns:a16="http://schemas.microsoft.com/office/drawing/2014/main" id="{98A320FF-63DF-4FF4-9D2A-47A3C59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895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74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复现问题</a:t>
            </a:r>
          </a:p>
        </p:txBody>
      </p:sp>
      <p:sp>
        <p:nvSpPr>
          <p:cNvPr id="247" name="dag-fix">
            <a:extLst xmlns:a="http://schemas.openxmlformats.org/drawingml/2006/main">
              <a:ext uri="{FF2B5EF4-FFF2-40B4-BE49-F238E27FC236}">
                <a16:creationId xmlns:a16="http://schemas.microsoft.com/office/drawing/2014/main" id="{71F88942-F721-4388-81C9-FC60EA9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定位并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8" name="dag-regression">
            <a:extLst xmlns:a="http://schemas.openxmlformats.org/drawingml/2006/main">
              <a:ext uri="{FF2B5EF4-FFF2-40B4-BE49-F238E27FC236}">
                <a16:creationId xmlns:a16="http://schemas.microsoft.com/office/drawing/2014/main" id="{7CBA32D4-D128-4F8B-BE60-3C90B8B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补回归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49" name="dag-integration">
            <a:extLst xmlns:a="http://schemas.openxmlformats.org/drawingml/2006/main">
              <a:ext uri="{FF2B5EF4-FFF2-40B4-BE49-F238E27FC236}">
                <a16:creationId xmlns:a16="http://schemas.microsoft.com/office/drawing/2014/main" id="{A9783E7A-A552-4A2E-B611-F073064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集成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50" name="dag-deliver">
            <a:extLst xmlns:a="http://schemas.openxmlformats.org/drawingml/2006/main">
              <a:ext uri="{FF2B5EF4-FFF2-40B4-BE49-F238E27FC236}">
                <a16:creationId xmlns:a16="http://schemas.microsoft.com/office/drawing/2014/main" id="{D43C52A6-1379-4500-B1FC-F662CED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9925"/>
            <a:ext cx="6858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cxnSp>
        <p:nvCxnSpPr>
          <p:cNvPr id="501" name="Straight Arrow Connector 284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7362825" y="3457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2" name="Elbow Connector 285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 flipV="1">
            <a:off x="8467725" y="3057525"/>
            <a:ext cx="295275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3" name="Elbow Connector 286"/>
          <p:cNvCxnSpPr>
            <a:stCxn xmlns:a="http://schemas.openxmlformats.org/drawingml/2006/main" id="246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8467725" y="3457575"/>
            <a:ext cx="2952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4" name="Elbow Connector 287"/>
          <p:cNvCxnSpPr>
            <a:stCxn xmlns:a="http://schemas.openxmlformats.org/drawingml/2006/main" id="247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>
            <a:off x="9715500" y="3057525"/>
            <a:ext cx="2857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5" name="Elbow Connector 288"/>
          <p:cNvCxnSpPr>
            <a:stCxn xmlns:a="http://schemas.openxmlformats.org/drawingml/2006/main" id="248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 flipV="1">
            <a:off x="9715500" y="3457575"/>
            <a:ext cx="285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06" name="Straight Arrow Connector 289"/>
          <p:cNvCxnSpPr>
            <a:stCxn xmlns:a="http://schemas.openxmlformats.org/drawingml/2006/main" id="249" idx="3"/>
            <a:endCxn xmlns:a="http://schemas.openxmlformats.org/drawingml/2006/main" id="250" idx="1"/>
          </p:cNvCxnSpPr>
          <p:nvPr/>
        </p:nvCxnSpPr>
        <p:spPr>
          <a:xfrm xmlns:a="http://schemas.openxmlformats.org/drawingml/2006/main">
            <a:off x="10953750" y="34575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57" name="dag-note">
            <a:extLst xmlns:a="http://schemas.openxmlformats.org/drawingml/2006/main">
              <a:ext uri="{FF2B5EF4-FFF2-40B4-BE49-F238E27FC236}">
                <a16:creationId xmlns:a16="http://schemas.microsoft.com/office/drawing/2014/main" id="{E73A05B7-FA95-4B34-84A9-0D94AE1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6A78"/>
                </a:solidFill>
                <a:latin typeface="Arial"/>
                <a:ea typeface="Arial"/>
                <a:cs typeface="Arial"/>
              </a:rPr>
              <a:t>节点可以是 agent、工具或验证器；节点内部仍可以运行自己的 Loop</a:t>
            </a:r>
          </a:p>
        </p:txBody>
      </p:sp>
      <p:sp>
        <p:nvSpPr>
          <p:cNvPr id="258" name="slide7-callout">
            <a:extLst xmlns:a="http://schemas.openxmlformats.org/drawingml/2006/main">
              <a:ext uri="{FF2B5EF4-FFF2-40B4-BE49-F238E27FC236}">
                <a16:creationId xmlns:a16="http://schemas.microsoft.com/office/drawing/2014/main" id="{042B83D6-B370-4C45-A346-59F4A4AF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7823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先有可靠的单次行动，Loop 才不会放大失败，Graph 才不会组织混乱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7e1efd033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1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067ede0d1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1fb838b3c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0a59001b74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71A8AB4-7145-4BB1-AA60-D23C8A9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五个 Engineering 同时活着，但各自回答不同的问题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A4A406-F3A4-42DD-A63D-01C8183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这不是一座金字塔，而是一张“每个问题为何需要下一步”的关系图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26CD05-7437-4077-BE0A-91A2643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ngle-call-label">
            <a:extLst xmlns:a="http://schemas.openxmlformats.org/drawingml/2006/main">
              <a:ext uri="{FF2B5EF4-FFF2-40B4-BE49-F238E27FC236}">
                <a16:creationId xmlns:a16="http://schemas.microsoft.com/office/drawing/2014/main" id="{7794A7AB-1866-46C9-AA93-4833728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一次模型调用：先说清任务，再挑选材料</a:t>
            </a:r>
          </a:p>
        </p:txBody>
      </p:sp>
      <p:sp>
        <p:nvSpPr>
          <p:cNvPr id="23" name="layer-prompt">
            <a:extLst xmlns:a="http://schemas.openxmlformats.org/drawingml/2006/main">
              <a:ext uri="{FF2B5EF4-FFF2-40B4-BE49-F238E27FC236}">
                <a16:creationId xmlns:a16="http://schemas.microsoft.com/office/drawing/2014/main" id="{22269F1C-0652-43C1-A9AF-7EB30147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Prompt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24" name="layer-context">
            <a:extLst xmlns:a="http://schemas.openxmlformats.org/drawingml/2006/main">
              <a:ext uri="{FF2B5EF4-FFF2-40B4-BE49-F238E27FC236}">
                <a16:creationId xmlns:a16="http://schemas.microsoft.com/office/drawing/2014/main" id="{AD660BE0-AC9E-43D1-8236-8AA91BB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55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Context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挑选材料</a:t>
            </a:r>
          </a:p>
        </p:txBody>
      </p:sp>
      <p:sp>
        <p:nvSpPr>
          <p:cNvPr id="25" name="layer-harness">
            <a:extLst xmlns:a="http://schemas.openxmlformats.org/drawingml/2006/main">
              <a:ext uri="{FF2B5EF4-FFF2-40B4-BE49-F238E27FC236}">
                <a16:creationId xmlns:a16="http://schemas.microsoft.com/office/drawing/2014/main" id="{89DD92E2-0B7D-407E-BE90-90C36A3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4238625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 Engineering：形成可靠行动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授权 · 执行 · 验证 · 记录</a:t>
            </a:r>
          </a:p>
        </p:txBody>
      </p:sp>
      <p:sp>
        <p:nvSpPr>
          <p:cNvPr id="28" name="layer-loop">
            <a:extLst xmlns:a="http://schemas.openxmlformats.org/drawingml/2006/main">
              <a:ext uri="{FF2B5EF4-FFF2-40B4-BE49-F238E27FC236}">
                <a16:creationId xmlns:a16="http://schemas.microsoft.com/office/drawing/2014/main" id="{CBA54A39-9F89-45A4-A513-9E88DC8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Loop Engineering：反复同一行动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检验失败，就把反馈带回下一轮</a:t>
            </a:r>
          </a:p>
        </p:txBody>
      </p:sp>
      <p:sp>
        <p:nvSpPr>
          <p:cNvPr id="29" name="layer-graph">
            <a:extLst xmlns:a="http://schemas.openxmlformats.org/drawingml/2006/main">
              <a:ext uri="{FF2B5EF4-FFF2-40B4-BE49-F238E27FC236}">
                <a16:creationId xmlns:a16="http://schemas.microsoft.com/office/drawing/2014/main" id="{8D8C82E4-B267-4899-B637-A5828BB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Graph Engineering：编排多个行动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分工、分叉、汇合；部分节点可以运行 Loop</a:t>
            </a:r>
          </a:p>
        </p:txBody>
      </p:sp>
      <p:cxnSp>
        <p:nvCxnSpPr>
          <p:cNvPr id="223" name="Elbow Connector 90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3286125" y="3429000"/>
            <a:ext cx="583406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24" name="Elbow Connector 91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8905875" y="3429000"/>
            <a:ext cx="21431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32" name="layer-takeaway">
            <a:extLst xmlns:a="http://schemas.openxmlformats.org/drawingml/2006/main">
              <a:ext uri="{FF2B5EF4-FFF2-40B4-BE49-F238E27FC236}">
                <a16:creationId xmlns:a16="http://schemas.microsoft.com/office/drawing/2014/main" id="{D451FDDF-3BA7-41DE-A2F6-5E405AE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无论上面怎样组织，每一次真实动作都要经过 Harness 的执行边界</a:t>
            </a:r>
          </a:p>
        </p:txBody>
      </p:sp>
      <p:cxnSp>
        <p:nvCxnSpPr>
          <p:cNvPr id="226" name="Straight Arrow Connector 93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00375" y="29432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27" name="Straight Arrow Connector 94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10250" y="294322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482577d254b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8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b152b0e654d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d35a5e7db4b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8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9dc1b2bdf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DF3F5F-E020-45F0-BD6B-674D10F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最值得看懂的不是最高层，而是真实动作穿过的边界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273F9C5-D8C1-4F55-86A7-58B9423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五层关系图推出来的结论：所有上层组织能力，都要落到一次可靠执行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210E86E-21D9-45F3-A6B1-E0BBFBB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9ADDD8E-8C00-4FB5-9A91-E2E7611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模型提出动作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8CFC8C3-36B2-4DDC-9FDC-88C8327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执行 · 验证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F464BF-FCA6-44B7-91CB-5389F1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结果进入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 / Graph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EB970E0-1215-4656-8D5B-A4E013D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每一个 Loop、每一个 Graph 节点，最后都要经过能独立授权、检查、记录的执行边界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CB7CACE-EE82-4711-87D1-B025CB8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C1F3C32-BE8F-479D-8F87-DD42D60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可靠性不是模型单独拥有的属性，而是 Model + Harness 的属性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8A00F15-EF6C-4B43-8D5F-26BC05F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这就是</a:t>
            </a:r>
            <a:r>
              <a:rPr sz="1400" b="0">
                <a:solidFill>
                  <a:srgbClr val="D0D5DD"/>
                </a:solidFill>
              </a:rPr>
              <a:t> Harness </a:t>
            </a:r>
            <a:r>
              <a:rPr sz="1400" b="0">
                <a:solidFill>
                  <a:srgbClr val="D0D5DD"/>
                </a:solidFill>
              </a:rPr>
              <a:t>对</a:t>
            </a:r>
            <a:r>
              <a:rPr sz="1400" b="0">
                <a:solidFill>
                  <a:srgbClr val="D0D5DD"/>
                </a:solidFill>
              </a:rPr>
              <a:t> OPC </a:t>
            </a:r>
            <a:r>
              <a:rPr sz="1400" b="0">
                <a:solidFill>
                  <a:srgbClr val="D0D5DD"/>
                </a:solidFill>
              </a:rPr>
              <a:t>的临界意义</a:t>
            </a:r>
            <a:endParaRPr sz="1400" b="0">
              <a:solidFill>
                <a:srgbClr val="D0D5DD"/>
              </a:solidFill>
            </a:endParaRPr>
          </a:p>
        </p:txBody>
      </p:sp>
      <p:cxnSp>
        <p:nvCxnSpPr>
          <p:cNvPr id="197" name="Straight Arrow Connector 7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0099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98" name="Straight Arrow Connector 77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15175" y="3009900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526e73b5243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5740d5c8c43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ff7d61841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f59691a494f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00CFA7-38C2-4288-A122-4FA5F52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 从来不是裸模型：它一行动，Harness 就已经在场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1315C7A-C5FB-44AB-98E8-C3FB49E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模型给能力；Harness 把这份能力变成一次可以交付的行动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AF97D62-79C9-41B0-9842-59F4303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4B58052-D8A2-4D25-AA2D-81FF8BE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685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能力：Model   +   可靠性：Harness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8FA771-79B2-4DC0-8EF9-C4EB24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1858724-E5F9-498E-A477-F18702A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BDA0FA-068F-4719-8E86-725D807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F4AB2-B9AE-46B5-BCB6-CBA73EB2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88D7B5-CAC9-43C1-8640-4513628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142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0F1423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7694D4-DC91-431A-84CA-FB3D489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268DCC4-1DC1-4E42-B179-8D18E54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144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买到的是模型能力；能否稳定交付，取决于围绕它的一圈运行边界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325894E-82FC-40EC-A329-8BAAA85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EFE0264-57D1-414D-9200-9F66D74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最小的 agent 也不只是 prompt：它至少有工具，并要面对真实执行结果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F5DFFB1-44A5-4BC3-8888-2AD6B32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这就是</a:t>
            </a:r>
            <a:r>
              <a:rPr sz="1400" b="0">
                <a:solidFill>
                  <a:srgbClr val="D0D5DD"/>
                </a:solidFill>
              </a:rPr>
              <a:t> Harness Engineering </a:t>
            </a:r>
            <a:r>
              <a:rPr sz="1400" b="0">
                <a:solidFill>
                  <a:srgbClr val="D0D5DD"/>
                </a:solidFill>
              </a:rPr>
              <a:t>的起点</a:t>
            </a:r>
            <a:endParaRPr sz="1400" b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010654cf04c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baa28ea274a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fc01ccb464e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b16241bf74e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86FF0F-0669-43AF-9401-5256598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可靠性发生在两次：行动前约束，行动后反馈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5E6071-1C87-4646-95DF-5BE85B2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能写成规则和测试的，就不要让模型猜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67DDF78-56EC-491B-94A6-52FD7B2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91801D-7A72-4956-B944-4C9B0A8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事前引导（Guides）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行动前：允许哪些工具、必须通过什么检查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D81526F-45F8-4989-AA17-D9A9510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事后反馈（Sensors）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行动后：测试失败、用户拒绝、退出码非零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5F73B-DBD8-4169-A501-6476243F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确定性检查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测试 / lint / 类型：可复现、可审计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311603-F728-4512-9A8B-E1D07A7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语义判断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AI review / 人工判断：必要，但可能出错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3F7831-1A53-4B08-8D4B-47A0862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确定的事交给系统；需要理解语义时，才交给模型或人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16d774aa5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dbd2ab7ae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8a219979e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22493d26f4e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58AF05-EE6F-41F4-BF48-73F6C3D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先保证可靠，再承载专业知识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DACEEFA-C6DF-438A-B201-9A2F5B8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圈住伤害、拦住错误、看清过程；Knowledge Map 帮模型找到正确路径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6B4EFB-6E68-4CE3-95D2-E4D78A0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ED25187-3A3E-44EE-A191-F77742D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圈住</a:t>
            </a:r>
          </a:p>
          <a:p xmlns:a="http://schemas.openxmlformats.org/drawingml/2006/main"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 + 权限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限制能碰的范围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8EDC39-FEBA-4E87-B941-8A42295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拦住</a:t>
            </a:r>
          </a:p>
          <a:p xmlns:a="http://schemas.openxmlformats.org/drawingml/2006/main"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验证门禁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错误一出现就停止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068C5B-0617-472A-B8D9-4D505C2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看清</a:t>
            </a:r>
          </a:p>
          <a:p xmlns:a="http://schemas.openxmlformats.org/drawingml/2006/main"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Trace + 来源记录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还原每一步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52DF948-9D0E-496B-BCCF-10722BC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86000"/>
            <a:ext cx="25241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专业知识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t/>
            </a:r>
            <a:endParaRPr sz="1800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Knowledge Map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找到归属与正确路径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ae5985810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31a4f48914d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b73881f13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b902165a04b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1249455-5706-40D3-AF3E-82EAB88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Loop 与 Graph 开始之前，先过确定性门禁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42F91A5-3305-408D-876D-C6D4948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上层负责反复与编排；Harness 在每次执行前独立授权、验证与记录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18FF49-DD72-47C3-B309-9C253C63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3610BA-D279-440B-A046-5B1419F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跨运行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放大反馈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622211-9719-4DFB-8306-211A693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跨节点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显式路由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009B642-7F07-49BA-AA87-82DFCE8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执行前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检查 · 记录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81C5E9-D8CF-4787-B2FE-1EB7466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81075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可靠性先进入节点，Loop 才能放大，Graph 才能编排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105161E-CC49-4F87-B339-0526214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7FE365-305F-45D2-B9B4-EE77970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模型可以提议工作图；确定性检查器决定放行还是拒绝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1ECC1CD-A4ED-46C5-AC8C-0373052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GraphARC</a:t>
            </a:r>
            <a:endParaRPr sz="1400" b="0">
              <a:solidFill>
                <a:srgbClr val="D0D5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d681a4356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4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0d5680d5f43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fa21ae9a8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9877664dc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2FEB96-F8F6-460C-BC74-0C89CA9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真实事故：伪造工具调用，无需模型也能触发真实动作</a:t>
            </a:r>
          </a:p>
        </p:txBody>
      </p:sp>
      <p:sp>
        <p:nvSpPr>
          <p:cNvPr id="61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39AD1-24C0-4849-9237-B2644A2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Amazon Bedrock AgentCore InvokeHarness · CVE-2026-18830</a:t>
            </a:r>
          </a:p>
        </p:txBody>
      </p:sp>
      <p:sp>
        <p:nvSpPr>
          <p:cNvPr id="6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77C2C04-5DD0-4AE1-8D78-64D91E9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risk-step-1">
            <a:extLst xmlns:a="http://schemas.openxmlformats.org/drawingml/2006/main">
              <a:ext uri="{FF2B5EF4-FFF2-40B4-BE49-F238E27FC236}">
                <a16:creationId xmlns:a16="http://schemas.microsoft.com/office/drawing/2014/main" id="{6FDF9A51-EEC2-4C37-BAF6-A800AA6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请求末尾塞入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伪造的 tool-use 块</a:t>
            </a:r>
          </a:p>
        </p:txBody>
      </p:sp>
      <p:sp>
        <p:nvSpPr>
          <p:cNvPr id="64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C1151810-C340-4B65-87D3-7C552E4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risk-step-2">
            <a:extLst xmlns:a="http://schemas.openxmlformats.org/drawingml/2006/main">
              <a:ext uri="{FF2B5EF4-FFF2-40B4-BE49-F238E27FC236}">
                <a16:creationId xmlns:a16="http://schemas.microsoft.com/office/drawing/2014/main" id="{9ECF0E25-1C67-43E9-99BA-FE17817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事件循环信任形状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跳过模型回合</a:t>
            </a:r>
          </a:p>
        </p:txBody>
      </p:sp>
      <p:sp>
        <p:nvSpPr>
          <p:cNvPr id="66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D170DFB2-B750-4566-99D3-E7F438F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isk-step-3">
            <a:extLst xmlns:a="http://schemas.openxmlformats.org/drawingml/2006/main">
              <a:ext uri="{FF2B5EF4-FFF2-40B4-BE49-F238E27FC236}">
                <a16:creationId xmlns:a16="http://schemas.microsoft.com/office/drawing/2014/main" id="{63D2B7EE-B21F-4CC1-971D-6C811AC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9EDEE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指定工具被直接执行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真实动作发生</a:t>
            </a:r>
          </a:p>
        </p:txBody>
      </p:sp>
      <p:sp>
        <p:nvSpPr>
          <p:cNvPr id="68" name="risk-number-3">
            <a:extLst xmlns:a="http://schemas.openxmlformats.org/drawingml/2006/main">
              <a:ext uri="{FF2B5EF4-FFF2-40B4-BE49-F238E27FC236}">
                <a16:creationId xmlns:a16="http://schemas.microsoft.com/office/drawing/2014/main" id="{C8A44B56-CA0F-4FB2-93AC-3614D54F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261" name="Straight Arrow Connector 146"/>
          <p:cNvCxnSpPr>
            <a:stCxn xmlns:a="http://schemas.openxmlformats.org/drawingml/2006/main" id="63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61950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cxnSp>
        <p:nvCxnSpPr>
          <p:cNvPr id="262" name="Straight Arrow Connector 147"/>
          <p:cNvCxnSpPr>
            <a:stCxn xmlns:a="http://schemas.openxmlformats.org/drawingml/2006/main" id="65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14375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sp>
        <p:nvSpPr>
          <p:cNvPr id="71" name="execution-gate-label">
            <a:extLst xmlns:a="http://schemas.openxmlformats.org/drawingml/2006/main">
              <a:ext uri="{FF2B5EF4-FFF2-40B4-BE49-F238E27FC236}">
                <a16:creationId xmlns:a16="http://schemas.microsoft.com/office/drawing/2014/main" id="{85F55C4D-2AB2-47EE-9226-4BCE600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72" name="execution-gate">
            <a:extLst xmlns:a="http://schemas.openxmlformats.org/drawingml/2006/main">
              <a:ext uri="{FF2B5EF4-FFF2-40B4-BE49-F238E27FC236}">
                <a16:creationId xmlns:a16="http://schemas.microsoft.com/office/drawing/2014/main" id="{D0E5BD08-A13F-4F1C-BA28-A56E218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900112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执行端拒绝伪造的 tool-use 块；工具运行前独立授权</a:t>
            </a:r>
          </a:p>
        </p:txBody>
      </p:sp>
      <p:sp>
        <p:nvSpPr>
          <p:cNvPr id="73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363DCF82-F62E-4ACF-A096-6E7CEBA4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quote">
            <a:extLst xmlns:a="http://schemas.openxmlformats.org/drawingml/2006/main">
              <a:ext uri="{FF2B5EF4-FFF2-40B4-BE49-F238E27FC236}">
                <a16:creationId xmlns:a16="http://schemas.microsoft.com/office/drawing/2014/main" id="{F369B8D2-A2E8-4396-AC6F-CB009CF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4974044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“authorize at execution, not at generation”</a:t>
            </a:r>
          </a:p>
        </p:txBody>
      </p:sp>
      <p:sp>
        <p:nvSpPr>
          <p:cNvPr id="76" name="security-close">
            <a:extLst xmlns:a="http://schemas.openxmlformats.org/drawingml/2006/main">
              <a:ext uri="{FF2B5EF4-FFF2-40B4-BE49-F238E27FC236}">
                <a16:creationId xmlns:a16="http://schemas.microsoft.com/office/drawing/2014/main" id="{91456300-CFD3-4996-B719-4C302CA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事故根因：执行时授权缺失，不是 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d15cf6865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85ce06bb041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d9fdb75014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6aec1e158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82E3534-000A-41C2-BFDD-913771C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回到 OPC：你是否已经被工具切换和知识分散拖慢？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F936B20-9373-4E58-89E8-40C4B88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工具越多、切换越频繁，知识与实践越散，协作成本就越像经营问题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9F49991-4E10-415A-9DF4-82C4A83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E283376-8C62-4B6F-BDF2-42758DD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239250" cy="60960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F2937"/>
                </a:solidFill>
              </a:defRPr>
            </a:pPr>
            <a:r>
              <a:rPr sz="2250" b="1">
                <a:solidFill>
                  <a:srgbClr val="1F2937"/>
                </a:solidFill>
              </a:rPr>
              <a:t>工具多   ·   老切换   ·   知识散   ·   实践散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72430FA5-4932-4B8E-A21D-6644C06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857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1E71C6D-3058-4C95-8B38-37059BB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还没有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47B0D11-0FFA-4DA8-9203-5A2459F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67085"/>
                </a:solidFill>
              </a:defRPr>
            </a:pPr>
            <a:r>
              <a:rPr sz="1950" b="1">
                <a:solidFill>
                  <a:srgbClr val="667085"/>
                </a:solidFill>
              </a:rPr>
              <a:t>已经有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69A1A-9FE2-4230-A11F-BDE2524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继续借现成 Harness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把注意力留给业务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9FE1348-EC33-46AB-8867-7B23967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需要统一入口与边界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再谈灵活 Harness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1F29330-048A-4C64-B757-A23780F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真正的判断：这些摩擦是否已经进入每天的真实交付路径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0600025f74c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7a5a58423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71c2abeb7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5b39a2e7a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44E2FD-1D95-432B-AE20-F9A5452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Codex、Claude Code 已经很强：大多数 OPC 应直接借用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4A9C809-92C9-4166-88E3-CEDF6585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成熟 Harness 已把模型变成能工作的产品，而不只是一个会生成代码的模型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D3A680-8D53-4259-B68D-1407D0B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A20A4E-A5CD-4577-8A13-6890D30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它们已经替你做好</a:t>
            </a:r>
          </a:p>
          <a:p xmlns:a="http://schemas.openxmlformats.org/drawingml/2006/main"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工具调用与上下文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沙箱、权限与执行记录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验证与持续检查</a:t>
            </a:r>
            <a:endParaRPr sz="1500" b="0">
              <a:solidFill>
                <a:srgbClr val="1F2937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4C74F72-D5A0-4C2D-93BC-A8561A9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所以，默认选择应该是</a:t>
            </a:r>
          </a:p>
          <a:p xmlns:a="http://schemas.openxmlformats.org/drawingml/2006/main"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直接借现成 Harness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把稀缺注意力留给业务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634F322-B193-4868-B7FE-1629D21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0A4873B-D054-49D6-B96F-7FEE498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问题不是它们够不够强，而是业务要改变它们的边界时怎么办？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40D5A47-746F-4607-9B04-5576484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Anthropic · Start with the simplest viable system.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6B61E2-FC28-4981-BB34-C8DAC70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真正的转折从这里开始：边界是不是已经变成业务的一部分？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5ab9454a04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9de8ae66a48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939ff202b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5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71860524245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A9CB5B-0DDD-4CA0-817A-43295221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公开 14 天，DeepSeek Harness 接近 20 万 GitHub stars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D02A81A-B243-4755-9866-5CD24B3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关注度爆发，扩展条目同时涌入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48310DA-ACF2-4AB9-B43C-4B378DB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820A077-C6FA-488C-9BB8-57581B04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C2FC547-8F31-4540-8E91-1602116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51720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这是关注与扩展入口的信号，不是质量认证</a:t>
            </a:r>
          </a:p>
        </p:txBody>
      </p:sp>
      <p:sp>
        <p:nvSpPr>
          <p:cNvPr id="27" name="need-1">
            <a:extLst xmlns:a="http://schemas.openxmlformats.org/drawingml/2006/main">
              <a:ext uri="{FF2B5EF4-FFF2-40B4-BE49-F238E27FC236}">
                <a16:creationId xmlns:a16="http://schemas.microsoft.com/office/drawing/2014/main" id="{89FC6DBC-2D89-45C3-8617-92775CB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5810250" cy="2238375"/>
          </a:xfrm>
          <a:prstGeom xmlns:a="http://schemas.openxmlformats.org/drawingml/2006/main" prst="roundRect">
            <a:avLst>
              <a:gd name="adj" fmla="val 340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need-number-1">
            <a:extLst xmlns:a="http://schemas.openxmlformats.org/drawingml/2006/main">
              <a:ext uri="{FF2B5EF4-FFF2-40B4-BE49-F238E27FC236}">
                <a16:creationId xmlns:a16="http://schemas.microsoft.com/office/drawing/2014/main" id="{EDEA05D4-D376-4EAB-828F-249E2E43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9530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34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近 20 万</a:t>
            </a:r>
          </a:p>
        </p:txBody>
      </p:sp>
      <p:sp>
        <p:nvSpPr>
          <p:cNvPr id="29" name="need-heading-1">
            <a:extLst xmlns:a="http://schemas.openxmlformats.org/drawingml/2006/main">
              <a:ext uri="{FF2B5EF4-FFF2-40B4-BE49-F238E27FC236}">
                <a16:creationId xmlns:a16="http://schemas.microsoft.com/office/drawing/2014/main" id="{F4BFF754-3EFF-464B-821F-11A8A86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GitHub stars · 公开约 14 天</a:t>
            </a:r>
          </a:p>
        </p:txBody>
      </p:sp>
      <p:sp>
        <p:nvSpPr>
          <p:cNvPr id="30" name="need-body-1">
            <a:extLst xmlns:a="http://schemas.openxmlformats.org/drawingml/2006/main">
              <a:ext uri="{FF2B5EF4-FFF2-40B4-BE49-F238E27FC236}">
                <a16:creationId xmlns:a16="http://schemas.microsoft.com/office/drawing/2014/main" id="{F380BDDF-2DFD-4E61-99E7-1B3F31D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04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085"/>
                </a:solidFill>
                <a:latin typeface="Arial"/>
                <a:ea typeface="Arial"/>
                <a:cs typeface="Arial"/>
              </a:rPr>
              <a:t>199,846 stars · 2026-08-27 快照</a:t>
            </a:r>
          </a:p>
        </p:txBody>
      </p:sp>
      <p:sp>
        <p:nvSpPr>
          <p:cNvPr id="31" name="need-2">
            <a:extLst xmlns:a="http://schemas.openxmlformats.org/drawingml/2006/main">
              <a:ext uri="{FF2B5EF4-FFF2-40B4-BE49-F238E27FC236}">
                <a16:creationId xmlns:a16="http://schemas.microsoft.com/office/drawing/2014/main" id="{15D2A963-B369-47FF-90F7-E226CF9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need-number-2">
            <a:extLst xmlns:a="http://schemas.openxmlformats.org/drawingml/2006/main">
              <a:ext uri="{FF2B5EF4-FFF2-40B4-BE49-F238E27FC236}">
                <a16:creationId xmlns:a16="http://schemas.microsoft.com/office/drawing/2014/main" id="{77860BEE-0CE0-41BE-B30B-D2EE0B6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need-heading-2">
            <a:extLst xmlns:a="http://schemas.openxmlformats.org/drawingml/2006/main">
              <a:ext uri="{FF2B5EF4-FFF2-40B4-BE49-F238E27FC236}">
                <a16:creationId xmlns:a16="http://schemas.microsoft.com/office/drawing/2014/main" id="{DF5C5F07-BEC1-4C51-AFAB-BF2E433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22,820 forks</a:t>
            </a:r>
          </a:p>
        </p:txBody>
      </p:sp>
      <p:sp>
        <p:nvSpPr>
          <p:cNvPr id="34" name="need-body-2">
            <a:extLst xmlns:a="http://schemas.openxmlformats.org/drawingml/2006/main">
              <a:ext uri="{FF2B5EF4-FFF2-40B4-BE49-F238E27FC236}">
                <a16:creationId xmlns:a16="http://schemas.microsoft.com/office/drawing/2014/main" id="{2539F1D8-1368-475D-A7FD-16253FF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同日快照</a:t>
            </a:r>
          </a:p>
        </p:txBody>
      </p:sp>
      <p:sp>
        <p:nvSpPr>
          <p:cNvPr id="35" name="need-3">
            <a:extLst xmlns:a="http://schemas.openxmlformats.org/drawingml/2006/main">
              <a:ext uri="{FF2B5EF4-FFF2-40B4-BE49-F238E27FC236}">
                <a16:creationId xmlns:a16="http://schemas.microsoft.com/office/drawing/2014/main" id="{97DACF7E-E6B0-4368-B836-8BBBE45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need-number-3">
            <a:extLst xmlns:a="http://schemas.openxmlformats.org/drawingml/2006/main">
              <a:ext uri="{FF2B5EF4-FFF2-40B4-BE49-F238E27FC236}">
                <a16:creationId xmlns:a16="http://schemas.microsoft.com/office/drawing/2014/main" id="{094E60DB-8D0F-46C9-A39E-5E76D20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need-heading-3">
            <a:extLst xmlns:a="http://schemas.openxmlformats.org/drawingml/2006/main">
              <a:ext uri="{FF2B5EF4-FFF2-40B4-BE49-F238E27FC236}">
                <a16:creationId xmlns:a16="http://schemas.microsoft.com/office/drawing/2014/main" id="{8FD41C1F-D6A8-447F-B973-902AD6F6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2,286 条生态快照</a:t>
            </a:r>
          </a:p>
        </p:txBody>
      </p:sp>
      <p:sp>
        <p:nvSpPr>
          <p:cNvPr id="38" name="need-body-3">
            <a:extLst xmlns:a="http://schemas.openxmlformats.org/drawingml/2006/main">
              <a:ext uri="{FF2B5EF4-FFF2-40B4-BE49-F238E27FC236}">
                <a16:creationId xmlns:a16="http://schemas.microsoft.com/office/drawing/2014/main" id="{19BC0155-7919-457F-BF62-16F876E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43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扩展尝试同时涌入</a:t>
            </a:r>
          </a:p>
        </p:txBody>
      </p:sp>
      <p:sp>
        <p:nvSpPr>
          <p:cNvPr id="39" name="need-4">
            <a:extLst xmlns:a="http://schemas.openxmlformats.org/drawingml/2006/main">
              <a:ext uri="{FF2B5EF4-FFF2-40B4-BE49-F238E27FC236}">
                <a16:creationId xmlns:a16="http://schemas.microsoft.com/office/drawing/2014/main" id="{A70D9D8C-951C-4C71-8223-8AF35F5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need-number-4">
            <a:extLst xmlns:a="http://schemas.openxmlformats.org/drawingml/2006/main">
              <a:ext uri="{FF2B5EF4-FFF2-40B4-BE49-F238E27FC236}">
                <a16:creationId xmlns:a16="http://schemas.microsoft.com/office/drawing/2014/main" id="{6CD96A03-C989-44BB-8459-F1363147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need-heading-4">
            <a:extLst xmlns:a="http://schemas.openxmlformats.org/drawingml/2006/main">
              <a:ext uri="{FF2B5EF4-FFF2-40B4-BE49-F238E27FC236}">
                <a16:creationId xmlns:a16="http://schemas.microsoft.com/office/drawing/2014/main" id="{1A46D5FA-00B7-4397-97AC-71A53B2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关注与扩展面 ≠ 成熟或可信</a:t>
            </a:r>
          </a:p>
        </p:txBody>
      </p:sp>
      <p:sp>
        <p:nvSpPr>
          <p:cNvPr id="42" name="need-body-4">
            <a:extLst xmlns:a="http://schemas.openxmlformats.org/drawingml/2006/main">
              <a:ext uri="{FF2B5EF4-FFF2-40B4-BE49-F238E27FC236}">
                <a16:creationId xmlns:a16="http://schemas.microsoft.com/office/drawing/2014/main" id="{C01E49F0-CB81-4861-91FD-8D25BF9C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05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不是质量认证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bf32e0cab43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6a67dcbc94d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e5478903d47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f5d40d03a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对 OPC，价值不在装得多，而在少盯、敢放、能复用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别人替你探索过，不等于替你验证过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生态的价值：把别人已经做过、自己可以验证的能力借进来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省手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换底座时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少重写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敢放手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审批 fail-closed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事实可重建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可复用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自己验证过的组合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带到下一项目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先验证，再借力；少回手工，敢交真活</a:t>
            </a:r>
          </a:p>
        </p:txBody>
      </p:sp>
      <p:sp>
        <p:nvSpPr>
          <p:cNvPr id="66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9D161A0B-18A7-4F80-B028-3F446CF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14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OPC 的生产力底座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3f20caa52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9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b11283a7a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9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da983cada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9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b51cadd7d48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187CB-8715-40B3-AED3-AE46773C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不是插件商店；它是一套可组合的 Harness runtime</a:t>
            </a:r>
          </a:p>
        </p:txBody>
      </p:sp>
      <p:sp>
        <p:nvSpPr>
          <p:cNvPr id="6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E57DF-34BA-4128-8EE0-88D40EF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插件围绕共同合同、执行路径和事实记录工作</a:t>
            </a:r>
          </a:p>
        </p:txBody>
      </p:sp>
      <p:sp>
        <p:nvSpPr>
          <p:cNvPr id="6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B24902F-B67E-4AFB-B4ED-7518A2E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active-label">
            <a:extLst xmlns:a="http://schemas.openxmlformats.org/drawingml/2006/main">
              <a:ext uri="{FF2B5EF4-FFF2-40B4-BE49-F238E27FC236}">
                <a16:creationId xmlns:a16="http://schemas.microsoft.com/office/drawing/2014/main" id="{14E39DD4-AB8F-40A6-ADB0-CDA7C69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四类输入</a:t>
            </a:r>
          </a:p>
        </p:txBody>
      </p:sp>
      <p:sp>
        <p:nvSpPr>
          <p:cNvPr id="70" name="dsh-plugin-1">
            <a:extLst xmlns:a="http://schemas.openxmlformats.org/drawingml/2006/main">
              <a:ext uri="{FF2B5EF4-FFF2-40B4-BE49-F238E27FC236}">
                <a16:creationId xmlns:a16="http://schemas.microsoft.com/office/drawing/2014/main" id="{16FC36F2-5315-4DAC-B5AD-298CFF3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模型</a:t>
            </a:r>
          </a:p>
        </p:txBody>
      </p:sp>
      <p:sp>
        <p:nvSpPr>
          <p:cNvPr id="71" name="dsh-plugin-2">
            <a:extLst xmlns:a="http://schemas.openxmlformats.org/drawingml/2006/main">
              <a:ext uri="{FF2B5EF4-FFF2-40B4-BE49-F238E27FC236}">
                <a16:creationId xmlns:a16="http://schemas.microsoft.com/office/drawing/2014/main" id="{E98323BA-19CE-40B8-AE10-19E47B7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工具</a:t>
            </a:r>
          </a:p>
        </p:txBody>
      </p:sp>
      <p:sp>
        <p:nvSpPr>
          <p:cNvPr id="72" name="dsh-plugin-3">
            <a:extLst xmlns:a="http://schemas.openxmlformats.org/drawingml/2006/main">
              <a:ext uri="{FF2B5EF4-FFF2-40B4-BE49-F238E27FC236}">
                <a16:creationId xmlns:a16="http://schemas.microsoft.com/office/drawing/2014/main" id="{17B1C388-9D63-4D6D-BBE3-3C7FB7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执行后端</a:t>
            </a:r>
          </a:p>
        </p:txBody>
      </p:sp>
      <p:sp>
        <p:nvSpPr>
          <p:cNvPr id="73" name="dsh-plugin-4">
            <a:extLst xmlns:a="http://schemas.openxmlformats.org/drawingml/2006/main">
              <a:ext uri="{FF2B5EF4-FFF2-40B4-BE49-F238E27FC236}">
                <a16:creationId xmlns:a16="http://schemas.microsoft.com/office/drawing/2014/main" id="{95DAEC01-B598-4925-A4AE-FBC66EC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规则 / Loop</a:t>
            </a:r>
          </a:p>
        </p:txBody>
      </p:sp>
      <p:sp>
        <p:nvSpPr>
          <p:cNvPr id="74" name="dsh-runtime">
            <a:extLst xmlns:a="http://schemas.openxmlformats.org/drawingml/2006/main">
              <a:ext uri="{FF2B5EF4-FFF2-40B4-BE49-F238E27FC236}">
                <a16:creationId xmlns:a16="http://schemas.microsoft.com/office/drawing/2014/main" id="{843F84F0-26B0-43FD-8447-B14D15E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8763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共同合同：模型、工具、后端与规则可组合、可替换</a:t>
            </a:r>
          </a:p>
        </p:txBody>
      </p:sp>
      <p:cxnSp>
        <p:nvCxnSpPr>
          <p:cNvPr id="305" name="Elbow Connector 166"/>
          <p:cNvCxnSpPr>
            <a:stCxn xmlns:a="http://schemas.openxmlformats.org/drawingml/2006/main" id="70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947863" y="3009900"/>
            <a:ext cx="41481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06" name="Elbow Connector 167"/>
          <p:cNvCxnSpPr>
            <a:stCxn xmlns:a="http://schemas.openxmlformats.org/drawingml/2006/main" id="71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4662488" y="3009900"/>
            <a:ext cx="14335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07" name="Elbow Connector 168"/>
          <p:cNvCxnSpPr>
            <a:stCxn xmlns:a="http://schemas.openxmlformats.org/drawingml/2006/main" id="7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12811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08" name="Elbow Connector 169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39957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79" name="session-log">
            <a:extLst xmlns:a="http://schemas.openxmlformats.org/drawingml/2006/main">
              <a:ext uri="{FF2B5EF4-FFF2-40B4-BE49-F238E27FC236}">
                <a16:creationId xmlns:a16="http://schemas.microsoft.com/office/drawing/2014/main" id="{102CE0CD-E2BD-4796-B566-A676A78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7239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共同事实：发生过的行动按顺序留下</a:t>
            </a:r>
          </a:p>
        </p:txBody>
      </p:sp>
      <p:cxnSp>
        <p:nvCxnSpPr>
          <p:cNvPr id="310" name="Straight Arrow Connector 171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096000" y="39243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81" name="log-label">
            <a:extLst xmlns:a="http://schemas.openxmlformats.org/drawingml/2006/main">
              <a:ext uri="{FF2B5EF4-FFF2-40B4-BE49-F238E27FC236}">
                <a16:creationId xmlns:a16="http://schemas.microsoft.com/office/drawing/2014/main" id="{A336EA11-672E-4336-A7BF-B9F17DB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append-only session log</a:t>
            </a:r>
          </a:p>
        </p:txBody>
      </p:sp>
      <p:sp>
        <p:nvSpPr>
          <p:cNvPr id="82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528257E1-D239-483E-A6F7-7F6C80B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quote">
            <a:extLst xmlns:a="http://schemas.openxmlformats.org/drawingml/2006/main">
              <a:ext uri="{FF2B5EF4-FFF2-40B4-BE49-F238E27FC236}">
                <a16:creationId xmlns:a16="http://schemas.microsoft.com/office/drawing/2014/main" id="{E618B42D-B738-4920-8699-AF354EA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5372100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插件扩展 Harness；Harness 负责运行合同与事实记录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8bf37a13544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6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0871ebb41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6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e3581ec50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6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6bbcd052e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4F2BB-831F-400F-AFB8-0539246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只有插件不够：能装，还必须能管</a:t>
            </a:r>
          </a:p>
        </p:txBody>
      </p:sp>
      <p:sp>
        <p:nvSpPr>
          <p:cNvPr id="4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6B6CEC-E271-45F3-AD5D-902B16B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能力一旦进入真实执行路径，就必须回答四个控制问题</a:t>
            </a:r>
          </a:p>
        </p:txBody>
      </p:sp>
      <p:sp>
        <p:nvSpPr>
          <p:cNvPr id="4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AB38078-8304-4034-A9F5-F199B31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extension-1">
            <a:extLst xmlns:a="http://schemas.openxmlformats.org/drawingml/2006/main">
              <a:ext uri="{FF2B5EF4-FFF2-40B4-BE49-F238E27FC236}">
                <a16:creationId xmlns:a16="http://schemas.microsoft.com/office/drawing/2014/main" id="{1D8F1106-7DDA-4018-A32A-8805FD6D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extension-heading-1">
            <a:extLst xmlns:a="http://schemas.openxmlformats.org/drawingml/2006/main">
              <a:ext uri="{FF2B5EF4-FFF2-40B4-BE49-F238E27FC236}">
                <a16:creationId xmlns:a16="http://schemas.microsoft.com/office/drawing/2014/main" id="{23E8B89B-53E5-435F-9003-473E2B0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接入</a:t>
            </a:r>
          </a:p>
        </p:txBody>
      </p:sp>
      <p:sp>
        <p:nvSpPr>
          <p:cNvPr id="44" name="extension-body-1">
            <a:extLst xmlns:a="http://schemas.openxmlformats.org/drawingml/2006/main">
              <a:ext uri="{FF2B5EF4-FFF2-40B4-BE49-F238E27FC236}">
                <a16:creationId xmlns:a16="http://schemas.microsoft.com/office/drawing/2014/main" id="{B29AF623-6CB7-45F1-B01C-DD10FCC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45" name="extension-2">
            <a:extLst xmlns:a="http://schemas.openxmlformats.org/drawingml/2006/main">
              <a:ext uri="{FF2B5EF4-FFF2-40B4-BE49-F238E27FC236}">
                <a16:creationId xmlns:a16="http://schemas.microsoft.com/office/drawing/2014/main" id="{1ABF8853-5B4C-4788-87DB-13C8960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extension-heading-2">
            <a:extLst xmlns:a="http://schemas.openxmlformats.org/drawingml/2006/main">
              <a:ext uri="{FF2B5EF4-FFF2-40B4-BE49-F238E27FC236}">
                <a16:creationId xmlns:a16="http://schemas.microsoft.com/office/drawing/2014/main" id="{E519C0F9-DD9B-4265-93FF-6E82CF2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替换</a:t>
            </a:r>
          </a:p>
        </p:txBody>
      </p:sp>
      <p:sp>
        <p:nvSpPr>
          <p:cNvPr id="47" name="extension-body-2">
            <a:extLst xmlns:a="http://schemas.openxmlformats.org/drawingml/2006/main">
              <a:ext uri="{FF2B5EF4-FFF2-40B4-BE49-F238E27FC236}">
                <a16:creationId xmlns:a16="http://schemas.microsoft.com/office/drawing/2014/main" id="{7DD9B057-2D38-497E-B6AC-B6B06F9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adapter + seam</a:t>
            </a:r>
          </a:p>
        </p:txBody>
      </p:sp>
      <p:sp>
        <p:nvSpPr>
          <p:cNvPr id="48" name="extension-3">
            <a:extLst xmlns:a="http://schemas.openxmlformats.org/drawingml/2006/main">
              <a:ext uri="{FF2B5EF4-FFF2-40B4-BE49-F238E27FC236}">
                <a16:creationId xmlns:a16="http://schemas.microsoft.com/office/drawing/2014/main" id="{171C104B-F5C6-4932-82DE-416138B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extension-heading-3">
            <a:extLst xmlns:a="http://schemas.openxmlformats.org/drawingml/2006/main">
              <a:ext uri="{FF2B5EF4-FFF2-40B4-BE49-F238E27FC236}">
                <a16:creationId xmlns:a16="http://schemas.microsoft.com/office/drawing/2014/main" id="{56CFAD58-4A89-4EFB-AA09-2093BED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放行</a:t>
            </a:r>
          </a:p>
        </p:txBody>
      </p:sp>
      <p:sp>
        <p:nvSpPr>
          <p:cNvPr id="50" name="extension-body-3">
            <a:extLst xmlns:a="http://schemas.openxmlformats.org/drawingml/2006/main">
              <a:ext uri="{FF2B5EF4-FFF2-40B4-BE49-F238E27FC236}">
                <a16:creationId xmlns:a16="http://schemas.microsoft.com/office/drawing/2014/main" id="{6DA052A6-F726-477B-B831-5896DF6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enforced gate</a:t>
            </a:r>
          </a:p>
        </p:txBody>
      </p:sp>
      <p:sp>
        <p:nvSpPr>
          <p:cNvPr id="51" name="extension-4">
            <a:extLst xmlns:a="http://schemas.openxmlformats.org/drawingml/2006/main">
              <a:ext uri="{FF2B5EF4-FFF2-40B4-BE49-F238E27FC236}">
                <a16:creationId xmlns:a16="http://schemas.microsoft.com/office/drawing/2014/main" id="{BE4F8065-BC3D-4C8F-843B-C08EDD53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extension-heading-4">
            <a:extLst xmlns:a="http://schemas.openxmlformats.org/drawingml/2006/main">
              <a:ext uri="{FF2B5EF4-FFF2-40B4-BE49-F238E27FC236}">
                <a16:creationId xmlns:a16="http://schemas.microsoft.com/office/drawing/2014/main" id="{27E3E698-88E1-4048-AFB2-2B41208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重建事实</a:t>
            </a:r>
          </a:p>
        </p:txBody>
      </p:sp>
      <p:sp>
        <p:nvSpPr>
          <p:cNvPr id="53" name="extension-body-4">
            <a:extLst xmlns:a="http://schemas.openxmlformats.org/drawingml/2006/main">
              <a:ext uri="{FF2B5EF4-FFF2-40B4-BE49-F238E27FC236}">
                <a16:creationId xmlns:a16="http://schemas.microsoft.com/office/drawing/2014/main" id="{1850AA84-52D3-4EB7-914D-BDF0CCA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session log</a:t>
            </a:r>
          </a:p>
        </p:txBody>
      </p:sp>
      <p:sp>
        <p:nvSpPr>
          <p:cNvPr id="54" name="own-vs-borrow">
            <a:extLst xmlns:a="http://schemas.openxmlformats.org/drawingml/2006/main">
              <a:ext uri="{FF2B5EF4-FFF2-40B4-BE49-F238E27FC236}">
                <a16:creationId xmlns:a16="http://schemas.microsoft.com/office/drawing/2014/main" id="{6070D37D-07A9-4D8A-A669-78151B9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接入: registry / 替换: adapter + seam / 放行: gate / 重建事实: session log</a:t>
            </a:r>
          </a:p>
        </p:txBody>
      </p:sp>
      <p:sp>
        <p:nvSpPr>
          <p:cNvPr id="55" name="slide20-callout">
            <a:extLst xmlns:a="http://schemas.openxmlformats.org/drawingml/2006/main">
              <a:ext uri="{FF2B5EF4-FFF2-40B4-BE49-F238E27FC236}">
                <a16:creationId xmlns:a16="http://schemas.microsoft.com/office/drawing/2014/main" id="{5FEDAD16-19B4-4E7A-B0F9-540564C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可安装不等于可信；进入执行链前必须先受控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f9243ab7f47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9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6ba8abc32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9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c74426d5845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6943114dc4b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084A818-FBCD-49FC-AACD-F5F79EE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必须在手：部件可借，四项决定权不能外包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321B43-121A-40EB-B6FB-E019D34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在手不是全栈自建，而是 owner 对运行边界保有最终决定权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076CAB-7FB0-4589-8AE9-651B39D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6611547-DB1F-439E-A41C-441873A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0A318D-C522-45D3-BC15-2946FC5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最终控制权 = 接入 / 替换 / 放行 / 重建事实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825DE6-67C0-426E-A601-C48D617D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7CEDA"/>
                </a:solidFill>
              </a:defRPr>
            </a:pPr>
            <a:r>
              <a:rPr sz="1125" b="0">
                <a:solidFill>
                  <a:srgbClr val="C7CEDA"/>
                </a:solidFill>
              </a:rPr>
              <a:t>本 talk 对“在手”的定义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7FA2AA6-F310-4EA7-82D5-D220535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接入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registry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DB9FCCE-D973-42B3-AC3A-5583AA29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替换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adapter + seam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7477249-8D3A-4A94-8DBB-371A153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放行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enforced gate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724FE35-1EF9-4451-A3CD-D3C8864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重建事实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session log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BDD96AF-E6C1-499E-B2E8-C4A2DEC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部件可借，边界自己定</a:t>
            </a:r>
          </a:p>
        </p:txBody>
      </p:sp>
      <p:cxnSp>
        <p:nvCxnSpPr>
          <p:cNvPr id="207" name="Straight Arrow Connector 8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929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208" name="Straight Arrow Connector 8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53125" y="3929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b071378a04e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c88227861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dcb3ef5c4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4b94e061346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OPC 要掌握到哪一步？先借现成，边界自己定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掌握 Harness，不是从零造，而是看懂并保有运行边界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展示了一种可组合、可替换的 Harness runtime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先借现成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常见任务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复用成熟 Harness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看懂边界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接入、替换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门禁与日志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差异化再握权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进入业务执行链时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保有 final say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部件可借，边界自己定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c7b8b478b41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1908" y="1476375"/>
            <a:ext cx="9144000" cy="2857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/>
            </a:pPr>
            <a:r>
              <a:rPr sz="345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谢谢</a:t>
            </a:r>
          </a:p>
          <a:p xmlns:a="http://schemas.openxmlformats.org/drawingml/2006/main">
            <a:pPr algn="ctr">
              <a:buNone/>
              <a:defRPr sz="3450"/>
            </a:pPr>
            <a:r>
              <a:rPr sz="345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部件可借，边界自己定</a:t>
            </a:r>
          </a:p>
          <a:p xmlns:a="http://schemas.openxmlformats.org/drawingml/2006/main">
            <a:pPr>
              <a:buNone/>
            </a:pPr>
            <a:r>
              <a:rPr sz="1350"/>
              <a:t/>
            </a:r>
          </a:p>
          <a:p xmlns:a="http://schemas.openxmlformats.org/drawingml/2006/main">
            <a:pPr algn="ctr">
              <a:buNone/>
              <a:defRPr sz="3450"/>
            </a:pPr>
            <a:r>
              <a:rPr sz="220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Ethan Jiang</a:t>
            </a: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495f113d041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c4da73f26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50ee01f144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f5e0c139d4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2026-08-28T01:25:16.3870000Z</dcterms:created>
  <dcterms:modified xsi:type="dcterms:W3CDTF">2026-08-28T01:25:16.3870000Z</dcterms:modified>
</coreProperties>
</file>